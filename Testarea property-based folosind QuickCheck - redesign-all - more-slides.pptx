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-355" y="-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xmlns="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="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xmlns="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xmlns="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xmlns="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xmlns="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800" b="1">
                <a:solidFill>
                  <a:srgbClr val="2F3338"/>
                </a:solidFill>
                <a:latin typeface="Segoe UI Semibold"/>
              </a:rPr>
              <a:t>Testarea property-based folosind QuickCheck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 b="1">
                <a:solidFill>
                  <a:srgbClr val="4B5563"/>
                </a:solidFill>
                <a:latin typeface="Segoe UI"/>
              </a:rPr>
              <a:t>Metode Formale in Ingineria Software</a:t>
            </a:r>
          </a:p>
          <a:p>
            <a:r>
              <a:rPr sz="1700" b="0">
                <a:solidFill>
                  <a:srgbClr val="4B5563"/>
                </a:solidFill>
                <a:latin typeface="Segoe UI"/>
              </a:rPr>
              <a:t>Tema 20: testarea property-based a modulelor software</a:t>
            </a:r>
          </a:p>
          <a:p>
            <a:r>
              <a:rPr sz="1700" b="0">
                <a:solidFill>
                  <a:srgbClr val="4B5563"/>
                </a:solidFill>
                <a:latin typeface="Segoe UI"/>
              </a:rPr>
              <a:t>Studiu de caz: mini-limbaj de expresii aritmetice in Haskell</a:t>
            </a:r>
          </a:p>
          <a:p>
            <a:r>
              <a:rPr sz="1700" b="0">
                <a:solidFill>
                  <a:srgbClr val="4B5563"/>
                </a:solidFill>
                <a:latin typeface="Segoe UI"/>
              </a:rPr>
              <a:t>Echipa: [nume1], [nume2]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500" b="1">
                <a:solidFill>
                  <a:srgbClr val="2F3338"/>
                </a:solidFill>
                <a:latin typeface="Segoe UI Semibold"/>
              </a:rPr>
              <a:t>Agenda prezentarii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737360"/>
            <a:ext cx="10058400" cy="4526280"/>
          </a:xfrm>
          <a:prstGeom prst="roundRect">
            <a:avLst/>
          </a:prstGeom>
          <a:solidFill>
            <a:srgbClr val="EEF4FF"/>
          </a:solidFill>
          <a:ln w="14604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601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2F3338"/>
                </a:solidFill>
                <a:latin typeface="Segoe UI"/>
              </a:rPr>
              <a:t>- Problema: de ce testarea clasica nu este suficienta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2F3338"/>
                </a:solidFill>
                <a:latin typeface="Segoe UI"/>
              </a:rPr>
              <a:t>- QuickCheck: concepte, generare, shrink, classify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2F3338"/>
                </a:solidFill>
                <a:latin typeface="Segoe UI"/>
              </a:rPr>
              <a:t>- Arhitectura modulului: AST, evaluator, simplificator, parser/pretty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2F3338"/>
                </a:solidFill>
                <a:latin typeface="Segoe UI"/>
              </a:rPr>
              <a:t>- Generatoare custom: genSmallInt, genExpr, genClosedExpr, genEnvFor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2F3338"/>
                </a:solidFill>
                <a:latin typeface="Segoe UI"/>
              </a:rPr>
              <a:t>- Cele 16 proprietati formale si rezultatele experimentale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2F3338"/>
                </a:solidFill>
                <a:latin typeface="Segoe UI"/>
              </a:rPr>
              <a:t>- Avantaje, limitari, directii viitoare si concluzii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5897880"/>
            <a:ext cx="10058400" cy="658368"/>
          </a:xfrm>
          <a:prstGeom prst="roundRect">
            <a:avLst/>
          </a:prstGeom>
          <a:solidFill>
            <a:srgbClr val="E8F1FF"/>
          </a:solidFill>
          <a:ln w="14604">
            <a:solidFill>
              <a:srgbClr val="B4C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25880" y="60350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  <a:latin typeface="Segoe UI"/>
              </a:rPr>
              <a:t>Mesaj cheie: Trecem progresiv de la idee teoretica la rezultate concrete din codul proiectului.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500" b="1">
                <a:solidFill>
                  <a:srgbClr val="2F3338"/>
                </a:solidFill>
                <a:latin typeface="Segoe UI Semibold"/>
              </a:rPr>
              <a:t>Context: de ce avem nevoie de metode formale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691640"/>
            <a:ext cx="100584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F3338"/>
                </a:solidFill>
                <a:latin typeface="Segoe UI"/>
              </a:rPr>
              <a:t>In proiecte reale, codul poate parea corect pe exemplele alese manual, dar sa esueze pe cazuri limita.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F3338"/>
                </a:solidFill>
                <a:latin typeface="Segoe UI"/>
              </a:rPr>
              <a:t>Metodele formale ne ajuta sa definim clar ce inseamna corectitudinea sistemului.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743200"/>
            <a:ext cx="10058400" cy="2560320"/>
          </a:xfrm>
          <a:prstGeom prst="roundRect">
            <a:avLst/>
          </a:prstGeom>
          <a:solidFill>
            <a:srgbClr val="F5F8FC"/>
          </a:solidFill>
          <a:ln w="14604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25880" y="297180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F3338"/>
                </a:solidFill>
                <a:latin typeface="Segoe UI"/>
              </a:rPr>
              <a:t>- ce proprietati trebuie sa ramana adevarate pentru orice intrare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F3338"/>
                </a:solidFill>
                <a:latin typeface="Segoe UI"/>
              </a:rPr>
              <a:t>- ce invarianti semantici trebuie pastrati dupa transformari (ex: simplificare)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F3338"/>
                </a:solidFill>
                <a:latin typeface="Segoe UI"/>
              </a:rPr>
              <a:t>- ce garantii vrem pentru parser, evaluator si proprietatile algebraice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F3338"/>
                </a:solidFill>
                <a:latin typeface="Segoe UI"/>
              </a:rPr>
              <a:t>- cum validam sistematic corectitudinea pe o clasa mare de cazuri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50749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4B5563"/>
                </a:solidFill>
                <a:latin typeface="Segoe UI"/>
              </a:rPr>
              <a:t>In loc de "merge la mine", spunem: "pentru orice expresie valida, proprietatea X este adevarata".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5897880"/>
            <a:ext cx="10058400" cy="658368"/>
          </a:xfrm>
          <a:prstGeom prst="roundRect">
            <a:avLst/>
          </a:prstGeom>
          <a:solidFill>
            <a:srgbClr val="E8F1FF"/>
          </a:solidFill>
          <a:ln w="14604">
            <a:solidFill>
              <a:srgbClr val="B4C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25880" y="60350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  <a:latin typeface="Segoe UI"/>
              </a:rPr>
              <a:t>Mesaj cheie: Formalizarea proprietatilor reduce ambiguitatea si creste increderea in modulul testat.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500" b="1">
                <a:solidFill>
                  <a:srgbClr val="2F3338"/>
                </a:solidFill>
                <a:latin typeface="Segoe UI Semibold"/>
              </a:rPr>
              <a:t>Testare clasica vs. property-based testing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691640"/>
            <a:ext cx="4846320" cy="4434840"/>
          </a:xfrm>
          <a:prstGeom prst="roundRect">
            <a:avLst/>
          </a:prstGeom>
          <a:solidFill>
            <a:srgbClr val="F5F8FC"/>
          </a:solidFill>
          <a:ln w="14604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309360" y="1691640"/>
            <a:ext cx="4846320" cy="4434840"/>
          </a:xfrm>
          <a:prstGeom prst="roundRect">
            <a:avLst/>
          </a:prstGeom>
          <a:solidFill>
            <a:srgbClr val="EEF4FF"/>
          </a:solidFill>
          <a:ln w="14604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25880" y="1874519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F4E79"/>
                </a:solidFill>
                <a:latin typeface="Segoe UI"/>
              </a:rPr>
              <a:t>Testare clasica (example-based)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5880" y="2331720"/>
            <a:ext cx="4389120" cy="1417320"/>
          </a:xfrm>
          <a:prstGeom prst="roundRect">
            <a:avLst/>
          </a:prstGeom>
          <a:solidFill>
            <a:srgbClr val="1E1E1E"/>
          </a:solidFill>
          <a:ln w="1397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90472" y="2423160"/>
            <a:ext cx="405993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CDCFE"/>
                </a:solidFill>
                <a:latin typeface="Consolas"/>
              </a:rPr>
              <a:t>Exemple punctuale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0472" y="2697479"/>
            <a:ext cx="40599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eval env (Add (Const 1) (Const 2)) == Just 3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eval env (Mul (Const 5) (Const 0)) == Just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84048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F3338"/>
                </a:solidFill>
                <a:latin typeface="Segoe UI"/>
              </a:rPr>
              <a:t>- acopera doar cazurile la care ne-am gandit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F3338"/>
                </a:solidFill>
                <a:latin typeface="Segoe UI"/>
              </a:rPr>
              <a:t>- poate rata erori in combinatii neprevazute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874519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F4E79"/>
                </a:solidFill>
                <a:latin typeface="Segoe UI"/>
              </a:rPr>
              <a:t>Property-based testing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2331720"/>
            <a:ext cx="4389120" cy="1600200"/>
          </a:xfrm>
          <a:prstGeom prst="roundRect">
            <a:avLst/>
          </a:prstGeom>
          <a:solidFill>
            <a:srgbClr val="1E1E1E"/>
          </a:solidFill>
          <a:ln w="1397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02552" y="2423160"/>
            <a:ext cx="405993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CDCFE"/>
                </a:solidFill>
                <a:latin typeface="Consolas"/>
              </a:rPr>
              <a:t>Proprietate generala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2552" y="2697479"/>
            <a:ext cx="4059935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Pentru orice expresii a, b si mediu valid env: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eval env (Add a b) == eval env (Add b 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402336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F3338"/>
                </a:solidFill>
                <a:latin typeface="Segoe UI"/>
              </a:rPr>
              <a:t>- framework-ul genereaza automat multe cazuri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F3338"/>
                </a:solidFill>
                <a:latin typeface="Segoe UI"/>
              </a:rPr>
              <a:t>- cauta contraexemple si le simplifica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5897880"/>
            <a:ext cx="10058400" cy="658368"/>
          </a:xfrm>
          <a:prstGeom prst="roundRect">
            <a:avLst/>
          </a:prstGeom>
          <a:solidFill>
            <a:srgbClr val="E8F1FF"/>
          </a:solidFill>
          <a:ln w="14604">
            <a:solidFill>
              <a:srgbClr val="B4C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25880" y="60350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  <a:latin typeface="Segoe UI"/>
              </a:rPr>
              <a:t>Mesaj cheie: Nu testam instante izolate; testam reguli generale ale semanticii.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500" b="1">
                <a:solidFill>
                  <a:srgbClr val="2F3338"/>
                </a:solidFill>
                <a:latin typeface="Segoe UI Semibold"/>
              </a:rPr>
              <a:t>Ce este QuickCheck (pe scurt)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69164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2F3338"/>
                </a:solidFill>
                <a:latin typeface="Segoe UI"/>
              </a:rPr>
              <a:t>QuickCheck este biblioteca Haskell pentru property-based testing.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331720"/>
            <a:ext cx="4846320" cy="3611880"/>
          </a:xfrm>
          <a:prstGeom prst="roundRect">
            <a:avLst/>
          </a:prstGeom>
          <a:solidFill>
            <a:srgbClr val="F5F8FC"/>
          </a:solidFill>
          <a:ln w="14604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309360" y="2331720"/>
            <a:ext cx="4846320" cy="3611880"/>
          </a:xfrm>
          <a:prstGeom prst="roundRect">
            <a:avLst/>
          </a:prstGeom>
          <a:solidFill>
            <a:srgbClr val="EEF4FF"/>
          </a:solidFill>
          <a:ln w="14604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25880" y="2606040"/>
            <a:ext cx="4434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`Arbitrary` - clasa tipurilor ce pot fi generate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`Gen a` - tipul generatorilor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`frequency` - control pe distributie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`sized` - control pe marime/adancime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2606040"/>
            <a:ext cx="4434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`shrink` - minimizare automata a contraexemplului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`classify` - analiza distributiei testelor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`quickCheckWith` - parametri custom (maxSuccess, maxSize)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feedback util pentru debug si calibrat generatoare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897880"/>
            <a:ext cx="10058400" cy="658368"/>
          </a:xfrm>
          <a:prstGeom prst="roundRect">
            <a:avLst/>
          </a:prstGeom>
          <a:solidFill>
            <a:srgbClr val="E8F1FF"/>
          </a:solidFill>
          <a:ln w="14604">
            <a:solidFill>
              <a:srgbClr val="B4C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25880" y="60350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  <a:latin typeface="Segoe UI"/>
              </a:rPr>
              <a:t>Mesaj cheie: QuickCheck inseamna random testing controlat, nu random haotic.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500" b="1">
                <a:solidFill>
                  <a:srgbClr val="2F3338"/>
                </a:solidFill>
                <a:latin typeface="Segoe UI Semibold"/>
              </a:rPr>
              <a:t>Arhitectura modulului testat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783080"/>
            <a:ext cx="10058400" cy="4480560"/>
          </a:xfrm>
          <a:prstGeom prst="roundRect">
            <a:avLst/>
          </a:prstGeom>
          <a:solidFill>
            <a:srgbClr val="F5F8FC"/>
          </a:solidFill>
          <a:ln w="14604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25880" y="1965960"/>
            <a:ext cx="9601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Expr.hs - AST + functii structurale: size, depth, operatorCount, freeVars, substitute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Eval.hs - evaluare sigura: eval :: Env -&gt; Expr -&gt; Maybe Int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Simplify.hs - reguli algebrice aplicate pana la punct fix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Pretty.hs - serializare text cu precedenta corecta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Parser.hs - parsare text -&gt; Expr (respecta prioritatile operatorilor)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test/Spec.hs - generatoare custom + 16 proprietati QuickCheck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56692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4B5563"/>
                </a:solidFill>
                <a:latin typeface="Segoe UI"/>
              </a:rPr>
              <a:t>Evaluarea intoarce Nothing daca o variabila lipseste din mediu.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5897880"/>
            <a:ext cx="10058400" cy="658368"/>
          </a:xfrm>
          <a:prstGeom prst="roundRect">
            <a:avLst/>
          </a:prstGeom>
          <a:solidFill>
            <a:srgbClr val="E8F1FF"/>
          </a:solidFill>
          <a:ln w="14604">
            <a:solidFill>
              <a:srgbClr val="B4C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25880" y="60350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  <a:latin typeface="Segoe UI"/>
              </a:rPr>
              <a:t>Mesaj cheie: Proiectul acopera fluxul complet: sintaxa, semantica, transformare, serializare si verificare.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500" b="1">
                <a:solidFill>
                  <a:srgbClr val="2F3338"/>
                </a:solidFill>
                <a:latin typeface="Segoe UI Semibold"/>
              </a:rPr>
              <a:t>AST si exemplu de arbore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783080"/>
            <a:ext cx="4846320" cy="2468880"/>
          </a:xfrm>
          <a:prstGeom prst="roundRect">
            <a:avLst/>
          </a:prstGeom>
          <a:solidFill>
            <a:srgbClr val="1E1E1E"/>
          </a:solidFill>
          <a:ln w="1397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61872" y="1874519"/>
            <a:ext cx="4517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CDCFE"/>
                </a:solidFill>
                <a:latin typeface="Consolas"/>
              </a:rPr>
              <a:t>Sintaxa abstracta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2148840"/>
            <a:ext cx="451713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data Expr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= Const Int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| Var String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| Add Expr Expr | Sub Expr Expr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| Mul Expr Expr | Neg Expr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783080"/>
            <a:ext cx="4846320" cy="3429000"/>
          </a:xfrm>
          <a:prstGeom prst="roundRect">
            <a:avLst/>
          </a:prstGeom>
          <a:solidFill>
            <a:srgbClr val="EEF4FF"/>
          </a:solidFill>
          <a:ln w="14604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37960" y="1874519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F4E79"/>
                </a:solidFill>
                <a:latin typeface="Segoe UI"/>
              </a:rPr>
              <a:t>Arbore pentru: 1 * x + -(-y)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2414016"/>
            <a:ext cx="731520" cy="384048"/>
          </a:xfrm>
          <a:prstGeom prst="roundRect">
            <a:avLst/>
          </a:prstGeom>
          <a:solidFill>
            <a:srgbClr val="EAF1FB"/>
          </a:solidFill>
          <a:ln w="15240">
            <a:solidFill>
              <a:srgbClr val="3B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F4E79"/>
                </a:solidFill>
                <a:latin typeface="Consolas"/>
              </a:rPr>
              <a:t>Add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3054096"/>
            <a:ext cx="731520" cy="384048"/>
          </a:xfrm>
          <a:prstGeom prst="roundRect">
            <a:avLst/>
          </a:prstGeom>
          <a:solidFill>
            <a:srgbClr val="EAF1FB"/>
          </a:solidFill>
          <a:ln w="15240">
            <a:solidFill>
              <a:srgbClr val="3B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F4E79"/>
                </a:solidFill>
                <a:latin typeface="Consolas"/>
              </a:rPr>
              <a:t>Mul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3054096"/>
            <a:ext cx="731520" cy="384048"/>
          </a:xfrm>
          <a:prstGeom prst="roundRect">
            <a:avLst/>
          </a:prstGeom>
          <a:solidFill>
            <a:srgbClr val="EAF1FB"/>
          </a:solidFill>
          <a:ln w="15240">
            <a:solidFill>
              <a:srgbClr val="3B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F4E79"/>
                </a:solidFill>
                <a:latin typeface="Consolas"/>
              </a:rPr>
              <a:t>Neg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67728" y="3694176"/>
            <a:ext cx="731520" cy="384048"/>
          </a:xfrm>
          <a:prstGeom prst="roundRect">
            <a:avLst/>
          </a:prstGeom>
          <a:solidFill>
            <a:srgbClr val="EAF1FB"/>
          </a:solidFill>
          <a:ln w="15240">
            <a:solidFill>
              <a:srgbClr val="3B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F4E79"/>
                </a:solidFill>
                <a:latin typeface="Consolas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19" y="3694176"/>
            <a:ext cx="731520" cy="384048"/>
          </a:xfrm>
          <a:prstGeom prst="roundRect">
            <a:avLst/>
          </a:prstGeom>
          <a:solidFill>
            <a:srgbClr val="EAF1FB"/>
          </a:solidFill>
          <a:ln w="15240">
            <a:solidFill>
              <a:srgbClr val="3B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F4E79"/>
                </a:solidFill>
                <a:latin typeface="Consolas"/>
              </a:rPr>
              <a:t>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3694176"/>
            <a:ext cx="731520" cy="384048"/>
          </a:xfrm>
          <a:prstGeom prst="roundRect">
            <a:avLst/>
          </a:prstGeom>
          <a:solidFill>
            <a:srgbClr val="EAF1FB"/>
          </a:solidFill>
          <a:ln w="15240">
            <a:solidFill>
              <a:srgbClr val="3B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F4E79"/>
                </a:solidFill>
                <a:latin typeface="Consolas"/>
              </a:rPr>
              <a:t>Neg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4334256"/>
            <a:ext cx="731520" cy="384048"/>
          </a:xfrm>
          <a:prstGeom prst="roundRect">
            <a:avLst/>
          </a:prstGeom>
          <a:solidFill>
            <a:srgbClr val="EAF1FB"/>
          </a:solidFill>
          <a:ln w="15240">
            <a:solidFill>
              <a:srgbClr val="3B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F4E79"/>
                </a:solidFill>
                <a:latin typeface="Consolas"/>
              </a:rPr>
              <a:t>y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7772400" y="2606040"/>
            <a:ext cx="960120" cy="640080"/>
          </a:xfrm>
          <a:prstGeom prst="line">
            <a:avLst/>
          </a:prstGeom>
          <a:ln w="15240">
            <a:solidFill>
              <a:srgbClr val="6B7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732520" y="2606040"/>
            <a:ext cx="960120" cy="640080"/>
          </a:xfrm>
          <a:prstGeom prst="line">
            <a:avLst/>
          </a:prstGeom>
          <a:ln w="15240">
            <a:solidFill>
              <a:srgbClr val="6B7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7333488" y="3246120"/>
            <a:ext cx="438912" cy="640080"/>
          </a:xfrm>
          <a:prstGeom prst="line">
            <a:avLst/>
          </a:prstGeom>
          <a:ln w="15240">
            <a:solidFill>
              <a:srgbClr val="6B7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772400" y="3246120"/>
            <a:ext cx="411479" cy="640080"/>
          </a:xfrm>
          <a:prstGeom prst="line">
            <a:avLst/>
          </a:prstGeom>
          <a:ln w="15240">
            <a:solidFill>
              <a:srgbClr val="6B7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692640" y="3246120"/>
            <a:ext cx="0" cy="640080"/>
          </a:xfrm>
          <a:prstGeom prst="line">
            <a:avLst/>
          </a:prstGeom>
          <a:ln w="15240">
            <a:solidFill>
              <a:srgbClr val="6B7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692640" y="3886200"/>
            <a:ext cx="0" cy="640080"/>
          </a:xfrm>
          <a:prstGeom prst="line">
            <a:avLst/>
          </a:prstGeom>
          <a:ln w="15240">
            <a:solidFill>
              <a:srgbClr val="6B7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97280" y="4434840"/>
            <a:ext cx="10058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Modelarea cu tipuri algebrice face structura expresiilor explicita si usor de procesat recursiv.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Functii precum size/depth/operatorCount folosesc direct aceasta structura.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5897880"/>
            <a:ext cx="10058400" cy="658368"/>
          </a:xfrm>
          <a:prstGeom prst="roundRect">
            <a:avLst/>
          </a:prstGeom>
          <a:solidFill>
            <a:srgbClr val="E8F1FF"/>
          </a:solidFill>
          <a:ln w="14604">
            <a:solidFill>
              <a:srgbClr val="B4C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325880" y="60350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  <a:latin typeface="Segoe UI"/>
              </a:rPr>
              <a:t>Mesaj cheie: AST-ul este fundatia pentru evaluator, simplificator, parser si proprietati.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500" b="1">
                <a:solidFill>
                  <a:srgbClr val="2F3338"/>
                </a:solidFill>
                <a:latin typeface="Segoe UI Semibold"/>
              </a:rPr>
              <a:t>Evaluatorul: semantica operationala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828800"/>
            <a:ext cx="10058400" cy="1783080"/>
          </a:xfrm>
          <a:prstGeom prst="roundRect">
            <a:avLst/>
          </a:prstGeom>
          <a:solidFill>
            <a:srgbClr val="1E1E1E"/>
          </a:solidFill>
          <a:ln w="1397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61872" y="1920240"/>
            <a:ext cx="9729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CDCFE"/>
                </a:solidFill>
                <a:latin typeface="Consolas"/>
              </a:rPr>
              <a:t>Fragment din Eval.hs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2194560"/>
            <a:ext cx="972921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eval :: Env -&gt; Expr -&gt; Maybe Int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eval env (Add a b) = liftA2 (+) (eval env a) (eval env b)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eval env (Var x)   = Map.lookup x env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749039"/>
            <a:ext cx="10058400" cy="2057400"/>
          </a:xfrm>
          <a:prstGeom prst="roundRect">
            <a:avLst/>
          </a:prstGeom>
          <a:solidFill>
            <a:srgbClr val="F5F8FC"/>
          </a:solidFill>
          <a:ln w="14604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25880" y="3977639"/>
            <a:ext cx="9601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Maybe encodeaza explicit esecul partial (Nothing)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operatiile binare reusesc doar daca ambele subexpresii sunt evaluabile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design-ul evita exceptii runtime pentru variabile nedefinite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897880"/>
            <a:ext cx="10058400" cy="658368"/>
          </a:xfrm>
          <a:prstGeom prst="roundRect">
            <a:avLst/>
          </a:prstGeom>
          <a:solidFill>
            <a:srgbClr val="E8F1FF"/>
          </a:solidFill>
          <a:ln w="14604">
            <a:solidFill>
              <a:srgbClr val="B4C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25880" y="60350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  <a:latin typeface="Segoe UI"/>
              </a:rPr>
              <a:t>Mesaj cheie: Semantica este transparenta inclusiv pentru cazuri incomplete.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500" b="1">
                <a:solidFill>
                  <a:srgbClr val="2F3338"/>
                </a:solidFill>
                <a:latin typeface="Segoe UI Semibold"/>
              </a:rPr>
              <a:t>Simplificatorul si regulile algebrice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691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F3338"/>
                </a:solidFill>
                <a:latin typeface="Segoe UI"/>
              </a:rPr>
              <a:t>Simplificarea aplica reguli pana la stabilizare (fixpoint).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240280"/>
            <a:ext cx="4846320" cy="3566160"/>
          </a:xfrm>
          <a:prstGeom prst="roundRect">
            <a:avLst/>
          </a:prstGeom>
          <a:solidFill>
            <a:srgbClr val="F5F8FC"/>
          </a:solidFill>
          <a:ln w="14604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309360" y="2240280"/>
            <a:ext cx="4846320" cy="3566160"/>
          </a:xfrm>
          <a:prstGeom prst="roundRect">
            <a:avLst/>
          </a:prstGeom>
          <a:solidFill>
            <a:srgbClr val="EEF4FF"/>
          </a:solidFill>
          <a:ln w="14604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25880" y="2514600"/>
            <a:ext cx="4389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x + 0 -&gt; x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x * 1 -&gt; x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x * 0 -&gt; 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x - x -&gt; 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--x -&gt; x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- 0 - e -&gt; -e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2514600"/>
            <a:ext cx="4389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Const a + Const b -&gt; Const (a+b)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Const a * Const b -&gt; Const (a*b)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Const a - Const b -&gt; Const (a-b)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regulile sunt aplicate recursiv pe subarbori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897880"/>
            <a:ext cx="10058400" cy="658368"/>
          </a:xfrm>
          <a:prstGeom prst="roundRect">
            <a:avLst/>
          </a:prstGeom>
          <a:solidFill>
            <a:srgbClr val="E8F1FF"/>
          </a:solidFill>
          <a:ln w="14604">
            <a:solidFill>
              <a:srgbClr val="B4C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25880" y="60350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  <a:latin typeface="Segoe UI"/>
              </a:rPr>
              <a:t>Mesaj cheie: Simplificatorul este deterministic si conserva semantica expresiei.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500" b="1">
                <a:solidFill>
                  <a:srgbClr val="2F3338"/>
                </a:solidFill>
                <a:latin typeface="Segoe UI Semibold"/>
              </a:rPr>
              <a:t>Pretty + Parser: round-trip semantic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783080"/>
            <a:ext cx="10058400" cy="4434840"/>
          </a:xfrm>
          <a:prstGeom prst="roundRect">
            <a:avLst/>
          </a:prstGeom>
          <a:solidFill>
            <a:srgbClr val="F5F8FC"/>
          </a:solidFill>
          <a:ln w="14604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25880" y="196596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Pretty.hs foloseste prioritati (addPrec, mulPrec, negPrec) pentru paranteze corecte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Parser.hs respecta precedenta operatorilor: exprP (+/-), termP (*), factorP (negare)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sunt suportate variabile, constante, paranteze si negare unara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25880" y="3703320"/>
            <a:ext cx="9601200" cy="1325880"/>
          </a:xfrm>
          <a:prstGeom prst="roundRect">
            <a:avLst/>
          </a:prstGeom>
          <a:solidFill>
            <a:srgbClr val="1E1E1E"/>
          </a:solidFill>
          <a:ln w="1397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90472" y="3794759"/>
            <a:ext cx="9272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CDCFE"/>
                </a:solidFill>
                <a:latin typeface="Consolas"/>
              </a:rPr>
              <a:t>Proprietate validata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0472" y="4069080"/>
            <a:ext cx="927201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eval env (parse(pretty(expr))) == eval env expr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897880"/>
            <a:ext cx="10058400" cy="658368"/>
          </a:xfrm>
          <a:prstGeom prst="roundRect">
            <a:avLst/>
          </a:prstGeom>
          <a:solidFill>
            <a:srgbClr val="E8F1FF"/>
          </a:solidFill>
          <a:ln w="14604">
            <a:solidFill>
              <a:srgbClr val="B4C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25880" y="60350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  <a:latin typeface="Segoe UI"/>
              </a:rPr>
              <a:t>Mesaj cheie: Forma textuala si forma interna raman consistente la nivel semantic.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500" b="1">
                <a:solidFill>
                  <a:srgbClr val="2F3338"/>
                </a:solidFill>
                <a:latin typeface="Segoe UI Semibold"/>
              </a:rPr>
              <a:t>De ce generatoare manuale (nu automate)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691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F3338"/>
                </a:solidFill>
                <a:latin typeface="Segoe UI"/>
              </a:rPr>
              <a:t>Generatoarele sunt definite manual pentru control pe distributie.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F3338"/>
                </a:solidFill>
                <a:latin typeface="Segoe UI"/>
              </a:rPr>
              <a:t>Un generator generic poate produce expresii neechilibrate sau prea adanci.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606040"/>
            <a:ext cx="10058400" cy="2148840"/>
          </a:xfrm>
          <a:prstGeom prst="roundRect">
            <a:avLst/>
          </a:prstGeom>
          <a:solidFill>
            <a:srgbClr val="1E1E1E"/>
          </a:solidFill>
          <a:ln w="1397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61872" y="2697480"/>
            <a:ext cx="9729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CDCFE"/>
                </a:solidFill>
                <a:latin typeface="Consolas"/>
              </a:rPr>
              <a:t>genSmallInt (favorizeaza numere mici pentru lizibilitate)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2971800"/>
            <a:ext cx="972921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frequency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[ (5, chooseInt (-4, 4))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, (1, chooseInt (-12, 12))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8463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F3338"/>
                </a:solidFill>
                <a:latin typeface="Segoe UI"/>
              </a:rPr>
              <a:t>- Ponderea 5:1 face contraexemplele mai usor de citit si evita valori extreme frecvente.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897880"/>
            <a:ext cx="10058400" cy="658368"/>
          </a:xfrm>
          <a:prstGeom prst="roundRect">
            <a:avLst/>
          </a:prstGeom>
          <a:solidFill>
            <a:srgbClr val="E8F1FF"/>
          </a:solidFill>
          <a:ln w="14604">
            <a:solidFill>
              <a:srgbClr val="B4C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25880" y="60350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  <a:latin typeface="Segoe UI"/>
              </a:rPr>
              <a:t>Mesaj cheie: Un test bun are nevoie de date bune, nu doar de date random.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500" b="1">
                <a:solidFill>
                  <a:srgbClr val="2F3338"/>
                </a:solidFill>
                <a:latin typeface="Segoe UI Semibold"/>
              </a:rPr>
              <a:t>genExpr, genClosedExpr, genEnvFor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783080"/>
            <a:ext cx="10058400" cy="4480560"/>
          </a:xfrm>
          <a:prstGeom prst="roundRect">
            <a:avLst/>
          </a:prstGeom>
          <a:solidFill>
            <a:srgbClr val="EEF4FF"/>
          </a:solidFill>
          <a:ln w="14604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25880" y="1965960"/>
            <a:ext cx="9601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genExpr foloseste sized + frequency pentru controlul recursivitatii si distributiei constructorilor.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genClosedExpr produce expresii fara variabile (utile in proprietatile de substitutie).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25880" y="2880360"/>
            <a:ext cx="9601200" cy="1874519"/>
          </a:xfrm>
          <a:prstGeom prst="roundRect">
            <a:avLst/>
          </a:prstGeom>
          <a:solidFill>
            <a:srgbClr val="1E1E1E"/>
          </a:solidFill>
          <a:ln w="1397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90472" y="2971800"/>
            <a:ext cx="9272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CDCFE"/>
                </a:solidFill>
                <a:latin typeface="Consolas"/>
              </a:rPr>
              <a:t>genEnvFor (mediu complet pentru variabilele libere)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0472" y="3246120"/>
            <a:ext cx="9272016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let names = Set.toList (freeVars expr)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values &lt;- vectorOf (length names) genSmallInt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pure (Map.fromList (zip names values))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489204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F3338"/>
                </a:solidFill>
                <a:latin typeface="Segoe UI"/>
              </a:rPr>
              <a:t>- Controlul generatorului + medii complete reduc fals-pozitivele si cresc relevanta testelor.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5897880"/>
            <a:ext cx="10058400" cy="658368"/>
          </a:xfrm>
          <a:prstGeom prst="roundRect">
            <a:avLst/>
          </a:prstGeom>
          <a:solidFill>
            <a:srgbClr val="E8F1FF"/>
          </a:solidFill>
          <a:ln w="14604">
            <a:solidFill>
              <a:srgbClr val="B4C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25880" y="60350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  <a:latin typeface="Segoe UI"/>
              </a:rPr>
              <a:t>Mesaj cheie: Datele de test sunt alese strategic, nu la intamplare.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500" b="1">
                <a:solidFill>
                  <a:srgbClr val="2F3338"/>
                </a:solidFill>
                <a:latin typeface="Segoe UI Semibold"/>
              </a:rPr>
              <a:t>shrink: contraexemple mici, debug rapid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691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F3338"/>
                </a:solidFill>
                <a:latin typeface="Segoe UI"/>
              </a:rPr>
              <a:t>Cand o proprietate pica, QuickCheck simplifica intrarea pana la forma minima relevanta.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240280"/>
            <a:ext cx="10058400" cy="1783080"/>
          </a:xfrm>
          <a:prstGeom prst="roundRect">
            <a:avLst/>
          </a:prstGeom>
          <a:solidFill>
            <a:srgbClr val="1E1E1E"/>
          </a:solidFill>
          <a:ln w="1397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61872" y="2331720"/>
            <a:ext cx="9729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CDCFE"/>
                </a:solidFill>
                <a:latin typeface="Consolas"/>
              </a:rPr>
              <a:t>Exemplu shrinkExpr pentru Add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2606040"/>
            <a:ext cx="972921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shrinkExpr (Add a b) =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[a, b]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++ [Add a' b | a' &lt;- shrinkExpr a]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++ [Add a b' | b' &lt;- shrinkExpr b]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160520"/>
            <a:ext cx="4846320" cy="1600200"/>
          </a:xfrm>
          <a:prstGeom prst="roundRect">
            <a:avLst/>
          </a:prstGeom>
          <a:solidFill>
            <a:srgbClr val="FFF1F2"/>
          </a:solidFill>
          <a:ln w="14604">
            <a:solidFill>
              <a:srgbClr val="FBC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25880" y="4343400"/>
            <a:ext cx="4434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9A3412"/>
                </a:solidFill>
                <a:latin typeface="Segoe UI"/>
              </a:rPr>
              <a:t>Fara shrink: expresie mare, greu de analizat.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4160520"/>
            <a:ext cx="4846320" cy="1600200"/>
          </a:xfrm>
          <a:prstGeom prst="roundRect">
            <a:avLst/>
          </a:prstGeom>
          <a:solidFill>
            <a:srgbClr val="1E1E1E"/>
          </a:solidFill>
          <a:ln w="1397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73952" y="4251959"/>
            <a:ext cx="4517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CDCFE"/>
                </a:solidFill>
                <a:latin typeface="Consolas"/>
              </a:rPr>
              <a:t>Cu shrink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4526280"/>
            <a:ext cx="451713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Add (Var "x") (Const 0)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contraexemplu minim, usor de localizat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5897880"/>
            <a:ext cx="10058400" cy="658368"/>
          </a:xfrm>
          <a:prstGeom prst="roundRect">
            <a:avLst/>
          </a:prstGeom>
          <a:solidFill>
            <a:srgbClr val="E8F1FF"/>
          </a:solidFill>
          <a:ln w="14604">
            <a:solidFill>
              <a:srgbClr val="B4C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25880" y="60350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  <a:latin typeface="Segoe UI"/>
              </a:rPr>
              <a:t>Mesaj cheie: shrink transforma "test failed" intr-un indiciu concret de reparat.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500" b="1">
                <a:solidFill>
                  <a:srgbClr val="2F3338"/>
                </a:solidFill>
                <a:latin typeface="Segoe UI Semibold"/>
              </a:rPr>
              <a:t>Cele 16 proprietati (grupare completa)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783080"/>
            <a:ext cx="4846320" cy="4480560"/>
          </a:xfrm>
          <a:prstGeom prst="roundRect">
            <a:avLst/>
          </a:prstGeom>
          <a:solidFill>
            <a:srgbClr val="F5F8FC"/>
          </a:solidFill>
          <a:ln w="14604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309360" y="1783080"/>
            <a:ext cx="4846320" cy="4480560"/>
          </a:xfrm>
          <a:prstGeom prst="roundRect">
            <a:avLst/>
          </a:prstGeom>
          <a:solidFill>
            <a:srgbClr val="EEF4FF"/>
          </a:solidFill>
          <a:ln w="14604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25880" y="1965960"/>
            <a:ext cx="4434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Corectitudine semantica: simplify / pretty-parse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Structurale: idempotenta, nu creste size/depth/operatorCount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Algebrice: comutativitate + asociativitate pentru + si 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1965960"/>
            <a:ext cx="4434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Elemente speciale: e+0=e, e*1=e, e*0=0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Negatie/scadere: e-e=0, --e=e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Substitutie: expresie inchisa pastreaza semantica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530352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1">
                <a:solidFill>
                  <a:srgbClr val="4B5563"/>
                </a:solidFill>
                <a:latin typeface="Segoe UI"/>
              </a:rPr>
              <a:t>In total, proprietatile descriu comportamentul global, nu detalii de implementare.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897880"/>
            <a:ext cx="10058400" cy="658368"/>
          </a:xfrm>
          <a:prstGeom prst="roundRect">
            <a:avLst/>
          </a:prstGeom>
          <a:solidFill>
            <a:srgbClr val="E8F1FF"/>
          </a:solidFill>
          <a:ln w="14604">
            <a:solidFill>
              <a:srgbClr val="B4C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25880" y="60350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  <a:latin typeface="Segoe UI"/>
              </a:rPr>
              <a:t>Mesaj cheie: Proprietatile sunt specificatii executabile ale modulului.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500" b="1">
                <a:solidFill>
                  <a:srgbClr val="2F3338"/>
                </a:solidFill>
                <a:latin typeface="Segoe UI Semibold"/>
              </a:rPr>
              <a:t>Rezultate experimentale si classify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783080"/>
            <a:ext cx="10058400" cy="3108960"/>
          </a:xfrm>
          <a:prstGeom prst="roundRect">
            <a:avLst/>
          </a:prstGeom>
          <a:solidFill>
            <a:srgbClr val="1E1E1E"/>
          </a:solidFill>
          <a:ln w="1397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61872" y="1874519"/>
            <a:ext cx="9729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CDCFE"/>
                </a:solidFill>
                <a:latin typeface="Consolas"/>
              </a:rPr>
              <a:t>Setari + output reprezentativ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2148840"/>
            <a:ext cx="972921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quickCheckWith stdArgs {maxSuccess = 120, maxSize = 12}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 sz="1200" b="0" i="0">
              <a:solidFill>
                <a:srgbClr val="D4D4D4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+++ OK, passed 120 tests: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62.5% cu variabile | 37.5% fara variabile | 30.0% expresie mare (&gt;8 noduri)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 sz="1200" b="0" i="0">
              <a:solidFill>
                <a:srgbClr val="D4D4D4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+++ OK, passed 120 tests: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57.5% expresii mari | 17.5% expresii mici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5029200"/>
            <a:ext cx="10058400" cy="1097280"/>
          </a:xfrm>
          <a:prstGeom prst="roundRect">
            <a:avLst/>
          </a:prstGeom>
          <a:solidFill>
            <a:srgbClr val="F5F8FC"/>
          </a:solidFill>
          <a:ln w="14604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25880" y="5212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F3338"/>
                </a:solidFill>
                <a:latin typeface="Segoe UI"/>
              </a:rPr>
              <a:t>- classify confirma ca nu testam doar cazuri triviale; distributia este monitorizata explicit.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897880"/>
            <a:ext cx="10058400" cy="658368"/>
          </a:xfrm>
          <a:prstGeom prst="roundRect">
            <a:avLst/>
          </a:prstGeom>
          <a:solidFill>
            <a:srgbClr val="E8F1FF"/>
          </a:solidFill>
          <a:ln w="14604">
            <a:solidFill>
              <a:srgbClr val="B4C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25880" y="60350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  <a:latin typeface="Segoe UI"/>
              </a:rPr>
              <a:t>Mesaj cheie: Calitatea testelor este masurata si prin distributia cazurilor generate.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500" b="1">
                <a:solidFill>
                  <a:srgbClr val="2F3338"/>
                </a:solidFill>
                <a:latin typeface="Segoe UI Semibold"/>
              </a:rPr>
              <a:t>Avantaje si limitari ale abordarii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783080"/>
            <a:ext cx="4846320" cy="4526280"/>
          </a:xfrm>
          <a:prstGeom prst="roundRect">
            <a:avLst/>
          </a:prstGeom>
          <a:solidFill>
            <a:srgbClr val="ECFDF3"/>
          </a:solidFill>
          <a:ln w="14604">
            <a:solidFill>
              <a:srgbClr val="9AE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309360" y="1783080"/>
            <a:ext cx="4846320" cy="4526280"/>
          </a:xfrm>
          <a:prstGeom prst="roundRect">
            <a:avLst/>
          </a:prstGeom>
          <a:solidFill>
            <a:srgbClr val="FFF7ED"/>
          </a:solidFill>
          <a:ln w="14604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25880" y="19659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166534"/>
                </a:solidFill>
                <a:latin typeface="Segoe UI"/>
              </a:rPr>
              <a:t>Avantaje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423160"/>
            <a:ext cx="4389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acoperire mai buna decat testarea manuala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descoperire rapida de cazuri limita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contraexemple minimale pentru debug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proprietatile devin documentatie executabila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9659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9A3412"/>
                </a:solidFill>
                <a:latin typeface="Segoe UI"/>
              </a:rPr>
              <a:t>Limitari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2423160"/>
            <a:ext cx="4389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o proprietate gresit formulata poate trece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calitatea depinde de generator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nu inlocuieste demonstratia matematica formala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5897880"/>
            <a:ext cx="10058400" cy="658368"/>
          </a:xfrm>
          <a:prstGeom prst="roundRect">
            <a:avLst/>
          </a:prstGeom>
          <a:solidFill>
            <a:srgbClr val="E8F1FF"/>
          </a:solidFill>
          <a:ln w="14604">
            <a:solidFill>
              <a:srgbClr val="B4C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25880" y="60350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  <a:latin typeface="Segoe UI"/>
              </a:rPr>
              <a:t>Mesaj cheie: Eficienta depinde de calitatea specificatiilor si a generatorilor.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500" b="1">
                <a:solidFill>
                  <a:srgbClr val="2F3338"/>
                </a:solidFill>
                <a:latin typeface="Segoe UI Semibold"/>
              </a:rPr>
              <a:t>Detalii suplimentare din proiect (implementare/rulare)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783080"/>
            <a:ext cx="4846320" cy="4526280"/>
          </a:xfrm>
          <a:prstGeom prst="roundRect">
            <a:avLst/>
          </a:prstGeom>
          <a:solidFill>
            <a:srgbClr val="F5F8FC"/>
          </a:solidFill>
          <a:ln w="14604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309360" y="1783080"/>
            <a:ext cx="4846320" cy="4526280"/>
          </a:xfrm>
          <a:prstGeom prst="roundRect">
            <a:avLst/>
          </a:prstGeom>
          <a:solidFill>
            <a:srgbClr val="EEF4FF"/>
          </a:solidFill>
          <a:ln w="14604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25880" y="19659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F4E79"/>
                </a:solidFill>
                <a:latin typeface="Segoe UI"/>
              </a:rPr>
              <a:t>Flux de rulare recomandat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5880" y="2423160"/>
            <a:ext cx="4389120" cy="2331720"/>
          </a:xfrm>
          <a:prstGeom prst="roundRect">
            <a:avLst/>
          </a:prstGeom>
          <a:solidFill>
            <a:srgbClr val="1E1E1E"/>
          </a:solidFill>
          <a:ln w="1397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90472" y="2514600"/>
            <a:ext cx="405993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CDCFE"/>
                </a:solidFill>
                <a:latin typeface="Consolas"/>
              </a:rPr>
              <a:t>Comenzi utile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0472" y="2788920"/>
            <a:ext cx="4059935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cabal build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cabal run mfis-quickcheck-expr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cabal test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cabal test spec --test-show-details=direct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9659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F4E79"/>
                </a:solidFill>
                <a:latin typeface="Segoe UI"/>
              </a:rPr>
              <a:t>Detalii tehnice extra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423160"/>
            <a:ext cx="4389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F3338"/>
                </a:solidFill>
                <a:latin typeface="Segoe UI"/>
              </a:rPr>
              <a:t>- maxSuccess=120 si maxSize=12 pentru comparabilitate intre proprietati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F3338"/>
                </a:solidFill>
                <a:latin typeface="Segoe UI"/>
              </a:rPr>
              <a:t>- variablePool fix pentru generarea variabilelor: x,y,z,u,v,w,a,b,c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F3338"/>
                </a:solidFill>
                <a:latin typeface="Segoe UI"/>
              </a:rPr>
              <a:t>- withEnv/genEnvFor elimina majoritatea evaluarilor partiale in testele semantice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F3338"/>
                </a:solidFill>
                <a:latin typeface="Segoe UI"/>
              </a:rPr>
              <a:t>- substitute este verificat cu inlocuire closed-expression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5897880"/>
            <a:ext cx="10058400" cy="658368"/>
          </a:xfrm>
          <a:prstGeom prst="roundRect">
            <a:avLst/>
          </a:prstGeom>
          <a:solidFill>
            <a:srgbClr val="E8F1FF"/>
          </a:solidFill>
          <a:ln w="14604">
            <a:solidFill>
              <a:srgbClr val="B4C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25880" y="60350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  <a:latin typeface="Segoe UI"/>
              </a:rPr>
              <a:t>Mesaj cheie: Pipeline-ul de testare este reproductibil si usor de rulat in echipa.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500" b="1">
                <a:solidFill>
                  <a:srgbClr val="2F3338"/>
                </a:solidFill>
                <a:latin typeface="Segoe UI Semibold"/>
              </a:rPr>
              <a:t>Concluzii si directii viitoare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783080"/>
            <a:ext cx="10058400" cy="4526280"/>
          </a:xfrm>
          <a:prstGeom prst="roundRect">
            <a:avLst/>
          </a:prstGeom>
          <a:solidFill>
            <a:srgbClr val="EEF4FF"/>
          </a:solidFill>
          <a:ln w="14604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25880" y="19659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F4E79"/>
                </a:solidFill>
                <a:latin typeface="Segoe UI"/>
              </a:rPr>
              <a:t>Concluzii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423160"/>
            <a:ext cx="9601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abordarea property-based este foarte potrivita pentru mini-limbaje formale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Haskell + QuickCheck ofera ecosistem natural pentru modelare si verificare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diferenta fata de testarea clasica: de la exemple la invarianti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42519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F4E79"/>
                </a:solidFill>
                <a:latin typeface="Segoe UI"/>
              </a:rPr>
              <a:t>Directii viitoare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4709160"/>
            <a:ext cx="9601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extinderea limbajului (impartire, comparatii, booleene)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teste de performanta pentru simplificator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integrare CI cu rulare automata a proprietatilor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897880"/>
            <a:ext cx="10058400" cy="658368"/>
          </a:xfrm>
          <a:prstGeom prst="roundRect">
            <a:avLst/>
          </a:prstGeom>
          <a:solidFill>
            <a:srgbClr val="E8F1FF"/>
          </a:solidFill>
          <a:ln w="14604">
            <a:solidFill>
              <a:srgbClr val="B4C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25880" y="60350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4E79"/>
                </a:solidFill>
                <a:latin typeface="Segoe UI"/>
              </a:rPr>
              <a:t>Mesaj cheie: Nu demonstram doar ca "merge"; demonstram ca respecta proprietati generale pe clase largi de intrari.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500" b="1">
                <a:solidFill>
                  <a:srgbClr val="2F3338"/>
                </a:solidFill>
                <a:latin typeface="Segoe UI Semibold"/>
              </a:rPr>
              <a:t>Walkthrough demo din app/Main.hs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737360"/>
            <a:ext cx="4846320" cy="4526280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309360" y="1737360"/>
            <a:ext cx="4846320" cy="4526280"/>
          </a:xfrm>
          <a:prstGeom prst="roundRect">
            <a:avLst/>
          </a:prstGeom>
          <a:solidFill>
            <a:srgbClr val="EEF4FF"/>
          </a:solidFill>
          <a:ln w="13970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25880" y="1920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Segoe UI"/>
              </a:rPr>
              <a:t>Cod demo (expresie + mediu)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5880" y="2331720"/>
            <a:ext cx="4389120" cy="3611880"/>
          </a:xfrm>
          <a:prstGeom prst="roundRect">
            <a:avLst/>
          </a:prstGeom>
          <a:solidFill>
            <a:srgbClr val="1E1E1E"/>
          </a:solidFill>
          <a:ln w="1397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90472" y="2423160"/>
            <a:ext cx="40599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CDCFE"/>
                </a:solidFill>
                <a:latin typeface="Consolas"/>
              </a:rPr>
              <a:t>Main.hs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0472" y="2715768"/>
            <a:ext cx="4059935" cy="3136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demoExpr = Add (Mul (Const 1) (Var "x"))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               (Neg (Neg (Var "y")))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 sz="1150" b="0" i="0">
              <a:solidFill>
                <a:srgbClr val="D4D4D4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demoEnv = Map.fromList [("x", 4), ("y", 7)]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 sz="1150" b="0" i="0">
              <a:solidFill>
                <a:srgbClr val="D4D4D4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pretty demoExpr      =&gt; "1 * x + -(-y)"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simplify demoExpr    =&gt; "x + y"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920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Segoe UI"/>
              </a:rPr>
              <a:t>Output real din executabil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2331720"/>
            <a:ext cx="4389120" cy="3611880"/>
          </a:xfrm>
          <a:prstGeom prst="roundRect">
            <a:avLst/>
          </a:prstGeom>
          <a:solidFill>
            <a:srgbClr val="1E1E1E"/>
          </a:solidFill>
          <a:ln w="1397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02552" y="2423160"/>
            <a:ext cx="40599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CDCFE"/>
                </a:solidFill>
                <a:latin typeface="Consolas"/>
              </a:rPr>
              <a:t>mfis-quickcheck-expr.exe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2552" y="2715768"/>
            <a:ext cx="4059935" cy="3136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Dimensiune: 7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Adancime: 4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Numar operatori: 4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Variabile libere: ["x","y"]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Valoare in mediu: Just 11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Valoare simplificata: Just 11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Semantica pastrata: True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5897880"/>
            <a:ext cx="10058400" cy="658368"/>
          </a:xfrm>
          <a:prstGeom prst="roundRect">
            <a:avLst/>
          </a:prstGeom>
          <a:solidFill>
            <a:srgbClr val="E8F1FF"/>
          </a:solidFill>
          <a:ln w="13970">
            <a:solidFill>
              <a:srgbClr val="B4C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25880" y="60350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F4E79"/>
                </a:solidFill>
                <a:latin typeface="Segoe UI"/>
              </a:rPr>
              <a:t>Mesaj cheie: Demo-ul local confirma coerenta intre evaluator, simplificator, pretty-printer si parser.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500" b="1">
                <a:solidFill>
                  <a:srgbClr val="2F3338"/>
                </a:solidFill>
                <a:latin typeface="Segoe UI Semibold"/>
              </a:rPr>
              <a:t>Expr.hs: functii structurale folosite in teste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737360"/>
            <a:ext cx="10058400" cy="4526280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25880" y="19202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1">
                <a:solidFill>
                  <a:srgbClr val="4B5563"/>
                </a:solidFill>
                <a:latin typeface="Segoe UI"/>
              </a:rPr>
              <a:t>Functii care masoara si manipuleaza structura AST-ului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331720"/>
            <a:ext cx="9601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size expr: numarul total de noduri din arbore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depth expr: adancimea maxima a arborelui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operatorCount expr: numarul de operatori (Add/Sub/Mul/Neg)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freeVars expr: multimea variabilelor libere (fara duplicate)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substitute name replacement expr: inlocuire recursiva in AST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5880" y="4526280"/>
            <a:ext cx="9601200" cy="1600200"/>
          </a:xfrm>
          <a:prstGeom prst="roundRect">
            <a:avLst/>
          </a:prstGeom>
          <a:solidFill>
            <a:srgbClr val="1E1E1E"/>
          </a:solidFill>
          <a:ln w="1397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90472" y="4617720"/>
            <a:ext cx="9272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CDCFE"/>
                </a:solidFill>
                <a:latin typeface="Consolas"/>
              </a:rPr>
              <a:t>Exemple concrete in proiect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0472" y="4910328"/>
            <a:ext cx="9272016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prop_simplifyDoesNotIncreaseSize      =&gt; size (simplify e) &lt;= size 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prop_simplifyDoesNotIncreaseDepth     =&gt; depth (simplify e) &lt;= depth 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prop_simplifyDoesNotIncreaseOperators =&gt; operatorCount (simplify e) &lt;= operatorCount 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5897880"/>
            <a:ext cx="10058400" cy="658368"/>
          </a:xfrm>
          <a:prstGeom prst="roundRect">
            <a:avLst/>
          </a:prstGeom>
          <a:solidFill>
            <a:srgbClr val="E8F1FF"/>
          </a:solidFill>
          <a:ln w="13970">
            <a:solidFill>
              <a:srgbClr val="B4C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25880" y="60350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F4E79"/>
                </a:solidFill>
                <a:latin typeface="Segoe UI"/>
              </a:rPr>
              <a:t>Mesaj cheie: Metricele structurale sunt folosite direct in proprietati verificabile automat.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500" b="1">
                <a:solidFill>
                  <a:srgbClr val="2F3338"/>
                </a:solidFill>
                <a:latin typeface="Segoe UI Semibold"/>
              </a:rPr>
              <a:t>Parser.hs: gramatica si precedenta operatorilor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737360"/>
            <a:ext cx="4846320" cy="4526280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309360" y="1737360"/>
            <a:ext cx="4846320" cy="4526280"/>
          </a:xfrm>
          <a:prstGeom prst="roundRect">
            <a:avLst/>
          </a:prstGeom>
          <a:solidFill>
            <a:srgbClr val="EEF4FF"/>
          </a:solidFill>
          <a:ln w="13970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25880" y="1920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Segoe UI"/>
              </a:rPr>
              <a:t>Structura parserului (ReadP)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5880" y="2331720"/>
            <a:ext cx="4389120" cy="3611880"/>
          </a:xfrm>
          <a:prstGeom prst="roundRect">
            <a:avLst/>
          </a:prstGeom>
          <a:solidFill>
            <a:srgbClr val="1E1E1E"/>
          </a:solidFill>
          <a:ln w="1397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90472" y="2423160"/>
            <a:ext cx="40599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CDCFE"/>
                </a:solidFill>
                <a:latin typeface="Consolas"/>
              </a:rPr>
              <a:t>Parser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0472" y="2715768"/>
            <a:ext cx="4059935" cy="3136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exprP  = chainl1 termP addOp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termP  = chainl1 factorP mulOp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factorP = negP +++ atomP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atomP  = negConstP +++ parens exprP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         +++ integerP +++ variableP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920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Segoe UI"/>
              </a:rPr>
              <a:t>Detalii suportate in proiect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331720"/>
            <a:ext cx="438912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F3338"/>
                </a:solidFill>
                <a:latin typeface="Segoe UI"/>
              </a:rPr>
              <a:t>- spatii ignorate prin token/skipSpaces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F3338"/>
                </a:solidFill>
                <a:latin typeface="Segoe UI"/>
              </a:rPr>
              <a:t>- variabile: litera + alfanumeric/underscore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F3338"/>
                </a:solidFill>
                <a:latin typeface="Segoe UI"/>
              </a:rPr>
              <a:t>- constante negative explicite: (-3)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F3338"/>
                </a:solidFill>
                <a:latin typeface="Segoe UI"/>
              </a:rPr>
              <a:t>- negare unara: -x, -(a+b)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F3338"/>
                </a:solidFill>
                <a:latin typeface="Segoe UI"/>
              </a:rPr>
              <a:t>- parseExpr valideaza input complet (eof)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5897880"/>
            <a:ext cx="10058400" cy="658368"/>
          </a:xfrm>
          <a:prstGeom prst="roundRect">
            <a:avLst/>
          </a:prstGeom>
          <a:solidFill>
            <a:srgbClr val="E8F1FF"/>
          </a:solidFill>
          <a:ln w="13970">
            <a:solidFill>
              <a:srgbClr val="B4C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25880" y="60350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F4E79"/>
                </a:solidFill>
                <a:latin typeface="Segoe UI"/>
              </a:rPr>
              <a:t>Mesaj cheie: Prioritatile sintactice sunt modelate explicit in parser, nu implicite.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500" b="1">
                <a:solidFill>
                  <a:srgbClr val="2F3338"/>
                </a:solidFill>
                <a:latin typeface="Segoe UI Semibold"/>
              </a:rPr>
              <a:t>Pretty.hs: reguli de parantezare si precedenta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737360"/>
            <a:ext cx="10058400" cy="2148840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25880" y="1965960"/>
            <a:ext cx="9601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pretty porneste cu context 0 si delega in prettyPrec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atomPrec=11, negPrec=9, mulPrec=7, addPrec=6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wrapIf adauga paranteze doar cand contextul o cere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977639"/>
            <a:ext cx="10058400" cy="1737360"/>
          </a:xfrm>
          <a:prstGeom prst="roundRect">
            <a:avLst/>
          </a:prstGeom>
          <a:solidFill>
            <a:srgbClr val="1E1E1E"/>
          </a:solidFill>
          <a:ln w="1397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61872" y="4069079"/>
            <a:ext cx="9729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CDCFE"/>
                </a:solidFill>
                <a:latin typeface="Consolas"/>
              </a:rPr>
              <a:t>Detaliu important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4361688"/>
            <a:ext cx="9729216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prettyConst n | n &lt; 0 = "(" ++ show n ++ ")"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-- constantele negative sunt parenthezate pentru a evita confuzia cu Sub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897880"/>
            <a:ext cx="10058400" cy="658368"/>
          </a:xfrm>
          <a:prstGeom prst="roundRect">
            <a:avLst/>
          </a:prstGeom>
          <a:solidFill>
            <a:srgbClr val="E8F1FF"/>
          </a:solidFill>
          <a:ln w="13970">
            <a:solidFill>
              <a:srgbClr val="B4C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25880" y="60350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F4E79"/>
                </a:solidFill>
                <a:latin typeface="Segoe UI"/>
              </a:rPr>
              <a:t>Mesaj cheie: Pretty-printer-ul minimizeaza parantezele, dar pastreaza semantica fara ambiguitati.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500" b="1">
                <a:solidFill>
                  <a:srgbClr val="2F3338"/>
                </a:solidFill>
                <a:latin typeface="Segoe UI Semibold"/>
              </a:rPr>
              <a:t>Spec.hs: infrastructura de rulare a proprietatilor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737360"/>
            <a:ext cx="4846320" cy="4526280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309360" y="1737360"/>
            <a:ext cx="4846320" cy="4526280"/>
          </a:xfrm>
          <a:prstGeom prst="roundRect">
            <a:avLst/>
          </a:prstGeom>
          <a:solidFill>
            <a:srgbClr val="EEF4FF"/>
          </a:solidFill>
          <a:ln w="13970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25880" y="1920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Segoe UI"/>
              </a:rPr>
              <a:t>Setari de executie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5880" y="2331720"/>
            <a:ext cx="4389120" cy="2240280"/>
          </a:xfrm>
          <a:prstGeom prst="roundRect">
            <a:avLst/>
          </a:prstGeom>
          <a:solidFill>
            <a:srgbClr val="1E1E1E"/>
          </a:solidFill>
          <a:ln w="1397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90472" y="2423160"/>
            <a:ext cx="40599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CDCFE"/>
                </a:solidFill>
                <a:latin typeface="Consolas"/>
              </a:rPr>
              <a:t>runProperty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0472" y="2715768"/>
            <a:ext cx="4059935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runProperty descr prop = do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  putStrLn ("-- " ++ descr)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  quickCheckWith stdArgs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    { maxSuccess = 120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    , maxSize = 12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    } prop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920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Segoe UI"/>
              </a:rPr>
              <a:t>Ordinea rulata in 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331720"/>
            <a:ext cx="438912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F3338"/>
                </a:solidFill>
                <a:latin typeface="Segoe UI"/>
              </a:rPr>
              <a:t>- 2 proprietati semantice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F3338"/>
                </a:solidFill>
                <a:latin typeface="Segoe UI"/>
              </a:rPr>
              <a:t>- 4 proprietati structurale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F3338"/>
                </a:solidFill>
                <a:latin typeface="Segoe UI"/>
              </a:rPr>
              <a:t>- 4 proprietati algebrice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F3338"/>
                </a:solidFill>
                <a:latin typeface="Segoe UI"/>
              </a:rPr>
              <a:t>- 3 neutre/absorbante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F3338"/>
                </a:solidFill>
                <a:latin typeface="Segoe UI"/>
              </a:rPr>
              <a:t>- 2 negatie/scadere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F3338"/>
                </a:solidFill>
                <a:latin typeface="Segoe UI"/>
              </a:rPr>
              <a:t>- 1 substitutie (total: 16)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5897880"/>
            <a:ext cx="10058400" cy="658368"/>
          </a:xfrm>
          <a:prstGeom prst="roundRect">
            <a:avLst/>
          </a:prstGeom>
          <a:solidFill>
            <a:srgbClr val="E8F1FF"/>
          </a:solidFill>
          <a:ln w="13970">
            <a:solidFill>
              <a:srgbClr val="B4C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25880" y="60350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F4E79"/>
                </a:solidFill>
                <a:latin typeface="Segoe UI"/>
              </a:rPr>
              <a:t>Mesaj cheie: Toate proprietatile sunt rulate uniform, cu aceeasi configuratie QuickCheck.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500" b="1">
                <a:solidFill>
                  <a:srgbClr val="2F3338"/>
                </a:solidFill>
                <a:latin typeface="Segoe UI Semibold"/>
              </a:rPr>
              <a:t>Rezultate reale din spec.exe (rulare curenta)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737360"/>
            <a:ext cx="10058400" cy="4526280"/>
          </a:xfrm>
          <a:prstGeom prst="roundRect">
            <a:avLst/>
          </a:prstGeom>
          <a:solidFill>
            <a:srgbClr val="1E1E1E"/>
          </a:solidFill>
          <a:ln w="1397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61872" y="1828800"/>
            <a:ext cx="9729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CDCFE"/>
                </a:solidFill>
                <a:latin typeface="Consolas"/>
              </a:rPr>
              <a:t>Output observat local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2121408"/>
            <a:ext cx="9729216" cy="4050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+++ OK, passed 120 tests: simplify preserves meaning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68.3% cu variabile | 31.7% fara variabile | 20.8% expr mare (&gt;8)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 sz="1150" b="0" i="0">
              <a:solidFill>
                <a:srgbClr val="D4D4D4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+++ OK, passed 120 tests: pretty-parse preserves meaning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28.3% expresie terminala | 24.2% adancime &gt; 4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 sz="1150" b="0" i="0">
              <a:solidFill>
                <a:srgbClr val="D4D4D4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+++ OK, passed 120 tests: add commutative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52.5% expresii mari | 16.7% expresii mici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 sz="1150" b="0" i="0">
              <a:solidFill>
                <a:srgbClr val="D4D4D4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[... toate cele 16 proprietati: PASS ...]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5486400"/>
            <a:ext cx="10058400" cy="640080"/>
          </a:xfrm>
          <a:prstGeom prst="roundRect">
            <a:avLst/>
          </a:prstGeom>
          <a:solidFill>
            <a:srgbClr val="ECFDF3"/>
          </a:solidFill>
          <a:ln w="13970">
            <a:solidFill>
              <a:srgbClr val="9AE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25880" y="566928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66534"/>
                </a:solidFill>
                <a:latin typeface="Segoe UI"/>
              </a:rPr>
              <a:t>Toate proprietatile au trecut in rularea curenta a executabilului de test.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897880"/>
            <a:ext cx="10058400" cy="658368"/>
          </a:xfrm>
          <a:prstGeom prst="roundRect">
            <a:avLst/>
          </a:prstGeom>
          <a:solidFill>
            <a:srgbClr val="E8F1FF"/>
          </a:solidFill>
          <a:ln w="13970">
            <a:solidFill>
              <a:srgbClr val="B4C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25880" y="60350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F4E79"/>
                </a:solidFill>
                <a:latin typeface="Segoe UI"/>
              </a:rPr>
              <a:t>Mesaj cheie: Output-ul real valideaza atat corectitudinea, cat si distributia cazurilor generate.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500" b="1">
                <a:solidFill>
                  <a:srgbClr val="2F3338"/>
                </a:solidFill>
                <a:latin typeface="Segoe UI Semibold"/>
              </a:rPr>
              <a:t>Configurare proiect din fisierul .cabal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737360"/>
            <a:ext cx="10058400" cy="4526280"/>
          </a:xfrm>
          <a:prstGeom prst="roundRect">
            <a:avLst/>
          </a:prstGeom>
          <a:solidFill>
            <a:srgbClr val="F5F8FC"/>
          </a:solidFill>
          <a:ln w="13970">
            <a:solidFill>
              <a:srgbClr val="D5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25880" y="1965960"/>
            <a:ext cx="9601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library: modulele Expr, Eval, Pretty, Parser, Simplify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executable: mfis-quickcheck-expr (app/Main.hs)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test-suite: spec (test/Spec.hs, type exitcode-stdio-1.0)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dependinte: base, containers, QuickCheck &gt;=2.14 &amp;&amp; &lt;3 (in test-suite)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ghc-options: set consistent de warning-uri (-Wall, -Wcompat etc.)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25880" y="4526280"/>
            <a:ext cx="9601200" cy="1600200"/>
          </a:xfrm>
          <a:prstGeom prst="roundRect">
            <a:avLst/>
          </a:prstGeom>
          <a:solidFill>
            <a:srgbClr val="1E1E1E"/>
          </a:solidFill>
          <a:ln w="1397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90472" y="4617720"/>
            <a:ext cx="9272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CDCFE"/>
                </a:solidFill>
                <a:latin typeface="Consolas"/>
              </a:rPr>
              <a:t>Componente declarate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0472" y="4910328"/>
            <a:ext cx="9272016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library -&gt; src/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executable mfis-quickcheck-expr -&gt; app/Main.hs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nsolas"/>
              </a:rPr>
              <a:t>test-suite spec -&gt; test/Spec.hs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897880"/>
            <a:ext cx="10058400" cy="658368"/>
          </a:xfrm>
          <a:prstGeom prst="roundRect">
            <a:avLst/>
          </a:prstGeom>
          <a:solidFill>
            <a:srgbClr val="E8F1FF"/>
          </a:solidFill>
          <a:ln w="13970">
            <a:solidFill>
              <a:srgbClr val="B4C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25880" y="60350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F4E79"/>
                </a:solidFill>
                <a:latin typeface="Segoe UI"/>
              </a:rPr>
              <a:t>Mesaj cheie: Structura .cabal face proiectul reproductibil si usor de rulat pe alte medii.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500" b="1">
                <a:solidFill>
                  <a:srgbClr val="2F3338"/>
                </a:solidFill>
                <a:latin typeface="Segoe UI Semibold"/>
              </a:rPr>
              <a:t>Limitari concrete ale implementarii actuale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737360"/>
            <a:ext cx="10058400" cy="4526280"/>
          </a:xfrm>
          <a:prstGeom prst="roundRect">
            <a:avLst/>
          </a:prstGeom>
          <a:solidFill>
            <a:srgbClr val="FFF7ED"/>
          </a:solidFill>
          <a:ln w="1397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25880" y="2011680"/>
            <a:ext cx="9601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Limbajul include doar Int + operatori Add/Sub/Mul/Neg (fara impartire, comparatii, booleene).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parseExpr intoarce Maybe Expr, deci nu ofera mesaj de eroare detaliat la parsare.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variablePool este finit (x,y,z,u,v,w,a,b,c), deci varietatea numelor este controlata.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Distribuirea constructorilor este fixa in generator (frequency), necesitand recalibrare la extinderea AST-ului.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F3338"/>
                </a:solidFill>
                <a:latin typeface="Segoe UI"/>
              </a:rPr>
              <a:t>- Testarea este probabilistica: trecerea testelor nu echivaleaza cu demonstratie matematica completa.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5897880"/>
            <a:ext cx="10058400" cy="658368"/>
          </a:xfrm>
          <a:prstGeom prst="roundRect">
            <a:avLst/>
          </a:prstGeom>
          <a:solidFill>
            <a:srgbClr val="E8F1FF"/>
          </a:solidFill>
          <a:ln w="13970">
            <a:solidFill>
              <a:srgbClr val="B4C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25880" y="60350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F4E79"/>
                </a:solidFill>
                <a:latin typeface="Segoe UI"/>
              </a:rPr>
              <a:t>Mesaj cheie: Limitarile sunt explicite si ofera directii clare pentru extinderea proiectului.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{2434C647-D8ED-4307-8D52-7F48AD6760D5}TFf0a5ceae-4542-492d-822e-d65a94fb0e1e3b562c5a_win32-009a0557e699</Template>
  <TotalTime>34</TotalTime>
  <Words>2353</Words>
  <Application>Microsoft Office PowerPoint</Application>
  <PresentationFormat>Custom</PresentationFormat>
  <Paragraphs>292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Custom</vt:lpstr>
      <vt:lpstr>Testarea property-based folosind QuickCheck</vt:lpstr>
      <vt:lpstr>Agenda prezentarii</vt:lpstr>
      <vt:lpstr>Context: de ce avem nevoie de metode formale</vt:lpstr>
      <vt:lpstr>Testare clasica vs. property-based testing</vt:lpstr>
      <vt:lpstr>Ce este QuickCheck (pe scurt)</vt:lpstr>
      <vt:lpstr>Arhitectura modulului testat</vt:lpstr>
      <vt:lpstr>AST si exemplu de arbore</vt:lpstr>
      <vt:lpstr>Evaluatorul: semantica operationala</vt:lpstr>
      <vt:lpstr>Simplificatorul si regulile algebrice</vt:lpstr>
      <vt:lpstr>Pretty + Parser: round-trip semantic</vt:lpstr>
      <vt:lpstr>De ce generatoare manuale (nu automate)</vt:lpstr>
      <vt:lpstr>genExpr, genClosedExpr, genEnvFor</vt:lpstr>
      <vt:lpstr>shrink: contraexemple mici, debug rapid</vt:lpstr>
      <vt:lpstr>Cele 16 proprietati (grupare completa)</vt:lpstr>
      <vt:lpstr>Rezultate experimentale si classify</vt:lpstr>
      <vt:lpstr>Avantaje si limitari ale abordarii</vt:lpstr>
      <vt:lpstr>Detalii suplimentare din proiect (implementare/rulare)</vt:lpstr>
      <vt:lpstr>Concluzii si directii viitoare</vt:lpstr>
      <vt:lpstr>Walkthrough demo din app/Main.hs</vt:lpstr>
      <vt:lpstr>Expr.hs: functii structurale folosite in teste</vt:lpstr>
      <vt:lpstr>Parser.hs: gramatica si precedenta operatorilor</vt:lpstr>
      <vt:lpstr>Pretty.hs: reguli de parantezare si precedenta</vt:lpstr>
      <vt:lpstr>Spec.hs: infrastructura de rulare a proprietatilor</vt:lpstr>
      <vt:lpstr>Rezultate reale din spec.exe (rulare curenta)</vt:lpstr>
      <vt:lpstr>Configurare proiect din fisierul .cabal</vt:lpstr>
      <vt:lpstr>Limitari concrete ale implementarii actuale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Testarea property-based folosind QuickCheck</dc:title>
  <dc:creator>Nite Alexandru</dc:creator>
  <cp:lastModifiedBy>user</cp:lastModifiedBy>
  <cp:revision>4</cp:revision>
  <dcterms:created xsi:type="dcterms:W3CDTF">2026-04-21T13:52:19Z</dcterms:created>
  <dcterms:modified xsi:type="dcterms:W3CDTF">2026-04-21T21:39:52Z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