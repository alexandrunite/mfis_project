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6" r:id="rId9"/>
    <p:sldId id="257" r:id="rId10"/>
    <p:sldId id="258" r:id="rId11"/>
    <p:sldId id="259" r:id="rId12"/>
    <p:sldId id="260" r:id="rId8"/>
    <p:sldId id="261" r:id="rId7"/>
    <p:sldId id="262" r:id="rId6"/>
    <p:sldId id="263" r:id="rId5"/>
    <p:sldId id="26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>
        <p:scale>
          <a:sx n="75" d="100"/>
          <a:sy n="75" d="100"/>
        </p:scale>
        <p:origin x="68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000" b="1">
                <a:solidFill>
                  <a:srgbClr val="2F3338"/>
                </a:solidFill>
                <a:latin typeface="Segoe UI Semibold"/>
              </a:rPr>
              <a:t>Testarea property-based folosind QuickCheck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B5563"/>
                </a:solidFill>
                <a:latin typeface="Segoe UI"/>
              </a:rPr>
              <a:t>Metode Formale in Ingineria Software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F3338"/>
                </a:solidFill>
                <a:latin typeface="Segoe UI"/>
              </a:rPr>
              <a:t>Tema 20: </a:t>
            </a:r>
            <a:r>
              <a:rPr sz="1900" b="0" i="0">
                <a:solidFill>
                  <a:srgbClr val="2F3338"/>
                </a:solidFill>
                <a:latin typeface="Segoe UI"/>
              </a:rPr>
              <a:t>testarea property-based a modulelor software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F3338"/>
                </a:solidFill>
                <a:latin typeface="Segoe UI"/>
              </a:rPr>
              <a:t>Mini-limbaj de expresii aritmetice in Haskell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3338"/>
                </a:solidFill>
                <a:latin typeface="Segoe UI"/>
              </a:rPr>
              <a:t>Echipa: </a:t>
            </a:r>
            <a:r>
              <a:rPr sz="1800" b="0" i="0">
                <a:solidFill>
                  <a:srgbClr val="2F3338"/>
                </a:solidFill>
                <a:latin typeface="Segoe UI"/>
              </a:rPr>
              <a:t>[nume1], [nume2]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F3338"/>
                </a:solidFill>
                <a:latin typeface="Segoe UI Semibold"/>
              </a:rPr>
              <a:t>Testare clasica vs. property-based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4800600" cy="45262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1072" y="1783080"/>
            <a:ext cx="4800600" cy="452628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96596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4E79"/>
                </a:solidFill>
                <a:latin typeface="Segoe UI"/>
              </a:rPr>
              <a:t>Testare clasica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487168"/>
            <a:ext cx="4343400" cy="1444752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0472" y="2596896"/>
            <a:ext cx="40142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EC9B0"/>
                </a:solidFill>
                <a:latin typeface="Consolas"/>
              </a:rPr>
              <a:t>Exemple punctuale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eval env (Add (Const 1) (Const 2)) == Just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eval env (Mul (Const 5) (Const 0)) == Just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096512"/>
            <a:ext cx="43708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Acopera doar cazurile la care te-ai gandit.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Cazurile limita pot ramane netestate.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96596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4E79"/>
                </a:solidFill>
                <a:latin typeface="Segoe UI"/>
              </a:rPr>
              <a:t>Property-based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0528" y="2487168"/>
            <a:ext cx="4343400" cy="1719072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596896"/>
            <a:ext cx="4014215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EC9B0"/>
                </a:solidFill>
                <a:latin typeface="Consolas"/>
              </a:rPr>
              <a:t>Proprietate generala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69CD6"/>
                </a:solidFill>
                <a:latin typeface="Consolas"/>
              </a:rPr>
              <a:t>for all a, b: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eval env (Add a b) == eval env (Add b 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4352544"/>
            <a:ext cx="435254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QuickCheck genereaza sute de cazuri automat.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Cand gaseste bug, il reduce la contraexemplu minimal.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F3338"/>
                </a:solidFill>
                <a:latin typeface="Segoe UI Semibold"/>
              </a:rPr>
              <a:t>Ce este QuickCheck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8308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B5563"/>
                </a:solidFill>
                <a:latin typeface="Segoe UI"/>
              </a:rPr>
              <a:t>Elementele-cheie de care ne folosim in proiect: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395728"/>
            <a:ext cx="4892040" cy="361188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3640" y="2395728"/>
            <a:ext cx="4892040" cy="361188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606040"/>
            <a:ext cx="4526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1" i="0">
                <a:solidFill>
                  <a:srgbClr val="1F4E79"/>
                </a:solidFill>
                <a:latin typeface="Consolas"/>
              </a:rPr>
              <a:t>Arbitrary</a:t>
            </a:r>
            <a:r>
              <a:rPr sz="1600" b="0" i="0">
                <a:solidFill>
                  <a:srgbClr val="2F3338"/>
                </a:solidFill>
                <a:latin typeface="Segoe UI"/>
              </a:rPr>
              <a:t> - clasa pentru tipuri ce pot fi generate aleatoriu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1" i="0">
                <a:solidFill>
                  <a:srgbClr val="1F4E79"/>
                </a:solidFill>
                <a:latin typeface="Consolas"/>
              </a:rPr>
              <a:t>Gen a</a:t>
            </a:r>
            <a:r>
              <a:rPr sz="1600" b="0" i="0">
                <a:solidFill>
                  <a:srgbClr val="2F3338"/>
                </a:solidFill>
                <a:latin typeface="Segoe UI"/>
              </a:rPr>
              <a:t> - tipul unui generator de valori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1" i="0">
                <a:solidFill>
                  <a:srgbClr val="1F4E79"/>
                </a:solidFill>
                <a:latin typeface="Consolas"/>
              </a:rPr>
              <a:t>frequency</a:t>
            </a:r>
            <a:r>
              <a:rPr sz="1600" b="0" i="0">
                <a:solidFill>
                  <a:srgbClr val="2F3338"/>
                </a:solidFill>
                <a:latin typeface="Segoe UI"/>
              </a:rPr>
              <a:t> - alege intre generatoare cu ponderi explicite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1" i="0">
                <a:solidFill>
                  <a:srgbClr val="1F4E79"/>
                </a:solidFill>
                <a:latin typeface="Consolas"/>
              </a:rPr>
              <a:t>sized</a:t>
            </a:r>
            <a:r>
              <a:rPr sz="1600" b="0" i="0">
                <a:solidFill>
                  <a:srgbClr val="2F3338"/>
                </a:solidFill>
                <a:latin typeface="Segoe UI"/>
              </a:rPr>
              <a:t> - controleaza marimea expresiilor generate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606040"/>
            <a:ext cx="4526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1" i="0">
                <a:solidFill>
                  <a:srgbClr val="1F4E79"/>
                </a:solidFill>
                <a:latin typeface="Consolas"/>
              </a:rPr>
              <a:t>shrink</a:t>
            </a:r>
            <a:r>
              <a:rPr sz="1600" b="0" i="0">
                <a:solidFill>
                  <a:srgbClr val="2F3338"/>
                </a:solidFill>
                <a:latin typeface="Segoe UI"/>
              </a:rPr>
              <a:t> - reduce contraexemplul la forma minima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1" i="0">
                <a:solidFill>
                  <a:srgbClr val="1F4E79"/>
                </a:solidFill>
                <a:latin typeface="Consolas"/>
              </a:rPr>
              <a:t>classify</a:t>
            </a:r>
            <a:r>
              <a:rPr sz="1600" b="0" i="0">
                <a:solidFill>
                  <a:srgbClr val="2F3338"/>
                </a:solidFill>
                <a:latin typeface="Segoe UI"/>
              </a:rPr>
              <a:t> - arata distributia cazurilor generate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</a:t>
            </a:r>
            <a:r>
              <a:rPr sz="1600" b="1" i="0">
                <a:solidFill>
                  <a:srgbClr val="1F4E79"/>
                </a:solidFill>
                <a:latin typeface="Consolas"/>
              </a:rPr>
              <a:t>quickCheckWith</a:t>
            </a:r>
            <a:r>
              <a:rPr sz="1600" b="0" i="0">
                <a:solidFill>
                  <a:srgbClr val="2F3338"/>
                </a:solidFill>
                <a:latin typeface="Segoe UI"/>
              </a:rPr>
              <a:t> - ruleaza cu parametri custom (maxSuccess, maxSize)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Modulul testat: AST si evaluator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4800600" cy="2212848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1872" y="1892807"/>
            <a:ext cx="4471416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EC9B0"/>
                </a:solidFill>
                <a:latin typeface="Consolas"/>
              </a:rPr>
              <a:t>AST (Expr)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69CD6"/>
                </a:solidFill>
                <a:latin typeface="Consolas"/>
              </a:rPr>
              <a:t>data Expr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= Const 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| Var String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| Add Expr Expr | Sub Expr Expr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| Mul Expr Expr | Neg Expr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33087"/>
            <a:ext cx="4800600" cy="1828800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4242816"/>
            <a:ext cx="4471416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EC9B0"/>
                </a:solidFill>
                <a:latin typeface="Consolas"/>
              </a:rPr>
              <a:t>Evaluator (fragment)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onsolas"/>
              </a:rPr>
              <a:t>eval :: Env -&gt; Expr -&gt; Maybe 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eval env (Add a b) = liftA2 (+) (eval env a) (eval env b)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eval env (Var x)   = Map.lookup x env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9955"/>
                </a:solidFill>
                <a:latin typeface="Consolas"/>
              </a:rPr>
              <a:t>-- Nothing daca o variabila lipseste din mediu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783080"/>
            <a:ext cx="4800600" cy="452628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01952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4E79"/>
                </a:solidFill>
                <a:latin typeface="Segoe UI"/>
              </a:rPr>
              <a:t>Arbore pentru: 1 * x + -(-y)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75904" y="2514600"/>
            <a:ext cx="713232" cy="365760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4E79"/>
                </a:solidFill>
                <a:latin typeface="Consolas"/>
              </a:rPr>
              <a:t>Add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97496" y="3182112"/>
            <a:ext cx="713232" cy="365760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4E79"/>
                </a:solidFill>
                <a:latin typeface="Consolas"/>
              </a:rPr>
              <a:t>Mul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54312" y="3182112"/>
            <a:ext cx="713232" cy="365760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4E79"/>
                </a:solidFill>
                <a:latin typeface="Consolas"/>
              </a:rPr>
              <a:t>Neg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76872" y="3840480"/>
            <a:ext cx="713232" cy="365760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4E79"/>
                </a:solidFill>
                <a:latin typeface="Consola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40480"/>
            <a:ext cx="713232" cy="365760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4E79"/>
                </a:solidFill>
                <a:latin typeface="Consolas"/>
              </a:rPr>
              <a:t>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54312" y="3840480"/>
            <a:ext cx="713232" cy="365760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4E79"/>
                </a:solidFill>
                <a:latin typeface="Consolas"/>
              </a:rPr>
              <a:t>Neg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54312" y="4498848"/>
            <a:ext cx="713232" cy="365760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4E79"/>
                </a:solidFill>
                <a:latin typeface="Consolas"/>
              </a:rPr>
              <a:t>y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754112" y="2697480"/>
            <a:ext cx="978408" cy="667512"/>
          </a:xfrm>
          <a:prstGeom prst="line">
            <a:avLst/>
          </a:prstGeom>
          <a:ln w="1651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2697480"/>
            <a:ext cx="978408" cy="667512"/>
          </a:xfrm>
          <a:prstGeom prst="line">
            <a:avLst/>
          </a:prstGeom>
          <a:ln w="1651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333488" y="3364992"/>
            <a:ext cx="420624" cy="658368"/>
          </a:xfrm>
          <a:prstGeom prst="line">
            <a:avLst/>
          </a:prstGeom>
          <a:ln w="1651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54112" y="3364992"/>
            <a:ext cx="420624" cy="658368"/>
          </a:xfrm>
          <a:prstGeom prst="line">
            <a:avLst/>
          </a:prstGeom>
          <a:ln w="1651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10928" y="3364992"/>
            <a:ext cx="0" cy="658368"/>
          </a:xfrm>
          <a:prstGeom prst="line">
            <a:avLst/>
          </a:prstGeom>
          <a:ln w="1651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10928" y="4023360"/>
            <a:ext cx="0" cy="658368"/>
          </a:xfrm>
          <a:prstGeom prst="line">
            <a:avLst/>
          </a:prstGeom>
          <a:ln w="1651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46520" y="544068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B5563"/>
                </a:solidFill>
                <a:latin typeface="Segoe UI"/>
              </a:rPr>
              <a:t>Radacina: </a:t>
            </a:r>
            <a:r>
              <a:rPr sz="1200" b="1" i="0">
                <a:solidFill>
                  <a:srgbClr val="1F4E79"/>
                </a:solidFill>
                <a:latin typeface="Consolas"/>
              </a:rPr>
              <a:t>Add</a:t>
            </a:r>
            <a:r>
              <a:rPr sz="1200" b="0" i="0">
                <a:solidFill>
                  <a:srgbClr val="4B5563"/>
                </a:solidFill>
                <a:latin typeface="Segoe UI"/>
              </a:rPr>
              <a:t>  |  Subarbori: </a:t>
            </a:r>
            <a:r>
              <a:rPr sz="1200" b="1" i="0">
                <a:solidFill>
                  <a:srgbClr val="1F4E79"/>
                </a:solidFill>
                <a:latin typeface="Consolas"/>
              </a:rPr>
              <a:t>Mul(1,x)</a:t>
            </a:r>
            <a:r>
              <a:rPr sz="1200" b="0" i="0">
                <a:solidFill>
                  <a:srgbClr val="4B5563"/>
                </a:solidFill>
                <a:latin typeface="Segoe UI"/>
              </a:rPr>
              <a:t> si </a:t>
            </a:r>
            <a:r>
              <a:rPr sz="1200" b="1" i="0">
                <a:solidFill>
                  <a:srgbClr val="1F4E79"/>
                </a:solidFill>
                <a:latin typeface="Consolas"/>
              </a:rPr>
              <a:t>Neg(Neg(y))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F3338"/>
                </a:solidFill>
                <a:latin typeface="Segoe UI Semibold"/>
              </a:rPr>
              <a:t>Generatoarele proprii (de ce conteaza)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55648"/>
            <a:ext cx="10058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Generatoarele sunt scrise </a:t>
            </a:r>
            <a:r>
              <a:rPr sz="1600" b="1" i="0">
                <a:solidFill>
                  <a:srgbClr val="2F3338"/>
                </a:solidFill>
                <a:latin typeface="Segoe UI"/>
              </a:rPr>
              <a:t>manual</a:t>
            </a:r>
            <a:r>
              <a:rPr sz="1600" b="0" i="0">
                <a:solidFill>
                  <a:srgbClr val="2F3338"/>
                </a:solidFill>
                <a:latin typeface="Segoe UI"/>
              </a:rPr>
              <a:t>, nu derivate automat. </a:t>
            </a:r>
            <a:r>
              <a:rPr sz="1600" b="1" i="0">
                <a:solidFill>
                  <a:srgbClr val="1F4E79"/>
                </a:solidFill>
                <a:latin typeface="Consolas"/>
              </a:rPr>
              <a:t>genericArbitrary</a:t>
            </a:r>
            <a:r>
              <a:rPr sz="1600" b="0" i="0">
                <a:solidFill>
                  <a:srgbClr val="2F3338"/>
                </a:solidFill>
                <a:latin typeface="Segoe UI"/>
              </a:rPr>
              <a:t> nu cunoaste domeniul.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331720"/>
            <a:ext cx="4864608" cy="1965960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2441448"/>
            <a:ext cx="4535424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EC9B0"/>
                </a:solidFill>
                <a:latin typeface="Consolas"/>
              </a:rPr>
              <a:t>genSmallInt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- ponderi pentru constante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DCAA"/>
                </a:solidFill>
                <a:latin typeface="Consolas"/>
              </a:rPr>
              <a:t>frequency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[ (</a:t>
            </a:r>
            <a:r>
              <a:rPr sz="1300" b="0" i="0">
                <a:solidFill>
                  <a:srgbClr val="B5CEA8"/>
                </a:solidFill>
                <a:latin typeface="Consolas"/>
              </a:rPr>
              <a:t>5</a:t>
            </a:r>
            <a:r>
              <a:rPr sz="1300" b="0" i="0">
                <a:solidFill>
                  <a:srgbClr val="D4D4D4"/>
                </a:solidFill>
                <a:latin typeface="Consolas"/>
              </a:rPr>
              <a:t>, chooseInt (-4, 4))</a:t>
            </a:r>
            <a:r>
              <a:rPr sz="1300" b="0" i="0">
                <a:solidFill>
                  <a:srgbClr val="6A9955"/>
                </a:solidFill>
                <a:latin typeface="Consolas"/>
              </a:rPr>
              <a:t>   -- 83%: numere mici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, (</a:t>
            </a:r>
            <a:r>
              <a:rPr sz="1300" b="0" i="0">
                <a:solidFill>
                  <a:srgbClr val="B5CEA8"/>
                </a:solidFill>
                <a:latin typeface="Consolas"/>
              </a:rPr>
              <a:t>1</a:t>
            </a:r>
            <a:r>
              <a:rPr sz="1300" b="0" i="0">
                <a:solidFill>
                  <a:srgbClr val="D4D4D4"/>
                </a:solidFill>
                <a:latin typeface="Consolas"/>
              </a:rPr>
              <a:t>, chooseInt (-12, 12))</a:t>
            </a:r>
            <a:r>
              <a:rPr sz="1300" b="0" i="0">
                <a:solidFill>
                  <a:srgbClr val="6A9955"/>
                </a:solidFill>
                <a:latin typeface="Consolas"/>
              </a:rPr>
              <a:t> -- 17%: numere mai mari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331720"/>
            <a:ext cx="4864608" cy="2331720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55664" y="2441448"/>
            <a:ext cx="4535424" cy="2112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EC9B0"/>
                </a:solidFill>
                <a:latin typeface="Consolas"/>
              </a:rPr>
              <a:t>genExpr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cu </a:t>
            </a:r>
            <a:r>
              <a:rPr sz="1400" b="1" i="0">
                <a:solidFill>
                  <a:srgbClr val="569CD6"/>
                </a:solidFill>
                <a:latin typeface="Consolas"/>
              </a:rPr>
              <a:t>sized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+ frequency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DCAA"/>
                </a:solidFill>
                <a:latin typeface="Consolas"/>
              </a:rPr>
              <a:t>frequency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[ (5, terminal)    -- 26%: Const sau Var (opreste recursivitatea)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, (2, Neg ...)     -- 11%: negatie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, (4, bin Add ...) -- 21%: adunare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, (4, bin Sub ...) -- 21%: scadere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, (4, bin Mul ...) -- 21%: inmultire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64608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3338"/>
                </a:solidFill>
                <a:latin typeface="Segoe UI"/>
              </a:rPr>
              <a:t>De ce aceste ponderi: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terminalele au pondere mai mare pentru a opri recursivitatea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Neg are pondere mai mica (un singur subarbore)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operatorii binari sunt egali, nu favorizam niciun operator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F3338"/>
                </a:solidFill>
                <a:latin typeface="Segoe UI Semibold"/>
              </a:rPr>
              <a:t>shrinkExpr: contraexemple minimale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55648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B5563"/>
                </a:solidFill>
                <a:latin typeface="Segoe UI"/>
              </a:rPr>
              <a:t>QuickCheck incearca sa simplifice contraexemplul pana la forma cea mai mica utila pentru debugging.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267712"/>
            <a:ext cx="10058400" cy="1600200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2377440"/>
            <a:ext cx="9729216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EC9B0"/>
                </a:solidFill>
                <a:latin typeface="Consolas"/>
              </a:rPr>
              <a:t>shrinkExpr (Add a b)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= [a, b]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++ [Add a' b | a' &lt;- shrinkExpr a]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++ [Add a b' | b' &lt;- shrinkExpr b]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069080"/>
            <a:ext cx="4864608" cy="201168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4069080"/>
            <a:ext cx="4864608" cy="20116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4279392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A3412"/>
                </a:solidFill>
                <a:latin typeface="Segoe UI"/>
              </a:rPr>
              <a:t>Fara shrink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3338"/>
                </a:solidFill>
                <a:latin typeface="Consolas"/>
              </a:rPr>
              <a:t>Add (Mul (Add (Var "x") (Const 3))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3338"/>
                </a:solidFill>
                <a:latin typeface="Consolas"/>
              </a:rPr>
              <a:t>    (Const 2)) (Sub (Var "y") (Const 1))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279392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6534"/>
                </a:solidFill>
                <a:latin typeface="Segoe UI"/>
              </a:rPr>
              <a:t>Cu shrink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3338"/>
                </a:solidFill>
                <a:latin typeface="Consolas"/>
              </a:rPr>
              <a:t>Add (Var "x") (Const 0)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4B5563"/>
                </a:solidFill>
                <a:latin typeface="Segoe UI"/>
              </a:rPr>
              <a:t>Acelasi bug, dar exprimat minimal.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F3338"/>
                </a:solidFill>
                <a:latin typeface="Segoe UI Semibold"/>
              </a:rPr>
              <a:t>Cele 16 proprietati (grupate)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4864608" cy="11430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1929384"/>
            <a:ext cx="44805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4E79"/>
                </a:solidFill>
                <a:latin typeface="Segoe UI"/>
              </a:rPr>
              <a:t>Corectitudine semantica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F3338"/>
                </a:solidFill>
                <a:latin typeface="Segoe UI"/>
              </a:rPr>
              <a:t>simplify si pretty-parse pastreaza evaluarea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783080"/>
            <a:ext cx="4864608" cy="114300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9384"/>
            <a:ext cx="44805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4E79"/>
                </a:solidFill>
                <a:latin typeface="Segoe UI"/>
              </a:rPr>
              <a:t>Structurale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F3338"/>
                </a:solidFill>
                <a:latin typeface="Segoe UI"/>
              </a:rPr>
              <a:t>idempotenta + nu creste size/depth/operatori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154680"/>
            <a:ext cx="4864608" cy="11430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3300984"/>
            <a:ext cx="44805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4E79"/>
                </a:solidFill>
                <a:latin typeface="Segoe UI"/>
              </a:rPr>
              <a:t>Algebrice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F3338"/>
                </a:solidFill>
                <a:latin typeface="Segoe UI"/>
              </a:rPr>
              <a:t>comutativitate si asociativitate pentru + si 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3154680"/>
            <a:ext cx="4864608" cy="114300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300984"/>
            <a:ext cx="44805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4E79"/>
                </a:solidFill>
                <a:latin typeface="Segoe UI"/>
              </a:rPr>
              <a:t>Elemente neutre/absorbante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F3338"/>
                </a:solidFill>
                <a:latin typeface="Segoe UI"/>
              </a:rPr>
              <a:t>e+0=e, e*1=e, e*0=0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526280"/>
            <a:ext cx="4864608" cy="114300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4672584"/>
            <a:ext cx="44805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4E79"/>
                </a:solidFill>
                <a:latin typeface="Segoe UI"/>
              </a:rPr>
              <a:t>Negatie si scadere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F3338"/>
                </a:solidFill>
                <a:latin typeface="Segoe UI"/>
              </a:rPr>
              <a:t>e-e=0, --e=e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4526280"/>
            <a:ext cx="4864608" cy="114300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72584"/>
            <a:ext cx="44805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4E79"/>
                </a:solidFill>
                <a:latin typeface="Segoe UI"/>
              </a:rPr>
              <a:t>Substitutie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F3338"/>
                </a:solidFill>
                <a:latin typeface="Segoe UI"/>
              </a:rPr>
              <a:t>substituirea pastreaza semantica (closed expr)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B5563"/>
                </a:solidFill>
                <a:latin typeface="Segoe UI"/>
              </a:rPr>
              <a:t>Rezultat: toate cele 16 proprietati au trecut.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F3338"/>
                </a:solidFill>
                <a:latin typeface="Segoe UI Semibold"/>
              </a:rPr>
              <a:t>Output real cu classify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10058400" cy="3246120"/>
          </a:xfrm>
          <a:prstGeom prst="roundRect">
            <a:avLst/>
          </a:prstGeom>
          <a:solidFill>
            <a:srgbClr val="1E1E1E"/>
          </a:solidFill>
          <a:ln w="1524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1872" y="1938528"/>
            <a:ext cx="9729216" cy="3026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EC9B0"/>
                </a:solidFill>
                <a:latin typeface="Consolas"/>
              </a:rPr>
              <a:t>Terminal 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+++ OK, passed 120 tests: simplify preserves meaning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9955"/>
                </a:solidFill>
                <a:latin typeface="Consolas"/>
              </a:rPr>
              <a:t>62.5% cu variabile | 37.5% fara variabile | 30.0% expresii mari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+++ OK, passed 120 tests: add commutative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9955"/>
                </a:solidFill>
                <a:latin typeface="Consolas"/>
              </a:rPr>
              <a:t>57.5% expresii mari | 17.5% expresii mici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+++ OK, passed 120 tests: mul zero absorbing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9955"/>
                </a:solidFill>
                <a:latin typeface="Consolas"/>
              </a:rPr>
              <a:t>65.8% cu variabile | 34.2% fara variabile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257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3338"/>
                </a:solidFill>
                <a:latin typeface="Segoe UI"/>
              </a:rPr>
              <a:t>classify confirma distributie echilibrata: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avem expresii mici si mari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avem expresii cu variabile si fara variabile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F3338"/>
                </a:solidFill>
                <a:latin typeface="Segoe UI Semibold"/>
              </a:rPr>
              <a:t>Analiza: eficienta metodei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830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B5563"/>
                </a:solidFill>
                <a:latin typeface="Segoe UI"/>
              </a:rPr>
              <a:t>Bilant practic dupa rularea celor 16 proprietati.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212848"/>
            <a:ext cx="4864608" cy="3566160"/>
          </a:xfrm>
          <a:prstGeom prst="roundRect">
            <a:avLst/>
          </a:prstGeom>
          <a:solidFill>
            <a:srgbClr val="ECFDF3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91072" y="2212848"/>
            <a:ext cx="4864608" cy="356616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2423160"/>
            <a:ext cx="44805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6534"/>
                </a:solidFill>
                <a:latin typeface="Segoe UI"/>
              </a:rPr>
              <a:t>Avantaje observate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- 120 cazuri/proprietate, generate automat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shrink produce contraexemple minimale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proprietatile devin documentatie executabila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classify arata acoperirea generatorului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423160"/>
            <a:ext cx="44805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3412"/>
                </a:solidFill>
                <a:latin typeface="Segoe UI"/>
              </a:rPr>
              <a:t>Limitari observate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o proprietate formulata gresit poate trece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generator slab =&gt; multe cazuri banale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Maybe cere medii complete (genEnvFor)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completeaza demonstratia formala, nu o inlocuieste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F3338"/>
                </a:solidFill>
                <a:latin typeface="Segoe UI Semibold"/>
              </a:rPr>
              <a:t>Concluzii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74519"/>
            <a:ext cx="10058400" cy="361188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C9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194560"/>
            <a:ext cx="93268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F3338"/>
                </a:solidFill>
                <a:latin typeface="Segoe UI"/>
              </a:rPr>
              <a:t>- </a:t>
            </a:r>
            <a:r>
              <a:rPr sz="1800" b="1" i="0">
                <a:solidFill>
                  <a:srgbClr val="1F4E79"/>
                </a:solidFill>
                <a:latin typeface="Consolas"/>
              </a:rPr>
              <a:t>QuickCheck</a:t>
            </a:r>
            <a:r>
              <a:rPr sz="1800" b="0" i="0">
                <a:solidFill>
                  <a:srgbClr val="2F3338"/>
                </a:solidFill>
                <a:latin typeface="Segoe UI"/>
              </a:rPr>
              <a:t> valideaza comportamentul general, nu doar exemple punctuale.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F3338"/>
                </a:solidFill>
                <a:latin typeface="Segoe UI"/>
              </a:rPr>
              <a:t>- </a:t>
            </a:r>
            <a:r>
              <a:rPr sz="1800" b="1" i="0">
                <a:solidFill>
                  <a:srgbClr val="1F4E79"/>
                </a:solidFill>
                <a:latin typeface="Segoe UI"/>
              </a:rPr>
              <a:t>Generatoarele manuale</a:t>
            </a:r>
            <a:r>
              <a:rPr sz="1800" b="0" i="0">
                <a:solidFill>
                  <a:srgbClr val="2F3338"/>
                </a:solidFill>
                <a:latin typeface="Segoe UI"/>
              </a:rPr>
              <a:t> (frequency, sized, shrink) sunt esentiale.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F3338"/>
                </a:solidFill>
                <a:latin typeface="Segoe UI"/>
              </a:rPr>
              <a:t>- </a:t>
            </a:r>
            <a:r>
              <a:rPr sz="1800" b="1" i="0">
                <a:solidFill>
                  <a:srgbClr val="1F4E79"/>
                </a:solidFill>
                <a:latin typeface="Segoe UI"/>
              </a:rPr>
              <a:t>Mini-limbajul aritmetic</a:t>
            </a:r>
            <a:r>
              <a:rPr sz="1800" b="0" i="0">
                <a:solidFill>
                  <a:srgbClr val="2F3338"/>
                </a:solidFill>
                <a:latin typeface="Segoe UI"/>
              </a:rPr>
              <a:t> este un exemplu foarte bun pentru metode formale.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F3338"/>
                </a:solidFill>
                <a:latin typeface="Segoe UI"/>
              </a:rPr>
              <a:t>- </a:t>
            </a:r>
            <a:r>
              <a:rPr sz="1800" b="1" i="0">
                <a:solidFill>
                  <a:srgbClr val="1F4E79"/>
                </a:solidFill>
                <a:latin typeface="Segoe UI"/>
              </a:rPr>
              <a:t>Specificam invarianti</a:t>
            </a:r>
            <a:r>
              <a:rPr sz="1800" b="0" i="0">
                <a:solidFill>
                  <a:srgbClr val="2F3338"/>
                </a:solidFill>
                <a:latin typeface="Segoe UI"/>
              </a:rPr>
              <a:t> valabili pentru orice intrare.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715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1">
                <a:solidFill>
                  <a:srgbClr val="4B5563"/>
                </a:solidFill>
                <a:latin typeface="Segoe UI"/>
              </a:rPr>
              <a:t>Idee-cheie: gandim in proprietati, nu in cazuri izolate.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{2434C647-D8ED-4307-8D52-7F48AD6760D5}TFf0a5ceae-4542-492d-822e-d65a94fb0e1e3b562c5a_win32-009a0557e699</Template>
  <TotalTime>3</TotalTime>
  <Words>7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Bookman Old Style</vt:lpstr>
      <vt:lpstr>Calibri</vt:lpstr>
      <vt:lpstr>Franklin Gothic Book</vt:lpstr>
      <vt:lpstr>Custom</vt:lpstr>
      <vt:lpstr>Testarea property-based folosind QuickCheck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Nite Alexandru</dc:creator>
  <cp:lastModifiedBy>Nite Alexandru</cp:lastModifiedBy>
  <cp:revision>2</cp:revision>
  <dcterms:created xsi:type="dcterms:W3CDTF">2026-04-21T13:52:19Z</dcterms:created>
  <dcterms:modified xsi:type="dcterms:W3CDTF">2026-04-21T13:55:56Z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