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8"/>
    <p:sldId id="263" r:id="rId7"/>
    <p:sldId id="264" r:id="rId6"/>
    <p:sldId id="265" r:id="rId5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7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800">
                <a:solidFill>
                  <a:srgbClr val="2F3338"/>
                </a:solidFill>
                <a:latin typeface="Segoe UI Semibold"/>
              </a:rPr>
              <a:t>Testarea property-based folosind QuickCheck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1">
                <a:solidFill>
                  <a:srgbClr val="4B5563"/>
                </a:solidFill>
                <a:latin typeface="Segoe UI"/>
              </a:rPr>
              <a:t>Metode Formale in Ingineria Software</a:t>
            </a:r>
          </a:p>
          <a:p>
            <a:r>
              <a:rPr sz="1700" b="0">
                <a:solidFill>
                  <a:srgbClr val="4B5563"/>
                </a:solidFill>
                <a:latin typeface="Segoe UI"/>
              </a:rPr>
              <a:t>Tema 20: testarea property-based a modulelor software</a:t>
            </a:r>
          </a:p>
          <a:p>
            <a:r>
              <a:rPr sz="1700" b="0">
                <a:solidFill>
                  <a:srgbClr val="4B5563"/>
                </a:solidFill>
                <a:latin typeface="Segoe UI"/>
              </a:rPr>
              <a:t>Studiu de caz: mini-limbaj de expresii aritmetice in Haskell</a:t>
            </a:r>
          </a:p>
          <a:p>
            <a:r>
              <a:rPr sz="1700" b="0">
                <a:solidFill>
                  <a:srgbClr val="4B5563"/>
                </a:solidFill>
                <a:latin typeface="Segoe UI"/>
              </a:rPr>
              <a:t>Echipa: [nume1], [nume2]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500">
                <a:solidFill>
                  <a:srgbClr val="2F3338"/>
                </a:solidFill>
                <a:latin typeface="Segoe UI Semibold"/>
              </a:rPr>
              <a:t>Agenda prezentarii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10058400" cy="452628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F3338"/>
                </a:solidFill>
                <a:latin typeface="Segoe UI"/>
              </a:rPr>
              <a:t>- Problema: de ce testarea clasica nu este suficienta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F3338"/>
                </a:solidFill>
                <a:latin typeface="Segoe UI"/>
              </a:rPr>
              <a:t>- QuickCheck: concepte, generare, shrink, classify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F3338"/>
                </a:solidFill>
                <a:latin typeface="Segoe UI"/>
              </a:rPr>
              <a:t>- Arhitectura modulului: AST, evaluator, simplificator, parser/pretty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F3338"/>
                </a:solidFill>
                <a:latin typeface="Segoe UI"/>
              </a:rPr>
              <a:t>- Generatoare custom: genSmallInt, genExpr, genClosedExpr, genEnvFor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F3338"/>
                </a:solidFill>
                <a:latin typeface="Segoe UI"/>
              </a:rPr>
              <a:t>- Cele 16 proprietati formale si rezultatele experimentale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F3338"/>
                </a:solidFill>
                <a:latin typeface="Segoe UI"/>
              </a:rPr>
              <a:t>- Avantaje, limitari, directii viitoare si concluzii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Trecem progresiv de la idee teoretica la rezultate concrete din codul proiectului.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500">
                <a:solidFill>
                  <a:srgbClr val="2F3338"/>
                </a:solidFill>
                <a:latin typeface="Segoe UI Semibold"/>
              </a:rPr>
              <a:t>Context: de ce avem nevoie de metode formale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91640"/>
            <a:ext cx="10058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In proiecte reale, codul poate parea corect pe exemplele alese manual, dar sa esueze pe cazuri limita.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Metodele formale ne ajuta sa definim clar ce inseamna corectitudinea sistemului.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10058400" cy="256032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7180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ce proprietati trebuie sa ramana adevarate pentru orice intrare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ce invarianti semantici trebuie pastrati dupa transformari (ex: simplificare)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ce garantii vrem pentru parser, evaluator si proprietatile algebraice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cum validam sistematic corectitudinea pe o clasa mare de cazuri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50749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4B5563"/>
                </a:solidFill>
                <a:latin typeface="Segoe UI"/>
              </a:rPr>
              <a:t>In loc de "merge la mine", spunem: "pentru orice expresie valida, proprietatea X este adevarata".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Formalizarea proprietatilor reduce ambiguitatea si creste increderea in modulul testat.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500">
                <a:solidFill>
                  <a:srgbClr val="2F3338"/>
                </a:solidFill>
                <a:latin typeface="Segoe UI Semibold"/>
              </a:rPr>
              <a:t>Testare clasica vs. property-based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691640"/>
            <a:ext cx="4846320" cy="443484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09360" y="1691640"/>
            <a:ext cx="4846320" cy="443484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87451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Segoe UI"/>
              </a:rPr>
              <a:t>Testare clasica (example-based)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331720"/>
            <a:ext cx="4389120" cy="141732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0472" y="2423160"/>
            <a:ext cx="40599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Exemple punctuale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697479"/>
            <a:ext cx="40599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eval env (Add (Const 1) (Const 2)) == Just 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eval env (Mul (Const 5) (Const 0)) == Just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8404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acopera doar cazurile la care ne-am gandit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poate rata erori in combinatii neprevazute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7451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Segoe UI"/>
              </a:rPr>
              <a:t>Property-based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331720"/>
            <a:ext cx="4389120" cy="160020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2423160"/>
            <a:ext cx="40599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Proprietate generala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2697479"/>
            <a:ext cx="40599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Pentru orice expresii a, b si mediu valid env: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eval env (Add a b) == eval env (Add b 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02336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framework-ul genereaza automat multe cazuri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cauta contraexemple si le simplifica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Nu testam instante izolate; testam reguli generale ale semanticii.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500">
                <a:solidFill>
                  <a:srgbClr val="2F3338"/>
                </a:solidFill>
                <a:latin typeface="Segoe UI Semibold"/>
              </a:rPr>
              <a:t>Ce este QuickCheck (pe scurt)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91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F3338"/>
                </a:solidFill>
                <a:latin typeface="Segoe UI"/>
              </a:rPr>
              <a:t>QuickCheck este biblioteca Haskell pentru property-based testing.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331720"/>
            <a:ext cx="4846320" cy="361188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2331720"/>
            <a:ext cx="4846320" cy="361188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606040"/>
            <a:ext cx="4434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`Arbitrary` - clasa tipurilor ce pot fi generate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`Gen a` - tipul generatorilor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`frequency` - control pe distributie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`sized` - control pe marime/adancime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606040"/>
            <a:ext cx="4434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`shrink` - minimizare automata a contraexemplului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`classify` - analiza distributiei testelor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`quickCheckWith` - parametri custom (maxSuccess, maxSize)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feedback util pentru debug si calibrat generatoare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QuickCheck inseamna random testing controlat, nu random haotic.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500">
                <a:solidFill>
                  <a:srgbClr val="2F3338"/>
                </a:solidFill>
                <a:latin typeface="Segoe UI Semibold"/>
              </a:rPr>
              <a:t>Arhitectura modulului testat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10058400" cy="448056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96596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Expr.hs - AST + functii structurale: size, depth, operatorCount, freeVars, substitute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Eval.hs - evaluare sigura: eval :: Env -&gt; Expr -&gt; Maybe Int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Simplify.hs - reguli algebrice aplicate pana la punct fix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Pretty.hs - serializare text cu precedenta corecta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Parser.hs - parsare text -&gt; Expr (respecta prioritatile operatorilor)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test/Spec.hs - generatoare custom + 16 proprietati QuickCheck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5669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4B5563"/>
                </a:solidFill>
                <a:latin typeface="Segoe UI"/>
              </a:rPr>
              <a:t>Evaluarea intoarce Nothing daca o variabila lipseste din mediu.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Proiectul acopera fluxul complet: sintaxa, semantica, transformare, serializare si verificare.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500">
                <a:solidFill>
                  <a:srgbClr val="2F3338"/>
                </a:solidFill>
                <a:latin typeface="Segoe UI Semibold"/>
              </a:rPr>
              <a:t>AST si exemplu de arbore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4846320" cy="24688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1872" y="1874519"/>
            <a:ext cx="4517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Sintaxa abstracta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2148840"/>
            <a:ext cx="45171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data Expr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= Const Int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| Var String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| Add Expr Expr | Sub Expr Expr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| Mul Expr Expr | Neg Expr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4846320" cy="342900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7451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Segoe UI"/>
              </a:rPr>
              <a:t>Arbore pentru: 1 * x + -(-y)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2414016"/>
            <a:ext cx="731520" cy="38404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Consolas"/>
              </a:rPr>
              <a:t>Add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054096"/>
            <a:ext cx="731520" cy="38404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Consolas"/>
              </a:rPr>
              <a:t>Mul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3054096"/>
            <a:ext cx="731520" cy="38404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Consolas"/>
              </a:rPr>
              <a:t>Neg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67728" y="3694176"/>
            <a:ext cx="731520" cy="38404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Consola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19" y="3694176"/>
            <a:ext cx="731520" cy="38404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Consolas"/>
              </a:rPr>
              <a:t>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3694176"/>
            <a:ext cx="731520" cy="38404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Consolas"/>
              </a:rPr>
              <a:t>Neg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4334256"/>
            <a:ext cx="731520" cy="38404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Consola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772400" y="2606040"/>
            <a:ext cx="960120" cy="640080"/>
          </a:xfrm>
          <a:prstGeom prst="line">
            <a:avLst/>
          </a:prstGeom>
          <a:ln w="1524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2606040"/>
            <a:ext cx="960120" cy="640080"/>
          </a:xfrm>
          <a:prstGeom prst="line">
            <a:avLst/>
          </a:prstGeom>
          <a:ln w="1524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333488" y="3246120"/>
            <a:ext cx="438912" cy="640080"/>
          </a:xfrm>
          <a:prstGeom prst="line">
            <a:avLst/>
          </a:prstGeom>
          <a:ln w="1524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3246120"/>
            <a:ext cx="411479" cy="640080"/>
          </a:xfrm>
          <a:prstGeom prst="line">
            <a:avLst/>
          </a:prstGeom>
          <a:ln w="1524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92640" y="3246120"/>
            <a:ext cx="0" cy="640080"/>
          </a:xfrm>
          <a:prstGeom prst="line">
            <a:avLst/>
          </a:prstGeom>
          <a:ln w="1524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92640" y="3886200"/>
            <a:ext cx="0" cy="640080"/>
          </a:xfrm>
          <a:prstGeom prst="line">
            <a:avLst/>
          </a:prstGeom>
          <a:ln w="1524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7280" y="4434840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Modelarea cu tipuri algebrice face structura expresiilor explicita si usor de procesat recursiv.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Functii precum size/depth/operatorCount folosesc direct aceasta structura.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AST-ul este fundatia pentru evaluator, simplificator, parser si proprietati.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500">
                <a:solidFill>
                  <a:srgbClr val="2F3338"/>
                </a:solidFill>
                <a:latin typeface="Segoe UI Semibold"/>
              </a:rPr>
              <a:t>Evaluatorul: semantica operationala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10058400" cy="17830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1872" y="1920240"/>
            <a:ext cx="9729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Fragment din Eval.hs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2194560"/>
            <a:ext cx="97292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eval :: Env -&gt; Expr -&gt; Maybe Int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eval env (Add a b) = liftA2 (+) (eval env a) (eval env 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eval env (Var x)   = Map.lookup x env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749039"/>
            <a:ext cx="10058400" cy="205740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3977639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Maybe encodeaza explicit esecul partial (Nothing)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operatiile binare reusesc doar daca ambele subexpresii sunt evaluabile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design-ul evita exceptii runtime pentru variabile nedefinite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Semantica este transparenta inclusiv pentru cazuri incomplete.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500">
                <a:solidFill>
                  <a:srgbClr val="2F3338"/>
                </a:solidFill>
                <a:latin typeface="Segoe UI Semibold"/>
              </a:rPr>
              <a:t>Simplificatorul si regulile algebrice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91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Simplificarea aplica reguli pana la stabilizare (fixpoint).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240280"/>
            <a:ext cx="4846320" cy="356616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2240280"/>
            <a:ext cx="4846320" cy="356616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514600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x + 0 -&gt; 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x * 1 -&gt; 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x * 0 -&gt; 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x - x -&gt; 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--x -&gt; 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- 0 - e -&gt; -e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514600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Const a + Const b -&gt; Const (a+b)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Const a * Const b -&gt; Const (a*b)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Const a - Const b -&gt; Const (a-b)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regulile sunt aplicate recursiv pe subarbori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Simplificatorul este deterministic si conserva semantica expresiei.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500">
                <a:solidFill>
                  <a:srgbClr val="2F3338"/>
                </a:solidFill>
                <a:latin typeface="Segoe UI Semibold"/>
              </a:rPr>
              <a:t>Pretty + Parser: round-trip semantic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10058400" cy="443484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9659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Pretty.hs foloseste prioritati (addPrec, mulPrec, negPrec) pentru paranteze corecte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Parser.hs respecta precedenta operatorilor: exprP (+/-), termP (*), factorP (negare)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sunt suportate variabile, constante, paranteze si negare unara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3703320"/>
            <a:ext cx="9601200" cy="13258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90472" y="3794759"/>
            <a:ext cx="9272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Proprietate validata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4069080"/>
            <a:ext cx="9272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eval env (parse(pretty(expr))) == eval env expr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Forma textuala si forma interna raman consistente la nivel semantic.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500">
                <a:solidFill>
                  <a:srgbClr val="2F3338"/>
                </a:solidFill>
                <a:latin typeface="Segoe UI Semibold"/>
              </a:rPr>
              <a:t>De ce generatoare manuale (nu automate)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91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Generatoarele sunt definite manual pentru control pe distributie.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Un generator generic poate produce expresii neechilibrate sau prea adanci.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606040"/>
            <a:ext cx="10058400" cy="214884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1872" y="2697480"/>
            <a:ext cx="9729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genSmallInt (favorizeaza numere mici pentru lizibilitate)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971800"/>
            <a:ext cx="97292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frequency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[ (5, chooseInt (-4, 4))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, (1, chooseInt (-12, 12))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Ponderea 5:1 face contraexemplele mai usor de citit si evita valori extreme frecvente.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Un test bun are nevoie de date bune, nu doar de date random.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500">
                <a:solidFill>
                  <a:srgbClr val="2F3338"/>
                </a:solidFill>
                <a:latin typeface="Segoe UI Semibold"/>
              </a:rPr>
              <a:t>genExpr, genClosedExpr, genEnvFor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10058400" cy="448056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96596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genExpr foloseste sized + frequency pentru controlul recursivitatii si distributiei constructorilor.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genClosedExpr produce expresii fara variabile (utile in proprietatile de substitutie).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2880360"/>
            <a:ext cx="9601200" cy="1874519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90472" y="2971800"/>
            <a:ext cx="9272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genEnvFor (mediu complet pentru variabilele libere)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3246120"/>
            <a:ext cx="9272016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let names = Set.toList (freeVars expr)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values &lt;- vectorOf (length names) genSmallInt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pure (Map.fromList (zip names values))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8920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Controlul generatorului + medii complete reduc fals-pozitivele si cresc relevanta testelor.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Datele de test sunt alese strategic, nu la intamplare.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500">
                <a:solidFill>
                  <a:srgbClr val="2F3338"/>
                </a:solidFill>
                <a:latin typeface="Segoe UI Semibold"/>
              </a:rPr>
              <a:t>shrink: contraexemple mici, debug rapid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91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Cand o proprietate pica, QuickCheck simplifica intrarea pana la forma minima relevanta.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240280"/>
            <a:ext cx="10058400" cy="17830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1872" y="2331720"/>
            <a:ext cx="9729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Exemplu shrinkExpr pentru Add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606040"/>
            <a:ext cx="97292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shrinkExpr (Add a b) =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[a, b]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++ [Add a' b | a' &lt;- shrinkExpr a]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++ [Add a b' | b' &lt;- shrinkExpr b]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160520"/>
            <a:ext cx="4846320" cy="1600200"/>
          </a:xfrm>
          <a:prstGeom prst="roundRect">
            <a:avLst/>
          </a:prstGeom>
          <a:solidFill>
            <a:srgbClr val="FFF1F2"/>
          </a:solidFill>
          <a:ln w="14604">
            <a:solidFill>
              <a:srgbClr val="FB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4343400"/>
            <a:ext cx="4434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A3412"/>
                </a:solidFill>
                <a:latin typeface="Segoe UI"/>
              </a:rPr>
              <a:t>Fara shrink: expresie mare, greu de analizat.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160520"/>
            <a:ext cx="4846320" cy="160020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4251959"/>
            <a:ext cx="4517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Cu shrink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4526280"/>
            <a:ext cx="45171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Add (Var "x") (Const 0)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contraexemplu minim, usor de localizat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shrink transforma "test failed" intr-un indiciu concret de reparat.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500">
                <a:solidFill>
                  <a:srgbClr val="2F3338"/>
                </a:solidFill>
                <a:latin typeface="Segoe UI Semibold"/>
              </a:rPr>
              <a:t>Cele 16 proprietati (grupare completa)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4846320" cy="448056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09360" y="1783080"/>
            <a:ext cx="4846320" cy="448056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965960"/>
            <a:ext cx="4434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Corectitudine semantica: simplify / pretty-parse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Structurale: idempotenta, nu creste size/depth/operatorCount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Algebrice: comutativitate + asociativitate pentru + si 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965960"/>
            <a:ext cx="4434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Elemente speciale: e+0=e, e*1=e, e*0=0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Negatie/scadere: e-e=0, --e=e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Substitutie: expresie inchisa pastreaza semantica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53035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4B5563"/>
                </a:solidFill>
                <a:latin typeface="Segoe UI"/>
              </a:rPr>
              <a:t>In total, proprietatile descriu comportamentul global, nu detalii de implementare.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Proprietatile sunt specificatii executabile ale modulului.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500">
                <a:solidFill>
                  <a:srgbClr val="2F3338"/>
                </a:solidFill>
                <a:latin typeface="Segoe UI Semibold"/>
              </a:rPr>
              <a:t>Rezultate experimentale si classify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10058400" cy="310896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1872" y="1874519"/>
            <a:ext cx="9729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Setari + output reprezentativ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2148840"/>
            <a:ext cx="97292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quickCheckWith stdArgs {maxSuccess = 120, maxSize = 12}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+++ OK, passed 120 tests: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62.5% cu variabile | 37.5% fara variabile | 30.0% expresie mare (&gt;8 noduri)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+++ OK, passed 120 tests: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57.5% expresii mari | 17.5% expresii mici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029200"/>
            <a:ext cx="10058400" cy="109728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5212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classify confirma ca nu testam doar cazuri triviale; distributia este monitorizata explicit.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Calitatea testelor este masurata si prin distributia cazurilor generate.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500">
                <a:solidFill>
                  <a:srgbClr val="2F3338"/>
                </a:solidFill>
                <a:latin typeface="Segoe UI Semibold"/>
              </a:rPr>
              <a:t>Avantaje si limitari ale abordarii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4846320" cy="4526280"/>
          </a:xfrm>
          <a:prstGeom prst="roundRect">
            <a:avLst/>
          </a:prstGeom>
          <a:solidFill>
            <a:srgbClr val="ECFDF3"/>
          </a:solidFill>
          <a:ln w="14604">
            <a:solidFill>
              <a:srgbClr val="9AE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09360" y="1783080"/>
            <a:ext cx="4846320" cy="4526280"/>
          </a:xfrm>
          <a:prstGeom prst="roundRect">
            <a:avLst/>
          </a:prstGeom>
          <a:solidFill>
            <a:srgbClr val="FFF7ED"/>
          </a:solidFill>
          <a:ln w="14604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9659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66534"/>
                </a:solidFill>
                <a:latin typeface="Segoe UI"/>
              </a:rPr>
              <a:t>Avantaje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423160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acoperire mai buna decat testarea manuala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descoperire rapida de cazuri limita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contraexemple minimale pentru debug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proprietatile devin documentatie executabila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9659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3412"/>
                </a:solidFill>
                <a:latin typeface="Segoe UI"/>
              </a:rPr>
              <a:t>Limitari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423160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o proprietate gresit formulata poate trece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calitatea depinde de generator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nu inlocuieste demonstratia matematica formala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Eficienta depinde de calitatea specificatiilor si a generatorilor.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500">
                <a:solidFill>
                  <a:srgbClr val="2F3338"/>
                </a:solidFill>
                <a:latin typeface="Segoe UI Semibold"/>
              </a:rPr>
              <a:t>Detalii suplimentare din proiect (implementare/rulare)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4846320" cy="452628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09360" y="1783080"/>
            <a:ext cx="4846320" cy="452628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9659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Segoe UI"/>
              </a:rPr>
              <a:t>Flux de rulare recomandat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423160"/>
            <a:ext cx="4389120" cy="233172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0472" y="2514600"/>
            <a:ext cx="40599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Comenzi utile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788920"/>
            <a:ext cx="4059935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cabal build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cabal run mfis-quickcheck-expr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cabal test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cabal test spec --test-show-details=direct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659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Segoe UI"/>
              </a:rPr>
              <a:t>Detalii tehnice extra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maxSuccess=120 si maxSize=12 pentru comparabilitate intre proprietati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variablePool fix pentru generarea variabilelor: x,y,z,u,v,w,a,b,c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withEnv/genEnvFor elimina majoritatea evaluarilor partiale in testele semantice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substitute este verificat cu inlocuire closed-expression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Pipeline-ul de testare este reproductibil si usor de rulat in echipa.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500">
                <a:solidFill>
                  <a:srgbClr val="2F3338"/>
                </a:solidFill>
                <a:latin typeface="Segoe UI Semibold"/>
              </a:rPr>
              <a:t>Concluzii si directii viitoare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10058400" cy="452628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965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Segoe UI"/>
              </a:rPr>
              <a:t>Concluzii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423160"/>
            <a:ext cx="9601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abordarea property-based este foarte potrivita pentru mini-limbaje formale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Haskell + QuickCheck ofera ecosistem natural pentru modelare si verificare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diferenta fata de testarea clasica: de la exemple la invarianti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251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Segoe UI"/>
              </a:rPr>
              <a:t>Directii viitoare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47091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extinderea limbajului (impartire, comparatii, booleene)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teste de performanta pentru simplificator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integrare CI cu rulare automata a proprietatilor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Nu demonstram doar ca "merge"; demonstram ca respecta proprietati generale pe clase largi de intrari.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{2434C647-D8ED-4307-8D52-7F48AD6760D5}TFf0a5ceae-4542-492d-822e-d65a94fb0e1e3b562c5a_win32-009a0557e699</Template>
  <TotalTime>10</TotalTime>
  <Words>827</Words>
  <Application>Microsoft Office PowerPoint</Application>
  <PresentationFormat>Widescreen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Bookman Old Style</vt:lpstr>
      <vt:lpstr>Calibri</vt:lpstr>
      <vt:lpstr>Consolas</vt:lpstr>
      <vt:lpstr>Franklin Gothic Book</vt:lpstr>
      <vt:lpstr>Custom</vt:lpstr>
      <vt:lpstr>Testarea property-based folosind QuickCheck</vt:lpstr>
      <vt:lpstr>Testare clasica vs. property-based testing</vt:lpstr>
      <vt:lpstr>Ce este QuickCheck</vt:lpstr>
      <vt:lpstr>Modulul testat: AST si evaluator</vt:lpstr>
      <vt:lpstr>Generatoarele proprii (de ce conteaza)</vt:lpstr>
      <vt:lpstr>shrinkExpr: contraexemple minimale</vt:lpstr>
      <vt:lpstr>Cele 16 proprietati (grupate)</vt:lpstr>
      <vt:lpstr>Output real cu classify</vt:lpstr>
      <vt:lpstr>Analiza: eficienta metodei</vt:lpstr>
      <vt:lpstr>Concluzii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Nite Alexandru</dc:creator>
  <cp:lastModifiedBy>Nite Alexandru</cp:lastModifiedBy>
  <cp:revision>3</cp:revision>
  <dcterms:created xsi:type="dcterms:W3CDTF">2026-04-21T13:52:19Z</dcterms:created>
  <dcterms:modified xsi:type="dcterms:W3CDTF">2026-04-21T14:09:34Z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