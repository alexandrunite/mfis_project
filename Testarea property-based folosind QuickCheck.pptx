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6" r:id="rId5"/>
    <p:sldId id="266" r:id="rId6"/>
    <p:sldId id="267" r:id="rId7"/>
    <p:sldId id="257" r:id="rId8"/>
    <p:sldId id="258" r:id="rId9"/>
    <p:sldId id="268" r:id="rId10"/>
    <p:sldId id="259" r:id="rId11"/>
    <p:sldId id="269" r:id="rId12"/>
    <p:sldId id="270" r:id="rId13"/>
    <p:sldId id="271" r:id="rId14"/>
    <p:sldId id="260" r:id="rId15"/>
    <p:sldId id="272" r:id="rId16"/>
    <p:sldId id="261" r:id="rId17"/>
    <p:sldId id="262" r:id="rId18"/>
    <p:sldId id="263" r:id="rId19"/>
    <p:sldId id="264" r:id="rId20"/>
    <p:sldId id="273" r:id="rId21"/>
    <p:sldId id="26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>
        <p:scale>
          <a:sx n="75" d="100"/>
          <a:sy n="75" d="100"/>
        </p:scale>
        <p:origin x="312" y="19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6800" y="752936"/>
            <a:ext cx="10058400" cy="2423401"/>
          </a:xfrm>
        </p:spPr>
        <p:txBody>
          <a:bodyPr/>
          <a:lstStyle/>
          <a:p>
            <a:pPr algn="ctr"/>
            <a:r>
              <a:rPr sz="4400" dirty="0" err="1"/>
              <a:t>Testarea</a:t>
            </a:r>
            <a:r>
              <a:rPr sz="4400" dirty="0"/>
              <a:t> property-based </a:t>
            </a:r>
            <a:r>
              <a:rPr sz="4400" dirty="0" err="1"/>
              <a:t>folosind</a:t>
            </a:r>
            <a:r>
              <a:rPr sz="4400" dirty="0"/>
              <a:t> </a:t>
            </a:r>
            <a:r>
              <a:rPr sz="4400" dirty="0" err="1"/>
              <a:t>QuickCheck</a:t>
            </a:r>
            <a:endParaRPr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6800" y="3946518"/>
            <a:ext cx="10058400" cy="1143000"/>
          </a:xfrm>
        </p:spPr>
        <p:txBody>
          <a:bodyPr>
            <a:normAutofit fontScale="40000" lnSpcReduction="20000"/>
          </a:bodyPr>
          <a:lstStyle/>
          <a:p>
            <a:pPr algn="ctr"/>
            <a:r>
              <a:rPr sz="2000" b="1" dirty="0"/>
              <a:t>Metode </a:t>
            </a:r>
            <a:r>
              <a:rPr sz="2000" b="1" dirty="0" err="1"/>
              <a:t>Formale</a:t>
            </a:r>
            <a:r>
              <a:rPr sz="2000" b="1" dirty="0"/>
              <a:t> in </a:t>
            </a:r>
            <a:r>
              <a:rPr sz="2000" b="1" dirty="0" err="1"/>
              <a:t>Ingineria</a:t>
            </a:r>
            <a:r>
              <a:rPr sz="2000" b="1" dirty="0"/>
              <a:t> Software</a:t>
            </a:r>
          </a:p>
          <a:p>
            <a:pPr algn="ctr"/>
            <a:r>
              <a:rPr sz="2000" b="1" dirty="0"/>
              <a:t>Tema 20: </a:t>
            </a:r>
            <a:r>
              <a:rPr sz="2000" b="1" dirty="0" err="1"/>
              <a:t>testarea</a:t>
            </a:r>
            <a:r>
              <a:rPr sz="2000" b="1" dirty="0"/>
              <a:t> property-based a </a:t>
            </a:r>
            <a:r>
              <a:rPr sz="2000" b="1" dirty="0" err="1"/>
              <a:t>modulelor</a:t>
            </a:r>
            <a:r>
              <a:rPr sz="2000" b="1" dirty="0"/>
              <a:t> software</a:t>
            </a:r>
          </a:p>
          <a:p>
            <a:pPr algn="ctr"/>
            <a:r>
              <a:rPr sz="2000" b="1" dirty="0"/>
              <a:t>Mini-</a:t>
            </a:r>
            <a:r>
              <a:rPr sz="2000" b="1" dirty="0" err="1"/>
              <a:t>limbaj</a:t>
            </a:r>
            <a:r>
              <a:rPr sz="2000" b="1" dirty="0"/>
              <a:t> de </a:t>
            </a:r>
            <a:r>
              <a:rPr sz="2000" b="1" dirty="0" err="1"/>
              <a:t>expresii</a:t>
            </a:r>
            <a:r>
              <a:rPr sz="2000" b="1" dirty="0"/>
              <a:t> </a:t>
            </a:r>
            <a:r>
              <a:rPr sz="2000" b="1" dirty="0" err="1"/>
              <a:t>aritmetice</a:t>
            </a:r>
            <a:r>
              <a:rPr sz="2000" b="1" dirty="0"/>
              <a:t> in Haskell</a:t>
            </a:r>
          </a:p>
          <a:p>
            <a:pPr algn="ctr"/>
            <a:r>
              <a:rPr sz="2000" b="1" dirty="0" err="1"/>
              <a:t>Echipa</a:t>
            </a:r>
            <a:r>
              <a:rPr sz="2000" b="1" dirty="0"/>
              <a:t>: </a:t>
            </a:r>
            <a:r>
              <a:rPr lang="en-US" sz="2000" b="1" dirty="0"/>
              <a:t>MIHAILA DENISA </a:t>
            </a:r>
            <a:r>
              <a:rPr sz="2000" b="1" dirty="0"/>
              <a:t>, </a:t>
            </a:r>
            <a:r>
              <a:rPr lang="en-US" sz="2000" b="1" dirty="0"/>
              <a:t>NITE DAN-ALEXANDRU</a:t>
            </a:r>
            <a:endParaRPr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859C77-2DD1-ABE7-3CC6-23F1E6F1F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26" y="3884517"/>
            <a:ext cx="3134794" cy="23013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170917-4A1C-6282-B268-A4DDE8319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980" y="3768197"/>
            <a:ext cx="3134794" cy="2301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500" dirty="0" err="1">
                <a:solidFill>
                  <a:srgbClr val="2F3338"/>
                </a:solidFill>
              </a:rPr>
              <a:t>Cuprinsul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prezentarii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08200"/>
            <a:ext cx="10058400" cy="39243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548037"/>
            <a:ext cx="9601200" cy="1790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Problema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: de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testarea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clasica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nu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suficienta</a:t>
            </a:r>
            <a:endParaRPr sz="17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concepte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generare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shrink, classify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Arhitectura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modulului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: AST, evaluator,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simplificator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parser/pretty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custom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genSmallInt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genEnvFor</a:t>
            </a:r>
            <a:endParaRPr sz="17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 dirty="0">
                <a:solidFill>
                  <a:srgbClr val="2F3338"/>
                </a:solidFill>
                <a:latin typeface="Segoe UI"/>
              </a:rPr>
              <a:t>- Cele 16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formale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rezultatele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experimentale</a:t>
            </a:r>
            <a:endParaRPr sz="17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Avantaje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limitari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directii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viitoare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7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2F3338"/>
                </a:solidFill>
                <a:latin typeface="Segoe UI"/>
              </a:rPr>
              <a:t>concluzii</a:t>
            </a:r>
            <a:endParaRPr sz="17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>
                <a:solidFill>
                  <a:srgbClr val="2F3338"/>
                </a:solidFill>
                <a:latin typeface="Bookman Old Style (Headings)"/>
              </a:rPr>
              <a:t>Context: de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ce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avem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nevoie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de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metode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formale</a:t>
            </a:r>
            <a:endParaRPr sz="3500" dirty="0">
              <a:solidFill>
                <a:srgbClr val="2F3338"/>
              </a:solidFill>
              <a:latin typeface="Bookman Old Style (Headings)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01520"/>
            <a:ext cx="10058400" cy="85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In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proiecte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reale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,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codul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poate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parea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corect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pe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exemplele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alese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manual,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dar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sa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esueze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pe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cazuri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limita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Metodele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formale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ne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ajuta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sa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definim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clar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inseamna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corectitudinea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sistemului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46400"/>
            <a:ext cx="10058400" cy="25603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49680" y="3429000"/>
            <a:ext cx="1042162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proprietati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trebuie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ramana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adevarate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orice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intrare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invarianti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semantici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trebuie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pastrati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dupa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transformari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(ex: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simplificare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garantii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vrem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parser, evaluator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proprietatile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algebraice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cum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validam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sistematic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corectitudinea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pe o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clasa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mare de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cazuri</a:t>
            </a:r>
            <a:endParaRPr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6454985" y="2784787"/>
            <a:ext cx="4480607" cy="1719072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>
                <a:solidFill>
                  <a:schemeClr val="tx1"/>
                </a:solidFill>
              </a:rPr>
              <a:t>Testare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>
                <a:solidFill>
                  <a:schemeClr val="tx1"/>
                </a:solidFill>
              </a:rPr>
              <a:t>clasica</a:t>
            </a:r>
            <a:r>
              <a:rPr sz="3400" dirty="0">
                <a:solidFill>
                  <a:schemeClr val="tx1"/>
                </a:solidFill>
              </a:rPr>
              <a:t> vs. property-based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1F4E79"/>
                </a:solidFill>
                <a:latin typeface="Segoe UI"/>
              </a:rPr>
              <a:t>Testare</a:t>
            </a:r>
            <a:r>
              <a:rPr lang="en-US" sz="2400" b="1" dirty="0">
                <a:solidFill>
                  <a:srgbClr val="1F4E79"/>
                </a:solidFill>
                <a:latin typeface="Segoe UI"/>
              </a:rPr>
              <a:t> </a:t>
            </a:r>
            <a:r>
              <a:rPr lang="en-US" sz="2400" b="1" dirty="0" err="1">
                <a:solidFill>
                  <a:srgbClr val="1F4E79"/>
                </a:solidFill>
                <a:latin typeface="Segoe UI"/>
              </a:rPr>
              <a:t>clasica</a:t>
            </a:r>
            <a:endParaRPr lang="en-US" sz="2400" b="1" dirty="0">
              <a:solidFill>
                <a:srgbClr val="1F4E79"/>
              </a:solidFill>
              <a:latin typeface="Segoe UI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1F4E79"/>
                </a:solidFill>
                <a:latin typeface="Segoe UI"/>
              </a:rPr>
              <a:t>Property-based testing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Proprietate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generala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</a:t>
            </a:r>
            <a:br>
              <a:rPr lang="en-US" sz="1400" dirty="0">
                <a:solidFill>
                  <a:srgbClr val="D4D4D4"/>
                </a:solidFill>
                <a:latin typeface="Consolas"/>
              </a:rPr>
            </a:br>
            <a:r>
              <a:rPr lang="en-US" sz="1400" dirty="0">
                <a:solidFill>
                  <a:srgbClr val="569CD6"/>
                </a:solidFill>
                <a:latin typeface="Consolas"/>
              </a:rPr>
              <a:t>for all a, b: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eval env (Add a b) == eval env (Add b a)</a:t>
            </a:r>
          </a:p>
          <a:p>
            <a:endParaRPr sz="1600" dirty="0">
              <a:latin typeface="Consolas"/>
            </a:endParaRPr>
          </a:p>
          <a:p>
            <a:br>
              <a:rPr lang="en-US" sz="1600" dirty="0">
                <a:latin typeface="Consolas"/>
              </a:rPr>
            </a:br>
            <a:br>
              <a:rPr lang="en-US" sz="1600" dirty="0">
                <a:latin typeface="Consolas"/>
              </a:rPr>
            </a:br>
            <a:r>
              <a:rPr sz="1600" dirty="0" err="1">
                <a:latin typeface="Consolas"/>
              </a:rPr>
              <a:t>QuickCheck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genereaza</a:t>
            </a:r>
            <a:r>
              <a:rPr sz="1600" dirty="0">
                <a:latin typeface="Consolas"/>
              </a:rPr>
              <a:t> automat </a:t>
            </a:r>
            <a:r>
              <a:rPr sz="1600" dirty="0" err="1">
                <a:latin typeface="Consolas"/>
              </a:rPr>
              <a:t>sute</a:t>
            </a:r>
            <a:r>
              <a:rPr sz="1600" dirty="0">
                <a:latin typeface="Consolas"/>
              </a:rPr>
              <a:t> de </a:t>
            </a:r>
            <a:r>
              <a:rPr sz="1600" dirty="0" err="1">
                <a:latin typeface="Consolas"/>
              </a:rPr>
              <a:t>cazuri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si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cauta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contraexemple</a:t>
            </a:r>
            <a:r>
              <a:rPr sz="1600" dirty="0">
                <a:latin typeface="Consolas"/>
              </a:rPr>
              <a:t>.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975361" y="2793682"/>
            <a:ext cx="4700696" cy="1768106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Exemple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punctuale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(Add (Const 1) (Const 2)) == Just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(Mul (Const 5) (Const 0)) == Just 0</a:t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endParaRPr sz="1600" dirty="0">
              <a:latin typeface="Consolas"/>
            </a:endParaRPr>
          </a:p>
          <a:p>
            <a:r>
              <a:rPr sz="1600" dirty="0" err="1">
                <a:latin typeface="Consolas"/>
              </a:rPr>
              <a:t>Problema</a:t>
            </a:r>
            <a:r>
              <a:rPr sz="1600" dirty="0">
                <a:latin typeface="Consolas"/>
              </a:rPr>
              <a:t>: </a:t>
            </a:r>
            <a:r>
              <a:rPr sz="1600" dirty="0" err="1">
                <a:latin typeface="Consolas"/>
              </a:rPr>
              <a:t>acopera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doar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cazurile</a:t>
            </a:r>
            <a:r>
              <a:rPr sz="1600" dirty="0">
                <a:latin typeface="Consolas"/>
              </a:rPr>
              <a:t> la care </a:t>
            </a:r>
            <a:r>
              <a:rPr sz="1600" dirty="0" err="1">
                <a:latin typeface="Consolas"/>
              </a:rPr>
              <a:t>te</a:t>
            </a:r>
            <a:r>
              <a:rPr sz="1600" dirty="0">
                <a:latin typeface="Consolas"/>
              </a:rPr>
              <a:t>-ai </a:t>
            </a:r>
            <a:r>
              <a:rPr sz="1600" dirty="0" err="1">
                <a:latin typeface="Consolas"/>
              </a:rPr>
              <a:t>gandit</a:t>
            </a:r>
            <a:r>
              <a:rPr sz="160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>
                <a:solidFill>
                  <a:schemeClr val="tx1"/>
                </a:solidFill>
              </a:rPr>
              <a:t>Ce </a:t>
            </a:r>
            <a:r>
              <a:rPr sz="3400" dirty="0" err="1">
                <a:solidFill>
                  <a:schemeClr val="tx1"/>
                </a:solidFill>
              </a:rPr>
              <a:t>este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>
                <a:solidFill>
                  <a:schemeClr val="tx1"/>
                </a:solidFill>
              </a:rPr>
              <a:t>QuickCheck</a:t>
            </a:r>
            <a:endParaRPr sz="3400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biblioteca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Haskell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property-based testing</a:t>
            </a:r>
            <a:br>
              <a:rPr lang="en-US" sz="2400" dirty="0">
                <a:solidFill>
                  <a:srgbClr val="2F3338"/>
                </a:solidFill>
                <a:latin typeface="Segoe UI"/>
              </a:rPr>
            </a:br>
            <a:br>
              <a:rPr lang="en-US" sz="2400" b="1" dirty="0">
                <a:solidFill>
                  <a:srgbClr val="4B5563"/>
                </a:solidFill>
                <a:latin typeface="Segoe UI"/>
              </a:rPr>
            </a:b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Elementele-cheie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 de care ne </a:t>
            </a: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folosim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 in </a:t>
            </a: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proiect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br>
              <a:rPr lang="en-US" sz="2400" dirty="0">
                <a:solidFill>
                  <a:srgbClr val="2F3338"/>
                </a:solidFill>
                <a:latin typeface="Segoe UI"/>
              </a:rPr>
            </a:b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Arbitrary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clasa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pot fi generate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aleatoriu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Gen 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tipul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unui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generator de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valori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frequency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alege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intre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ponderi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explicite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sized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controleaza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marimea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shrink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reduce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contraexemplul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la forma minima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classify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arata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distributia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cazurilor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 err="1">
                <a:solidFill>
                  <a:srgbClr val="1F4E79"/>
                </a:solidFill>
                <a:latin typeface="Consolas"/>
              </a:rPr>
              <a:t>quickCheckWith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ruleaza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parametri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custom (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,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Arhitectura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modulului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testat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057400"/>
            <a:ext cx="9997440" cy="280670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194560"/>
            <a:ext cx="96012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AST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functii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structurale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: size, depth,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operatorCount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freeVars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, substitute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evaluare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sigura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: 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Simplify.hs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reguli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algebrice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pana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punct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fix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Pretty.hs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serializare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text cu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precedenta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corecta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Parser.hs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parsare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text -&gt; Expr (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respecta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prioritatile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operatorilor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test/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Spec.hs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custom + 16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QuickCheck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44348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1" dirty="0" err="1">
                <a:solidFill>
                  <a:srgbClr val="4B5563"/>
                </a:solidFill>
                <a:latin typeface="Segoe UI"/>
              </a:rPr>
              <a:t>Evaluarea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intoarce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Nothing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daca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o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variabila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lipseste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din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mediu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Modulul</a:t>
            </a:r>
            <a:r>
              <a:rPr sz="3400" dirty="0"/>
              <a:t> </a:t>
            </a:r>
            <a:r>
              <a:rPr sz="3400" dirty="0" err="1"/>
              <a:t>testat</a:t>
            </a:r>
            <a:r>
              <a:rPr sz="3400" dirty="0"/>
              <a:t>: AST </a:t>
            </a:r>
            <a:r>
              <a:rPr sz="3400" dirty="0" err="1"/>
              <a:t>si</a:t>
            </a:r>
            <a:r>
              <a:rPr sz="3400" dirty="0"/>
              <a:t> evaluator</a:t>
            </a:r>
          </a:p>
        </p:txBody>
      </p:sp>
      <p:sp>
        <p:nvSpPr>
          <p:cNvPr id="9" name="Rounded Rectangle 2"/>
          <p:cNvSpPr/>
          <p:nvPr/>
        </p:nvSpPr>
        <p:spPr>
          <a:xfrm>
            <a:off x="1153160" y="1986280"/>
            <a:ext cx="4808728" cy="1971943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17752" y="2096007"/>
            <a:ext cx="44789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EC9B0"/>
                </a:solidFill>
                <a:latin typeface="Consolas"/>
              </a:rPr>
              <a:t>AST (Expr)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69CD6"/>
                </a:solidFill>
                <a:latin typeface="Consolas"/>
              </a:rPr>
              <a:t>data Expr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= Const Int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| Var String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| Add Expr Expr | Sub Expr Expr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| Mul Expr Expr | Neg Expr</a:t>
            </a:r>
          </a:p>
        </p:txBody>
      </p:sp>
      <p:sp>
        <p:nvSpPr>
          <p:cNvPr id="11" name="Rounded Rectangle 4"/>
          <p:cNvSpPr/>
          <p:nvPr/>
        </p:nvSpPr>
        <p:spPr>
          <a:xfrm>
            <a:off x="1153160" y="4018787"/>
            <a:ext cx="4808728" cy="1629705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17752" y="4128516"/>
            <a:ext cx="44789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Evaluator (fragment)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9CDCFE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x env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6A9955"/>
                </a:solidFill>
                <a:latin typeface="Consolas"/>
              </a:rPr>
              <a:t>-- Nothing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daca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o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variabila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lipseste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din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mediu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13" name="Rounded Rectangle 6"/>
          <p:cNvSpPr/>
          <p:nvPr/>
        </p:nvSpPr>
        <p:spPr>
          <a:xfrm>
            <a:off x="6346952" y="1986280"/>
            <a:ext cx="4808728" cy="365760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2399" y="2105152"/>
            <a:ext cx="44881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4E79"/>
                </a:solidFill>
                <a:latin typeface="Segoe UI"/>
              </a:rPr>
              <a:t>Arbore pentru: 1 * x + -(-y)</a:t>
            </a:r>
          </a:p>
        </p:txBody>
      </p:sp>
      <p:sp>
        <p:nvSpPr>
          <p:cNvPr id="18" name="Rounded Rectangle 11"/>
          <p:cNvSpPr/>
          <p:nvPr/>
        </p:nvSpPr>
        <p:spPr>
          <a:xfrm>
            <a:off x="703275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1</a:t>
            </a:r>
          </a:p>
        </p:txBody>
      </p:sp>
      <p:sp>
        <p:nvSpPr>
          <p:cNvPr id="19" name="Rounded Rectangle 12"/>
          <p:cNvSpPr/>
          <p:nvPr/>
        </p:nvSpPr>
        <p:spPr>
          <a:xfrm>
            <a:off x="7874000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x</a:t>
            </a:r>
          </a:p>
        </p:txBody>
      </p:sp>
      <p:cxnSp>
        <p:nvCxnSpPr>
          <p:cNvPr id="22" name="Connector 15"/>
          <p:cNvCxnSpPr>
            <a:cxnSpLocks/>
            <a:endCxn id="16" idx="0"/>
          </p:cNvCxnSpPr>
          <p:nvPr/>
        </p:nvCxnSpPr>
        <p:spPr>
          <a:xfrm flipH="1">
            <a:off x="7810596" y="2900680"/>
            <a:ext cx="977804" cy="48463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6"/>
          <p:cNvCxnSpPr>
            <a:cxnSpLocks/>
          </p:cNvCxnSpPr>
          <p:nvPr/>
        </p:nvCxnSpPr>
        <p:spPr>
          <a:xfrm>
            <a:off x="8788400" y="2900680"/>
            <a:ext cx="907690" cy="59484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17"/>
          <p:cNvCxnSpPr>
            <a:cxnSpLocks/>
            <a:endCxn id="18" idx="0"/>
          </p:cNvCxnSpPr>
          <p:nvPr/>
        </p:nvCxnSpPr>
        <p:spPr>
          <a:xfrm flipH="1">
            <a:off x="7389972" y="3568192"/>
            <a:ext cx="420020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8"/>
          <p:cNvCxnSpPr>
            <a:cxnSpLocks/>
            <a:endCxn id="19" idx="0"/>
          </p:cNvCxnSpPr>
          <p:nvPr/>
        </p:nvCxnSpPr>
        <p:spPr>
          <a:xfrm>
            <a:off x="7809992" y="3568192"/>
            <a:ext cx="421228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9"/>
          <p:cNvCxnSpPr>
            <a:cxnSpLocks/>
          </p:cNvCxnSpPr>
          <p:nvPr/>
        </p:nvCxnSpPr>
        <p:spPr>
          <a:xfrm>
            <a:off x="9766808" y="3568192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0"/>
          <p:cNvCxnSpPr>
            <a:cxnSpLocks/>
          </p:cNvCxnSpPr>
          <p:nvPr/>
        </p:nvCxnSpPr>
        <p:spPr>
          <a:xfrm>
            <a:off x="9766808" y="4226560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44327" y="5311227"/>
            <a:ext cx="44881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4B5563"/>
                </a:solidFill>
                <a:latin typeface="Segoe UI"/>
              </a:rPr>
              <a:t>Radacina</a:t>
            </a:r>
            <a:r>
              <a:rPr sz="1200" b="1" i="0" dirty="0">
                <a:solidFill>
                  <a:srgbClr val="4B5563"/>
                </a:solidFill>
                <a:latin typeface="Segoe UI"/>
              </a:rPr>
              <a:t>: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Add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 |  </a:t>
            </a:r>
            <a:r>
              <a:rPr sz="1200" b="0" i="0" dirty="0" err="1">
                <a:solidFill>
                  <a:srgbClr val="4B5563"/>
                </a:solidFill>
                <a:latin typeface="Segoe UI"/>
              </a:rPr>
              <a:t>Subarbori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: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Mul(1,x)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4B5563"/>
                </a:solidFill>
                <a:latin typeface="Segoe UI"/>
              </a:rPr>
              <a:t>si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Neg(Neg(y))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8431784" y="271780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Add</a:t>
            </a:r>
          </a:p>
        </p:txBody>
      </p:sp>
      <p:sp>
        <p:nvSpPr>
          <p:cNvPr id="17" name="Rounded Rectangle 10"/>
          <p:cNvSpPr/>
          <p:nvPr/>
        </p:nvSpPr>
        <p:spPr>
          <a:xfrm>
            <a:off x="9410192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0" name="Rounded Rectangle 13"/>
          <p:cNvSpPr/>
          <p:nvPr/>
        </p:nvSpPr>
        <p:spPr>
          <a:xfrm>
            <a:off x="941019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1" name="Rounded Rectangle 14"/>
          <p:cNvSpPr/>
          <p:nvPr/>
        </p:nvSpPr>
        <p:spPr>
          <a:xfrm>
            <a:off x="9410192" y="4702048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y</a:t>
            </a:r>
          </a:p>
        </p:txBody>
      </p:sp>
      <p:sp>
        <p:nvSpPr>
          <p:cNvPr id="16" name="Rounded Rectangle 9"/>
          <p:cNvSpPr/>
          <p:nvPr/>
        </p:nvSpPr>
        <p:spPr>
          <a:xfrm>
            <a:off x="7453376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Mul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3160" y="5762752"/>
            <a:ext cx="10058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 err="1">
                <a:solidFill>
                  <a:srgbClr val="2F3338"/>
                </a:solidFill>
                <a:latin typeface="Segoe UI"/>
              </a:rPr>
              <a:t>Modelarea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algebrice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face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structura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explicita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usor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procesat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 err="1">
                <a:solidFill>
                  <a:srgbClr val="2F3338"/>
                </a:solidFill>
                <a:latin typeface="Segoe UI"/>
              </a:rPr>
              <a:t>Functii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precum size/depth/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operatorCount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folosesc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direct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aceasta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structura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Evaluatorul</a:t>
            </a:r>
            <a:r>
              <a:rPr sz="3500" dirty="0">
                <a:solidFill>
                  <a:srgbClr val="2F3338"/>
                </a:solidFill>
              </a:rPr>
              <a:t>: </a:t>
            </a:r>
            <a:r>
              <a:rPr sz="3500" dirty="0" err="1">
                <a:solidFill>
                  <a:srgbClr val="2F3338"/>
                </a:solidFill>
              </a:rPr>
              <a:t>semantica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operationala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59000"/>
            <a:ext cx="10058400" cy="17830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261872" y="2250440"/>
            <a:ext cx="97292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Fragment din Eval.hs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524760"/>
            <a:ext cx="9729216" cy="789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x env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079239"/>
            <a:ext cx="10058400" cy="20574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325880" y="4307839"/>
            <a:ext cx="9601200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Maybe encodeaza explicit esecul partial (Nothing)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operatiile binare reusesc doar daca ambele subexpresii sunt evaluabile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design-ul evita exceptii runtime pentru variabile nedefinite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Simplificatorul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si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regulile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algebrice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2798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Simplificarea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aplica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reguli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pana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stabilizare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(fixpoint).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1" y="2514600"/>
            <a:ext cx="4846320" cy="35661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2514600"/>
            <a:ext cx="4846320" cy="35661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25881" y="34290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+ 0 -&gt;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1 -&gt;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0 -&gt;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- x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--x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- 0 - e -&gt; -e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3670717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+ Const b -&gt; Const (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a+b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* Const b -&gt; Const (a*b)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- Const b -&gt; Const (a-b)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regulile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sunt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pe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subarbori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>
                <a:solidFill>
                  <a:srgbClr val="2F3338"/>
                </a:solidFill>
              </a:rPr>
              <a:t>Pretty + Parser: round-trip semantic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024380"/>
            <a:ext cx="10058400" cy="4185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1325880" y="2207260"/>
            <a:ext cx="9601200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Pretty.hs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foloseste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prioritati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addPrec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mulPrec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corecte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Parser.hs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respecta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precedenta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operatorilor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exprP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(+/-),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termP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(*),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factorP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sunt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suportate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constante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unara</a:t>
            </a:r>
            <a:endParaRPr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325880" y="3944620"/>
            <a:ext cx="9601200" cy="1325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490472" y="4036059"/>
            <a:ext cx="9272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9CDCFE"/>
                </a:solidFill>
                <a:latin typeface="Consolas"/>
              </a:rPr>
              <a:t>Proprietate validata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310380"/>
            <a:ext cx="9272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eval env (parse(pretty(expr))) == eval env expr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dirty="0" err="1">
                <a:solidFill>
                  <a:schemeClr val="tx1"/>
                </a:solidFill>
              </a:rPr>
              <a:t>Generatoarele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>
                <a:solidFill>
                  <a:schemeClr val="tx1"/>
                </a:solidFill>
              </a:rPr>
              <a:t>proprii</a:t>
            </a:r>
            <a:r>
              <a:rPr sz="3200" dirty="0">
                <a:solidFill>
                  <a:schemeClr val="tx1"/>
                </a:solidFill>
              </a:rPr>
              <a:t> (de </a:t>
            </a:r>
            <a:r>
              <a:rPr sz="3200" dirty="0" err="1">
                <a:solidFill>
                  <a:schemeClr val="tx1"/>
                </a:solidFill>
              </a:rPr>
              <a:t>ce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>
                <a:solidFill>
                  <a:schemeClr val="tx1"/>
                </a:solidFill>
              </a:rPr>
              <a:t>conteaza</a:t>
            </a:r>
            <a:r>
              <a:rPr sz="32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4173"/>
            <a:ext cx="101473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 dirty="0" err="1">
                <a:solidFill>
                  <a:srgbClr val="2F2F2F"/>
                </a:solidFill>
                <a:latin typeface="Calibri"/>
              </a:rPr>
              <a:t>Generatoarele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sunt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scrise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manual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, nu derivate automat. Un generator automat (</a:t>
            </a:r>
            <a:r>
              <a:rPr sz="1600" b="1" i="0" dirty="0" err="1">
                <a:solidFill>
                  <a:srgbClr val="2F2F2F"/>
                </a:solidFill>
                <a:latin typeface="Consolas"/>
              </a:rPr>
              <a:t>genericArbitrary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) nu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cunoaste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domeniul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si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poate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produce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expresii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dezechilibrate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86180" y="2759395"/>
            <a:ext cx="4864608" cy="196596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50772" y="2809748"/>
            <a:ext cx="4535424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EC9B0"/>
                </a:solidFill>
                <a:latin typeface="Consolas"/>
              </a:rPr>
              <a:t>genSmallInt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- ponderi explicite pentru constante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(-4, 4))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-- 83%: numere mici, usor de citit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1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(-12, 12))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-- 17%: numere mai mari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379972" y="2759395"/>
            <a:ext cx="4864608" cy="233172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4564" y="2809748"/>
            <a:ext cx="4535424" cy="2112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EC9B0"/>
                </a:solidFill>
                <a:latin typeface="Consolas"/>
              </a:rPr>
              <a:t>genExpr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cu </a:t>
            </a:r>
            <a:r>
              <a:rPr sz="1400" b="1" i="0">
                <a:solidFill>
                  <a:srgbClr val="569CD6"/>
                </a:solidFill>
                <a:latin typeface="Consolas"/>
              </a:rPr>
              <a:t>sized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+ </a:t>
            </a:r>
            <a:r>
              <a:rPr sz="1400" b="0" i="0">
                <a:solidFill>
                  <a:srgbClr val="DCDCAA"/>
                </a:solidFill>
                <a:latin typeface="Consolas"/>
              </a:rPr>
              <a:t>frequency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terminal)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 -- 26%: Const sau Var (opreste recursivitatea)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2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Neg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  -- 11%: negatie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Add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adunare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Sub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scadere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Mul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inmultire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972364"/>
            <a:ext cx="10058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2F2F2F"/>
                </a:solidFill>
                <a:latin typeface="Calibri"/>
              </a:rPr>
              <a:t>De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ce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aceste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ponderi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: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terminalele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au pondere mai mare pentru a opri recursivitatea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Neg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are pondere mai mica (un singur subarbore)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operatorii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binari sunt egali, nu favorizam niciun operator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genExpr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genClosedExpr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genEnvFor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38680"/>
            <a:ext cx="9773920" cy="400812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325880" y="2321559"/>
            <a:ext cx="9329651" cy="61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foloseste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sized + frequency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recursivitatii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distributiei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constructorilor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produce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fara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(utile in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proprietatile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de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substitutie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3235960"/>
            <a:ext cx="9329651" cy="1676866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1490471" y="3327400"/>
            <a:ext cx="9009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genEnvFor (mediu complet pentru variabilele libere)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3601720"/>
            <a:ext cx="9009777" cy="789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let names = Set.toList (freeVars expr)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values &lt;- vectorOf (length names) genSmallInt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pure (Map.fromList (zip names values))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5247640"/>
            <a:ext cx="93296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generatorului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medii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complete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reduc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fals-pozitivele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cresc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relevanta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testelor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shrinkExpr</a:t>
            </a:r>
            <a:r>
              <a:rPr sz="3400" dirty="0"/>
              <a:t>: </a:t>
            </a:r>
            <a:r>
              <a:rPr sz="3400" dirty="0" err="1"/>
              <a:t>contraexemple</a:t>
            </a:r>
            <a:r>
              <a:rPr sz="3400" dirty="0"/>
              <a:t> </a:t>
            </a:r>
            <a:r>
              <a:rPr sz="3400" dirty="0" err="1"/>
              <a:t>minimale</a:t>
            </a:r>
            <a:endParaRPr sz="3400" dirty="0"/>
          </a:p>
        </p:txBody>
      </p:sp>
      <p:sp>
        <p:nvSpPr>
          <p:cNvPr id="6" name="Rounded Rectangle 3"/>
          <p:cNvSpPr/>
          <p:nvPr/>
        </p:nvSpPr>
        <p:spPr>
          <a:xfrm>
            <a:off x="1097280" y="2267712"/>
            <a:ext cx="10058400" cy="160020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61872" y="2377440"/>
            <a:ext cx="9729216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4EC9B0"/>
                </a:solidFill>
                <a:latin typeface="Consolas"/>
              </a:rPr>
              <a:t>shrinkExpr (Add a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= [a, b]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++ [Add a' b | a' &lt;- shrinkExpr a]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++ [Add a b' | b' &lt;- shrinkExpr b]</a:t>
            </a:r>
          </a:p>
        </p:txBody>
      </p:sp>
      <p:sp>
        <p:nvSpPr>
          <p:cNvPr id="8" name="Rounded Rectangle 5"/>
          <p:cNvSpPr/>
          <p:nvPr/>
        </p:nvSpPr>
        <p:spPr>
          <a:xfrm>
            <a:off x="1097280" y="4069080"/>
            <a:ext cx="4864608" cy="201168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6"/>
          <p:cNvSpPr/>
          <p:nvPr/>
        </p:nvSpPr>
        <p:spPr>
          <a:xfrm>
            <a:off x="6291072" y="4069080"/>
            <a:ext cx="4864608" cy="2011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8" y="4279392"/>
            <a:ext cx="4480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9A3412"/>
                </a:solidFill>
                <a:latin typeface="Segoe UI"/>
              </a:rPr>
              <a:t>Fara shrink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2F3338"/>
                </a:solidFill>
                <a:latin typeface="Consolas"/>
              </a:rPr>
              <a:t>Add (Mul (Add (Var "x") (Const 3))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2F3338"/>
                </a:solidFill>
                <a:latin typeface="Consolas"/>
              </a:rPr>
              <a:t>    (Const 2)) (Sub (Var "y") (Const 1))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279392"/>
            <a:ext cx="44805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166534"/>
                </a:solidFill>
                <a:latin typeface="Segoe UI"/>
              </a:rPr>
              <a:t>Cu shrink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>
                <a:solidFill>
                  <a:srgbClr val="2F3338"/>
                </a:solidFill>
                <a:latin typeface="Consolas"/>
              </a:rPr>
              <a:t>Add (Var "x") (Const 0)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 dirty="0" err="1">
                <a:solidFill>
                  <a:srgbClr val="4B5563"/>
                </a:solidFill>
                <a:latin typeface="Segoe UI"/>
              </a:rPr>
              <a:t>Acelasi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bug,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dar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exprimat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minimal.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Cele 16 proprietati (grupate)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473285-A0EB-EEFF-685E-F4C3C41121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998720" cy="4165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Corectitudine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semantica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br>
              <a:rPr lang="en-US" sz="1400" b="1" kern="1000" spc="10" dirty="0"/>
            </a:br>
            <a:br>
              <a:rPr lang="en-US" sz="1400" b="1" kern="1000" spc="10" dirty="0"/>
            </a:br>
            <a:r>
              <a:rPr lang="en-US" sz="1400" b="1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pastreaza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semantica</a:t>
            </a:r>
            <a:br>
              <a:rPr lang="en-US" sz="1400" kern="1000" spc="10" dirty="0"/>
            </a:br>
            <a:r>
              <a:rPr lang="en-US" sz="1400" kern="1000" spc="10" dirty="0"/>
              <a:t>- Pretty-print </a:t>
            </a:r>
            <a:r>
              <a:rPr lang="en-US" sz="1400" kern="1000" spc="10" dirty="0" err="1"/>
              <a:t>urmat</a:t>
            </a:r>
            <a:r>
              <a:rPr lang="en-US" sz="1400" kern="1000" spc="10" dirty="0"/>
              <a:t> de </a:t>
            </a:r>
            <a:r>
              <a:rPr lang="en-US" sz="1400" kern="1000" spc="10" dirty="0" err="1"/>
              <a:t>parsare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pastreaza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semantica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Structurale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este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idempotenta</a:t>
            </a:r>
            <a:r>
              <a:rPr lang="en-US" sz="1400" kern="1000" spc="10" dirty="0"/>
              <a:t>: simplify(simplify(e)) == simplify(e)</a:t>
            </a:r>
            <a:br>
              <a:rPr lang="en-US" sz="1400" kern="1000" spc="10" dirty="0"/>
            </a:b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nu </a:t>
            </a:r>
            <a:r>
              <a:rPr lang="en-US" sz="1400" kern="1000" spc="10" dirty="0" err="1"/>
              <a:t>mareste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dimensiunea</a:t>
            </a:r>
            <a:r>
              <a:rPr lang="en-US" sz="1400" kern="1000" spc="10" dirty="0"/>
              <a:t> / </a:t>
            </a:r>
            <a:r>
              <a:rPr lang="en-US" sz="1400" kern="1000" spc="10" dirty="0" err="1"/>
              <a:t>adancimea</a:t>
            </a:r>
            <a:r>
              <a:rPr lang="en-US" sz="1400" kern="1000" spc="10" dirty="0"/>
              <a:t> / </a:t>
            </a:r>
            <a:r>
              <a:rPr lang="en-US" sz="1400" kern="1000" spc="10" dirty="0" err="1"/>
              <a:t>numarul</a:t>
            </a:r>
            <a:r>
              <a:rPr lang="en-US" sz="1400" kern="1000" spc="10" dirty="0"/>
              <a:t> de </a:t>
            </a:r>
            <a:r>
              <a:rPr lang="en-US" sz="1400" kern="1000" spc="10" dirty="0" err="1"/>
              <a:t>operatori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Algebrice</a:t>
            </a:r>
            <a:r>
              <a:rPr lang="en-US" sz="1400" b="1" kern="1000" spc="10" dirty="0">
                <a:solidFill>
                  <a:schemeClr val="tx1"/>
                </a:solidFill>
              </a:rPr>
              <a:t> —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comutativitate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si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asociativitate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+ b ≡ b +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* b ≡ b *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+ b) + c ≡ a + (b + c)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* b) * c ≡ a * (b * c)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C5F9BF-9E45-7174-B44C-B127805471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it-IT" sz="1200" b="1" dirty="0">
                <a:solidFill>
                  <a:schemeClr val="tx1"/>
                </a:solidFill>
              </a:rPr>
              <a:t>Elemente neutre si absorbante: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+ 0 ≡ e</a:t>
            </a:r>
          </a:p>
          <a:p>
            <a:r>
              <a:rPr lang="it-IT" sz="1200" dirty="0"/>
              <a:t>e * 1 ≡ e</a:t>
            </a:r>
          </a:p>
          <a:p>
            <a:r>
              <a:rPr lang="it-IT" sz="1200" dirty="0"/>
              <a:t>e * 0 ≡ 0</a:t>
            </a:r>
          </a:p>
          <a:p>
            <a:r>
              <a:rPr lang="it-IT" sz="1200" b="1" dirty="0">
                <a:solidFill>
                  <a:schemeClr val="tx1"/>
                </a:solidFill>
              </a:rPr>
              <a:t>Negatie, scadere, substitutie: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- e ≡ 0</a:t>
            </a:r>
          </a:p>
          <a:p>
            <a:r>
              <a:rPr lang="it-IT" sz="1200" dirty="0"/>
              <a:t>--e ≡ e</a:t>
            </a:r>
          </a:p>
          <a:p>
            <a:r>
              <a:rPr lang="it-IT" sz="1200" dirty="0"/>
              <a:t>Substitutia pastreaza semantica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Output real cu classify</a:t>
            </a:r>
          </a:p>
        </p:txBody>
      </p:sp>
      <p:sp>
        <p:nvSpPr>
          <p:cNvPr id="6" name="Rounded Rectangle 2"/>
          <p:cNvSpPr/>
          <p:nvPr/>
        </p:nvSpPr>
        <p:spPr>
          <a:xfrm>
            <a:off x="1127760" y="2052229"/>
            <a:ext cx="10058400" cy="324612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92352" y="2161957"/>
            <a:ext cx="972921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 dirty="0">
                <a:solidFill>
                  <a:srgbClr val="4EC9B0"/>
                </a:solidFill>
                <a:latin typeface="Consolas"/>
              </a:rPr>
              <a:t>Terminal output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simplify preserves meaning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62.5% cu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fara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30.0%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mari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add commutative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57.5%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mari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17.5%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mici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</a:t>
            </a:r>
            <a:r>
              <a:rPr sz="1600" b="0" i="0" dirty="0" err="1">
                <a:solidFill>
                  <a:srgbClr val="D4D4D4"/>
                </a:solidFill>
                <a:latin typeface="Consolas"/>
              </a:rPr>
              <a:t>mul</a:t>
            </a:r>
            <a:r>
              <a:rPr sz="1600" b="0" i="0" dirty="0">
                <a:solidFill>
                  <a:srgbClr val="D4D4D4"/>
                </a:solidFill>
                <a:latin typeface="Consolas"/>
              </a:rPr>
              <a:t> zero absorbing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65.8% cu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34.2%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fara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5408077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dirty="0">
                <a:solidFill>
                  <a:srgbClr val="2F3338"/>
                </a:solidFill>
                <a:latin typeface="Segoe UI"/>
              </a:rPr>
              <a:t>classify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confirma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distributie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echilibrata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mici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mari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fara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Analiza: eficienta metodei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400" dirty="0" err="1"/>
              <a:t>Avantaje</a:t>
            </a:r>
            <a:r>
              <a:rPr sz="2400" dirty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1800"/>
              <a:t>120 de cazuri per proprietate, generate automat</a:t>
            </a:r>
          </a:p>
          <a:p>
            <a:r>
              <a:rPr sz="1800"/>
              <a:t>Contraexemplele sunt reduse la forma minima</a:t>
            </a:r>
          </a:p>
          <a:p>
            <a:r>
              <a:rPr sz="1800"/>
              <a:t>Proprietatile servesc drept documentatie executabila</a:t>
            </a:r>
          </a:p>
          <a:p>
            <a:r>
              <a:rPr sz="1800"/>
              <a:t>classify ofera vizibilitate asupra distributiei testelor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2400"/>
              <a:t>Limitari observate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sz="1800"/>
              <a:t>Proprietatile trebuie formulate corect</a:t>
            </a:r>
          </a:p>
          <a:p>
            <a:r>
              <a:rPr sz="1800"/>
              <a:t>Un generator prost acopera doar cazuri banale</a:t>
            </a:r>
          </a:p>
          <a:p>
            <a:r>
              <a:rPr sz="1800"/>
              <a:t>Maybe introduce evaluari partiale (rezolvat cu genEnvFor)</a:t>
            </a:r>
          </a:p>
          <a:p>
            <a:r>
              <a:rPr sz="1800"/>
              <a:t>QuickCheck completeaza, nu inlocuieste demonstratia formala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Detalii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suplimentare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proiect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(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implementare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/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4846320" cy="452628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1783080"/>
            <a:ext cx="4846320" cy="452628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Flux de rulare recomandat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423160"/>
            <a:ext cx="4389120" cy="233172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514600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Comenzi utile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788920"/>
            <a:ext cx="405993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run mfis-quickcheck-expr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 spec --test-show-details=direct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Detalii tehnice extra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=120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comparabilitate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intre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variablePool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fix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generarea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variabilelor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x,y,z,u,v,w,a,b,c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withEnv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genEnvFor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elimina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majoritatea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evaluarilor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partiale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in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testele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semantice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substitute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verificat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inlocuire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closed-expression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Pipeline-ul de testare este reproductibil si usor de rulat in echipa.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/>
              <a:t>Concluzii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/>
              <a:t>QuickCheck valideaza comportamentul general, nu doar exemple particulare</a:t>
            </a:r>
          </a:p>
          <a:p>
            <a:r>
              <a:rPr sz="2100"/>
              <a:t>Generatoarele manuale (frequency, sized, shrink) sunt esentiale</a:t>
            </a:r>
          </a:p>
          <a:p>
            <a:r>
              <a:rPr sz="2100"/>
              <a:t>Mini-limbajul aritmetic este un exemplu natural pentru metode formale</a:t>
            </a:r>
          </a:p>
          <a:p>
            <a:r>
              <a:rPr sz="2100"/>
              <a:t>Specificam invarianti valabili pentru orice intrare</a:t>
            </a:r>
          </a:p>
          <a:p>
            <a:r>
              <a:rPr sz="2100"/>
              <a:t>Diferenta-cheie fata de testarea clasica: gandim in proprietati, nu in cazuri izolate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80AA9D2D-EE59-4148-A11E-A51EEE828B28}" vid="{AEAFD717-D3C8-4034-8F7E-D5220B0CCEB8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{2434C647-D8ED-4307-8D52-7F48AD6760D5}TFf0a5ceae-4542-492d-822e-d65a94fb0e1e3b562c5a_win32-009a0557e699</Template>
  <TotalTime>48</TotalTime>
  <Words>1647</Words>
  <Application>Microsoft Office PowerPoint</Application>
  <PresentationFormat>Widescreen</PresentationFormat>
  <Paragraphs>202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Bookman Old Style</vt:lpstr>
      <vt:lpstr>Bookman Old Style (Headings)</vt:lpstr>
      <vt:lpstr>Calibri</vt:lpstr>
      <vt:lpstr>Consolas</vt:lpstr>
      <vt:lpstr>Franklin Gothic Book</vt:lpstr>
      <vt:lpstr>Segoe UI</vt:lpstr>
      <vt:lpstr>Segoe UI Semibold</vt:lpstr>
      <vt:lpstr>Custom</vt:lpstr>
      <vt:lpstr>Testarea property-based folosind QuickCheck</vt:lpstr>
      <vt:lpstr>Cuprinsul prezentarii</vt:lpstr>
      <vt:lpstr>Context: de ce avem nevoie de metode formale</vt:lpstr>
      <vt:lpstr>Testare clasica vs. property-based testing</vt:lpstr>
      <vt:lpstr>Ce este QuickCheck</vt:lpstr>
      <vt:lpstr>Arhitectura modulului testat</vt:lpstr>
      <vt:lpstr>Modulul testat: AST si evaluator</vt:lpstr>
      <vt:lpstr>Evaluatorul: semantica operationala</vt:lpstr>
      <vt:lpstr>Simplificatorul si regulile algebrice</vt:lpstr>
      <vt:lpstr>Pretty + Parser: round-trip semantic</vt:lpstr>
      <vt:lpstr>Generatoarele proprii (de ce conteaza)</vt:lpstr>
      <vt:lpstr>genExpr, genClosedExpr, genEnvFor</vt:lpstr>
      <vt:lpstr>shrinkExpr: contraexemple minimale</vt:lpstr>
      <vt:lpstr>Cele 16 proprietati (grupate)</vt:lpstr>
      <vt:lpstr>Output real cu classify</vt:lpstr>
      <vt:lpstr>Analiza: eficienta metodei</vt:lpstr>
      <vt:lpstr>Detalii suplimentare din proiect (implementare/rulare)</vt:lpstr>
      <vt:lpstr>Concluzii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Nite Alexandru</dc:creator>
  <cp:lastModifiedBy>Nite Alexandru</cp:lastModifiedBy>
  <cp:revision>4</cp:revision>
  <dcterms:created xsi:type="dcterms:W3CDTF">2026-04-21T13:52:19Z</dcterms:created>
  <dcterms:modified xsi:type="dcterms:W3CDTF">2026-04-21T15:54:11Z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