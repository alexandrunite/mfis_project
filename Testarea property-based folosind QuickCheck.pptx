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6" r:id="rId4"/>
  </p:sldMasterIdLst>
  <p:sldIdLst>
    <p:sldId id="256" r:id="rId5"/>
    <p:sldId id="266" r:id="rId6"/>
    <p:sldId id="267" r:id="rId7"/>
    <p:sldId id="257" r:id="rId8"/>
    <p:sldId id="258" r:id="rId9"/>
    <p:sldId id="268" r:id="rId10"/>
    <p:sldId id="259" r:id="rId11"/>
    <p:sldId id="269" r:id="rId12"/>
    <p:sldId id="270" r:id="rId13"/>
    <p:sldId id="271" r:id="rId14"/>
    <p:sldId id="260" r:id="rId15"/>
    <p:sldId id="272" r:id="rId16"/>
    <p:sldId id="261" r:id="rId17"/>
    <p:sldId id="262" r:id="rId18"/>
    <p:sldId id="263" r:id="rId19"/>
    <p:sldId id="264" r:id="rId20"/>
    <p:sldId id="273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65" r:id="rId30"/>
    <p:sldId id="274" r:id="rId3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=""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A8B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=""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21" autoAdjust="0"/>
    <p:restoredTop sz="94660"/>
  </p:normalViewPr>
  <p:slideViewPr>
    <p:cSldViewPr snapToGrid="0">
      <p:cViewPr>
        <p:scale>
          <a:sx n="90" d="100"/>
          <a:sy n="90" d="100"/>
        </p:scale>
        <p:origin x="-1378" y="-66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34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="" xmlns:a16="http://schemas.microsoft.com/office/drawing/2014/main" id="{39E3965E-AC41-4711-9D10-E25ABB132D86}"/>
              </a:ext>
            </a:extLst>
          </p:cNvPr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90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645152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1"/>
                </a:solidFill>
                <a:latin typeface="+mn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="" xmlns:a16="http://schemas.microsoft.com/office/drawing/2014/main" id="{1F5DC8C3-BA5F-4EED-BB9A-A14272BD82A1}"/>
              </a:ext>
            </a:extLst>
          </p:cNvPr>
          <p:cNvCxnSpPr/>
          <p:nvPr/>
        </p:nvCxnSpPr>
        <p:spPr>
          <a:xfrm>
            <a:off x="1207658" y="4474741"/>
            <a:ext cx="9875520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Date Placeholder 3">
            <a:extLst>
              <a:ext uri="{FF2B5EF4-FFF2-40B4-BE49-F238E27FC236}">
                <a16:creationId xmlns="" xmlns:a16="http://schemas.microsoft.com/office/drawing/2014/main" id="{9925CCF1-92C0-4AF3-BFAF-4921631915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4DA70-C731-4C70-880D-CCD4705E623C}" type="datetime1">
              <a:rPr lang="en-US" smtClean="0"/>
              <a:t>4/22/2026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="" xmlns:a16="http://schemas.microsoft.com/office/drawing/2014/main" id="{051A78A9-3DFF-4937-A9F2-5D8CF495F3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="" xmlns:a16="http://schemas.microsoft.com/office/drawing/2014/main" id="{5FAEB271-5CC0-4759-BC6E-8BE53AB227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583314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="" xmlns:a16="http://schemas.microsoft.com/office/drawing/2014/main" id="{354D8B55-9EA8-4B81-8E84-9B93B0A275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E1D723-8F53-4F53-90B0-1982A396982E}" type="datetime1">
              <a:rPr lang="en-US" smtClean="0"/>
              <a:t>4/22/2026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="" xmlns:a16="http://schemas.microsoft.com/office/drawing/2014/main" id="{062CA021-2578-47CB-822C-BDDFF7223B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="" xmlns:a16="http://schemas.microsoft.com/office/drawing/2014/main" id="{C4AAB51D-4141-4682-9375-DAFD5FB9DD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26706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="" xmlns:a16="http://schemas.microsoft.com/office/drawing/2014/main" id="{A585C21A-8B93-4657-B5DF-7EAEAD3BE127}"/>
              </a:ext>
            </a:extLst>
          </p:cNvPr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90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663440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="" xmlns:a16="http://schemas.microsoft.com/office/drawing/2014/main" id="{459DE2C1-4C52-40A3-8959-27B2C1BEBFF6}"/>
              </a:ext>
            </a:extLst>
          </p:cNvPr>
          <p:cNvCxnSpPr/>
          <p:nvPr/>
        </p:nvCxnSpPr>
        <p:spPr>
          <a:xfrm>
            <a:off x="1207658" y="4485132"/>
            <a:ext cx="9875520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>
            <a:extLst>
              <a:ext uri="{FF2B5EF4-FFF2-40B4-BE49-F238E27FC236}">
                <a16:creationId xmlns="" xmlns:a16="http://schemas.microsoft.com/office/drawing/2014/main" id="{AAF2E137-EC28-48F8-9198-1F02539029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669AF7-7BEB-44E4-9852-375E34362B5B}" type="datetime1">
              <a:rPr lang="en-US" smtClean="0"/>
              <a:t>4/22/2026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="" xmlns:a16="http://schemas.microsoft.com/office/drawing/2014/main" id="{189422CD-6F62-4DD6-89EF-07A60B42D2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="" xmlns:a16="http://schemas.microsoft.com/office/drawing/2014/main" id="{69C6AFF8-42B4-4D05-969B-9F5FB33555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41625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80" y="2120900"/>
            <a:ext cx="4639736" cy="374819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15944" y="2120900"/>
            <a:ext cx="4639736" cy="374819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="" xmlns:a16="http://schemas.microsoft.com/office/drawing/2014/main" id="{5782D47D-B0DC-4C40-BCC6-BBBA32584A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AAC38D-0552-4C82-B593-E6124DFADBE2}" type="datetime1">
              <a:rPr lang="en-US" smtClean="0"/>
              <a:t>4/22/2026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="" xmlns:a16="http://schemas.microsoft.com/office/drawing/2014/main" id="{4690D34E-7EBD-44B2-83CA-4C126A18D7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="" xmlns:a16="http://schemas.microsoft.com/office/drawing/2014/main" id="{2AC511A1-9BBD-42DE-92FB-2AF44F8E97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566630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2057400"/>
            <a:ext cx="4639736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958274"/>
            <a:ext cx="4639736" cy="29108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15944" y="2057400"/>
            <a:ext cx="4639736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15944" y="2958273"/>
            <a:ext cx="4639736" cy="29108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="" xmlns:a16="http://schemas.microsoft.com/office/drawing/2014/main" id="{8AF8A515-AA94-45D1-9223-5C2272618D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DF0F1C-5577-4ACB-BB62-DF8F3C494C7E}" type="datetime1">
              <a:rPr lang="en-US" smtClean="0"/>
              <a:t>4/22/2026</a:t>
            </a:fld>
            <a:endParaRPr lang="en-US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="" xmlns:a16="http://schemas.microsoft.com/office/drawing/2014/main" id="{D052F5BC-98E0-4D60-AD67-9547738B7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="" xmlns:a16="http://schemas.microsoft.com/office/drawing/2014/main" id="{A38552DC-952E-41EA-AAAF-C2187523C0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681946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Date Placeholder 5">
            <a:extLst>
              <a:ext uri="{FF2B5EF4-FFF2-40B4-BE49-F238E27FC236}">
                <a16:creationId xmlns="" xmlns:a16="http://schemas.microsoft.com/office/drawing/2014/main" id="{7392073F-158F-44A3-8913-917AFFC1B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75B394-D9F9-4F0C-B15D-605F45CB9E9F}" type="datetime1">
              <a:rPr lang="en-US" smtClean="0"/>
              <a:t>4/22/2026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="" xmlns:a16="http://schemas.microsoft.com/office/drawing/2014/main" id="{EED72207-24CA-42B7-A975-2F8E41CBA9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="" xmlns:a16="http://schemas.microsoft.com/office/drawing/2014/main" id="{D01080F2-251A-4B88-9A62-16F46D724F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18605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="" xmlns:a16="http://schemas.microsoft.com/office/drawing/2014/main" id="{A8E9C91B-7EAD-4562-AB0E-DFB9663AECE3}"/>
              </a:ext>
            </a:extLst>
          </p:cNvPr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Date Placeholder 1">
            <a:extLst>
              <a:ext uri="{FF2B5EF4-FFF2-40B4-BE49-F238E27FC236}">
                <a16:creationId xmlns="" xmlns:a16="http://schemas.microsoft.com/office/drawing/2014/main" id="{94E9223F-721F-47BF-9FD5-0F8D12FF0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667345-2558-425A-8533-9BFDBCE15005}" type="datetime1">
              <a:rPr lang="en-US" smtClean="0"/>
              <a:t>4/22/2026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="" xmlns:a16="http://schemas.microsoft.com/office/drawing/2014/main" id="{05915714-6BBA-4593-8591-4E26F7D58D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BE06F857-D2E1-44DD-ABDD-EBB739645B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014226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="" xmlns:a16="http://schemas.microsoft.com/office/drawing/2014/main" id="{16D90D66-BCB9-4229-A829-628874352AC0}"/>
              </a:ext>
            </a:extLst>
          </p:cNvPr>
          <p:cNvSpPr/>
          <p:nvPr/>
        </p:nvSpPr>
        <p:spPr>
          <a:xfrm>
            <a:off x="16" y="0"/>
            <a:ext cx="4654296" cy="68580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3466" y="786383"/>
            <a:ext cx="3517567" cy="2093975"/>
          </a:xfrm>
        </p:spPr>
        <p:txBody>
          <a:bodyPr anchor="b">
            <a:normAutofit/>
          </a:bodyPr>
          <a:lstStyle>
            <a:lvl1pPr>
              <a:lnSpc>
                <a:spcPct val="90000"/>
              </a:lnSpc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58984" y="812799"/>
            <a:ext cx="5928344" cy="52947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3465" y="3043050"/>
            <a:ext cx="3517567" cy="3064505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8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43464" y="6446520"/>
            <a:ext cx="3517568" cy="365125"/>
          </a:xfrm>
        </p:spPr>
        <p:txBody>
          <a:bodyPr/>
          <a:lstStyle>
            <a:lvl1pPr algn="l">
              <a:defRPr/>
            </a:lvl1pPr>
          </a:lstStyle>
          <a:p>
            <a:fld id="{92BEA474-078D-4E9B-9B14-09A87B19DC46}" type="datetime1">
              <a:rPr lang="en-US" smtClean="0"/>
              <a:t>4/22/2026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458983" y="6446520"/>
            <a:ext cx="5334019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32822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="" xmlns:a16="http://schemas.microsoft.com/office/drawing/2014/main" id="{DA134939-39C0-4522-A125-A13DFDA66490}"/>
              </a:ext>
            </a:extLst>
          </p:cNvPr>
          <p:cNvSpPr/>
          <p:nvPr/>
        </p:nvSpPr>
        <p:spPr>
          <a:xfrm>
            <a:off x="0" y="4578350"/>
            <a:ext cx="12188825" cy="227965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578350"/>
          </a:xfrm>
          <a:solidFill>
            <a:schemeClr val="bg1">
              <a:lumMod val="85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79" y="4799362"/>
            <a:ext cx="10113645" cy="743682"/>
          </a:xfrm>
        </p:spPr>
        <p:txBody>
          <a:bodyPr tIns="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79" y="5715000"/>
            <a:ext cx="10113264" cy="60960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8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4907D986-8816-4272-A432-0437A28A9828}" type="datetime1">
              <a:rPr lang="en-US" smtClean="0"/>
              <a:t>4/22/2026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097279" y="6446838"/>
            <a:ext cx="6818262" cy="365125"/>
          </a:xfrm>
        </p:spPr>
        <p:txBody>
          <a:bodyPr/>
          <a:lstStyle/>
          <a:p>
            <a:pPr algn="l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232677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="" xmlns:a16="http://schemas.microsoft.com/office/drawing/2014/main" id="{7D5506EE-1026-4F35-9ACC-BD05BE0F9B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2A279-0833-481D-8C56-F67FD0AC6C50}" type="datetime1">
              <a:rPr lang="en-US" smtClean="0"/>
              <a:t>4/22/2026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="" xmlns:a16="http://schemas.microsoft.com/office/drawing/2014/main" id="{B7696E5F-8D95-4450-AE52-5438E6EDE2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="" xmlns:a16="http://schemas.microsoft.com/office/drawing/2014/main" id="{999B2253-74CC-409E-BEB0-F8EFCFCB56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22698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="" xmlns:a16="http://schemas.microsoft.com/office/drawing/2014/main" id="{E1B68A5B-D9FA-424B-A4EB-30E7223836B3}"/>
              </a:ext>
            </a:extLst>
          </p:cNvPr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="" xmlns:a16="http://schemas.microsoft.com/office/drawing/2014/main" id="{AF33D6B0-F070-45C4-A472-19F432BE39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7DA83-5663-4C9C-B9AA-0B40A3DAFF81}" type="datetime1">
              <a:rPr lang="en-US" smtClean="0"/>
              <a:t>4/22/2026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="" xmlns:a16="http://schemas.microsoft.com/office/drawing/2014/main" id="{9975399F-DAB2-410D-967F-ED17E6F796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="" xmlns:a16="http://schemas.microsoft.com/office/drawing/2014/main" id="{F762A46F-6BE5-4D12-9412-5CA7672EA8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618272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="" xmlns:a16="http://schemas.microsoft.com/office/drawing/2014/main" id="{416A0E3C-60E6-4F39-BC55-5F7C224E1F7C}"/>
              </a:ext>
            </a:extLst>
          </p:cNvPr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2108201"/>
            <a:ext cx="10058400" cy="3760891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218426" y="6446838"/>
            <a:ext cx="2584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rgbClr val="FFFFFF"/>
                </a:solidFill>
              </a:defRPr>
            </a:lvl1pPr>
          </a:lstStyle>
          <a:p>
            <a:fld id="{62D6E202-B606-4609-B914-27C9371A1F6D}" type="datetime1">
              <a:rPr lang="en-US" smtClean="0"/>
              <a:t>4/22/2026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97279" y="6446838"/>
            <a:ext cx="681826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cap="all" baseline="0">
                <a:solidFill>
                  <a:srgbClr val="FFFFFF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993582" y="6446838"/>
            <a:ext cx="7800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rgbClr val="FFFFFF"/>
                </a:solidFill>
              </a:defRPr>
            </a:lvl1pPr>
          </a:lstStyle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="" xmlns:a16="http://schemas.microsoft.com/office/drawing/2014/main" id="{C5025DAC-8B93-4160-B017-3A274A5828C0}"/>
              </a:ext>
            </a:extLst>
          </p:cNvPr>
          <p:cNvCxnSpPr/>
          <p:nvPr/>
        </p:nvCxnSpPr>
        <p:spPr>
          <a:xfrm>
            <a:off x="1193532" y="1897380"/>
            <a:ext cx="9966960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349822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8" r:id="rId1"/>
    <p:sldLayoutId id="2147483749" r:id="rId2"/>
    <p:sldLayoutId id="2147483747" r:id="rId3"/>
    <p:sldLayoutId id="2147483743" r:id="rId4"/>
    <p:sldLayoutId id="2147483738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700" i="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11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19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100000"/>
        </a:lnSpc>
        <a:spcBef>
          <a:spcPts val="200"/>
        </a:spcBef>
        <a:spcAft>
          <a:spcPts val="400"/>
        </a:spcAft>
        <a:buClrTx/>
        <a:buFont typeface="Calibri" pitchFamily="34" charset="0"/>
        <a:buChar char="◦"/>
        <a:defRPr sz="17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100000"/>
        </a:lnSpc>
        <a:spcBef>
          <a:spcPts val="200"/>
        </a:spcBef>
        <a:spcAft>
          <a:spcPts val="400"/>
        </a:spcAft>
        <a:buClrTx/>
        <a:buFont typeface="Calibri" pitchFamily="34" charset="0"/>
        <a:buChar char="◦"/>
        <a:defRPr sz="13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100000"/>
        </a:lnSpc>
        <a:spcBef>
          <a:spcPts val="200"/>
        </a:spcBef>
        <a:spcAft>
          <a:spcPts val="400"/>
        </a:spcAft>
        <a:buClrTx/>
        <a:buFont typeface="Calibri" pitchFamily="34" charset="0"/>
        <a:buChar char="◦"/>
        <a:defRPr sz="13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100000"/>
        </a:lnSpc>
        <a:spcBef>
          <a:spcPts val="200"/>
        </a:spcBef>
        <a:spcAft>
          <a:spcPts val="400"/>
        </a:spcAft>
        <a:buClrTx/>
        <a:buFont typeface="Calibri" pitchFamily="34" charset="0"/>
        <a:buChar char="◦"/>
        <a:defRPr sz="13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hackage.haskell.org/package/QuickCheck" TargetMode="External"/><Relationship Id="rId2" Type="http://schemas.openxmlformats.org/officeDocument/2006/relationships/hyperlink" Target="https://dl.acm.org/doi/epdf/10.1145/351240.351266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sulzmann.github.io/ProgrammingParadigms/lec-haskell-testing.html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75266" y="1142402"/>
            <a:ext cx="10058400" cy="2423401"/>
          </a:xfrm>
        </p:spPr>
        <p:txBody>
          <a:bodyPr/>
          <a:lstStyle/>
          <a:p>
            <a:pPr algn="ctr"/>
            <a:r>
              <a:rPr lang="ro-RO" sz="4400" dirty="0" smtClean="0"/>
              <a:t>Tema 20</a:t>
            </a:r>
            <a:br>
              <a:rPr lang="ro-RO" sz="4400" dirty="0" smtClean="0"/>
            </a:br>
            <a:r>
              <a:rPr sz="4400" dirty="0" err="1" smtClean="0"/>
              <a:t>Testarea</a:t>
            </a:r>
            <a:r>
              <a:rPr sz="4400" dirty="0" smtClean="0"/>
              <a:t> property-based</a:t>
            </a:r>
            <a:r>
              <a:rPr lang="ro-RO" sz="4400" dirty="0" smtClean="0"/>
              <a:t> a modulelor software</a:t>
            </a:r>
            <a:r>
              <a:rPr sz="4400" dirty="0" smtClean="0"/>
              <a:t> </a:t>
            </a:r>
            <a:r>
              <a:rPr sz="4400" dirty="0" err="1"/>
              <a:t>folosind</a:t>
            </a:r>
            <a:r>
              <a:rPr sz="4400" dirty="0"/>
              <a:t> </a:t>
            </a:r>
            <a:r>
              <a:rPr sz="4400" dirty="0" err="1"/>
              <a:t>QuickCheck</a:t>
            </a:r>
            <a:endParaRPr sz="4400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12108" y="4681029"/>
            <a:ext cx="10058400" cy="1143000"/>
          </a:xfrm>
        </p:spPr>
        <p:txBody>
          <a:bodyPr>
            <a:noAutofit/>
          </a:bodyPr>
          <a:lstStyle/>
          <a:p>
            <a:pPr algn="ctr"/>
            <a:r>
              <a:rPr lang="it-IT" sz="1400" spc="-5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rPr>
              <a:t>Metode </a:t>
            </a:r>
            <a:r>
              <a:rPr lang="it-IT" sz="1400" spc="-5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rPr>
              <a:t>Formale in Ingineria Software</a:t>
            </a:r>
            <a:endParaRPr sz="1400" spc="-50" dirty="0">
              <a:solidFill>
                <a:schemeClr val="tx1">
                  <a:lumMod val="85000"/>
                  <a:lumOff val="15000"/>
                </a:schemeClr>
              </a:solidFill>
              <a:latin typeface="+mj-lt"/>
              <a:ea typeface="+mj-ea"/>
              <a:cs typeface="+mj-cs"/>
            </a:endParaRPr>
          </a:p>
          <a:p>
            <a:pPr algn="ctr"/>
            <a:r>
              <a:rPr lang="ro-RO" sz="1400" spc="-5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rPr>
              <a:t>Anul universitar 2025-2026</a:t>
            </a:r>
            <a:endParaRPr sz="1400" spc="-50" dirty="0">
              <a:solidFill>
                <a:schemeClr val="tx1">
                  <a:lumMod val="85000"/>
                  <a:lumOff val="15000"/>
                </a:schemeClr>
              </a:solidFill>
              <a:latin typeface="+mj-lt"/>
              <a:ea typeface="+mj-ea"/>
              <a:cs typeface="+mj-cs"/>
            </a:endParaRPr>
          </a:p>
          <a:p>
            <a:pPr algn="ctr"/>
            <a:r>
              <a:rPr sz="1400" spc="-5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rPr>
              <a:t>Echipa</a:t>
            </a:r>
            <a:r>
              <a:rPr sz="1400" spc="-5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rPr>
              <a:t>: </a:t>
            </a:r>
            <a:r>
              <a:rPr lang="en-US" sz="1400" spc="-5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rPr>
              <a:t>MIH</a:t>
            </a:r>
            <a:r>
              <a:rPr lang="ro-RO" sz="1400" spc="-5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rPr>
              <a:t>ă</a:t>
            </a:r>
            <a:r>
              <a:rPr lang="en-US" sz="1400" spc="-5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rPr>
              <a:t>IL</a:t>
            </a:r>
            <a:r>
              <a:rPr lang="ro-RO" sz="1400" spc="-5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rPr>
              <a:t>ă</a:t>
            </a:r>
            <a:r>
              <a:rPr lang="en-US" sz="1400" spc="-5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rPr>
              <a:t> DENISA </a:t>
            </a:r>
            <a:r>
              <a:rPr lang="ro-RO" sz="1400" spc="-5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rPr>
              <a:t>(352)</a:t>
            </a:r>
            <a:r>
              <a:rPr sz="1400" spc="-5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rPr>
              <a:t>, </a:t>
            </a:r>
            <a:r>
              <a:rPr lang="en-US" sz="1400" spc="-5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rPr>
              <a:t>Ni</a:t>
            </a:r>
            <a:r>
              <a:rPr lang="ro-RO" sz="1400" spc="-5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rPr>
              <a:t>ț</a:t>
            </a:r>
            <a:r>
              <a:rPr lang="en-US" sz="1400" spc="-5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rPr>
              <a:t>E DAN-ALEXANDRU</a:t>
            </a:r>
            <a:r>
              <a:rPr lang="ro-RO" sz="1400" spc="-5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rPr>
              <a:t> (344)</a:t>
            </a:r>
            <a:endParaRPr sz="1400" spc="-50" dirty="0">
              <a:solidFill>
                <a:schemeClr val="tx1">
                  <a:lumMod val="85000"/>
                  <a:lumOff val="15000"/>
                </a:schemeClr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6" name="Subtitle 2"/>
          <p:cNvSpPr txBox="1">
            <a:spLocks/>
          </p:cNvSpPr>
          <p:nvPr/>
        </p:nvSpPr>
        <p:spPr>
          <a:xfrm>
            <a:off x="4580466" y="312229"/>
            <a:ext cx="3313441" cy="84770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11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None/>
              <a:defRPr sz="2400" kern="1200" cap="all" spc="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0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None/>
              <a:defRPr sz="2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0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None/>
              <a:defRPr sz="2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0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0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ro-RO" sz="1050" spc="-5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rPr>
              <a:t>Universitatea din bucurești</a:t>
            </a:r>
          </a:p>
          <a:p>
            <a:pPr algn="ctr"/>
            <a:r>
              <a:rPr lang="ro-RO" sz="1050" spc="-5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rPr>
              <a:t>Facultatea de matematică și informatică</a:t>
            </a:r>
            <a:endParaRPr lang="vi-VN" sz="1050" spc="-50" dirty="0">
              <a:solidFill>
                <a:schemeClr val="tx1">
                  <a:lumMod val="85000"/>
                  <a:lumOff val="15000"/>
                </a:schemeClr>
              </a:solidFill>
              <a:latin typeface="+mj-lt"/>
              <a:ea typeface="+mj-ea"/>
              <a:cs typeface="+mj-c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500" dirty="0" err="1">
                <a:solidFill>
                  <a:srgbClr val="2F3338"/>
                </a:solidFill>
              </a:rPr>
              <a:t>Cuprinsul</a:t>
            </a:r>
            <a:r>
              <a:rPr sz="3500" dirty="0">
                <a:solidFill>
                  <a:srgbClr val="2F3338"/>
                </a:solidFill>
              </a:rPr>
              <a:t> </a:t>
            </a:r>
            <a:r>
              <a:rPr sz="3500" dirty="0" err="1">
                <a:solidFill>
                  <a:srgbClr val="2F3338"/>
                </a:solidFill>
              </a:rPr>
              <a:t>prezentarii</a:t>
            </a:r>
            <a:endParaRPr sz="3500" dirty="0">
              <a:solidFill>
                <a:srgbClr val="2F3338"/>
              </a:solidFill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1097280" y="2108200"/>
            <a:ext cx="10058400" cy="3924300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4604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25880" y="3036733"/>
            <a:ext cx="9601200" cy="20672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0" i="0" dirty="0">
                <a:solidFill>
                  <a:srgbClr val="2F3338"/>
                </a:solidFill>
                <a:latin typeface="Segoe UI"/>
              </a:rPr>
              <a:t>- </a:t>
            </a:r>
            <a:r>
              <a:rPr sz="2000" b="1" i="0" dirty="0" err="1">
                <a:solidFill>
                  <a:srgbClr val="2F3338"/>
                </a:solidFill>
                <a:latin typeface="Segoe UI"/>
              </a:rPr>
              <a:t>Problema</a:t>
            </a:r>
            <a:r>
              <a:rPr sz="2000" b="0" i="0" dirty="0">
                <a:solidFill>
                  <a:srgbClr val="2F3338"/>
                </a:solidFill>
                <a:latin typeface="Segoe UI"/>
              </a:rPr>
              <a:t>: de </a:t>
            </a:r>
            <a:r>
              <a:rPr sz="2000" b="0" i="0" dirty="0" err="1">
                <a:solidFill>
                  <a:srgbClr val="2F3338"/>
                </a:solidFill>
                <a:latin typeface="Segoe UI"/>
              </a:rPr>
              <a:t>ce</a:t>
            </a:r>
            <a:r>
              <a:rPr sz="20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2000" b="0" i="0" dirty="0" err="1">
                <a:solidFill>
                  <a:srgbClr val="2F3338"/>
                </a:solidFill>
                <a:latin typeface="Segoe UI"/>
              </a:rPr>
              <a:t>testarea</a:t>
            </a:r>
            <a:r>
              <a:rPr sz="20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2000" b="0" i="0" dirty="0" err="1" smtClean="0">
                <a:solidFill>
                  <a:srgbClr val="2F3338"/>
                </a:solidFill>
                <a:latin typeface="Segoe UI"/>
              </a:rPr>
              <a:t>clasic</a:t>
            </a:r>
            <a:r>
              <a:rPr lang="ro-RO" sz="2000" b="0" i="0" dirty="0" smtClean="0">
                <a:solidFill>
                  <a:srgbClr val="2F3338"/>
                </a:solidFill>
                <a:latin typeface="Segoe UI"/>
              </a:rPr>
              <a:t>ă</a:t>
            </a:r>
            <a:r>
              <a:rPr sz="2000" b="0" i="0" dirty="0" smtClean="0">
                <a:solidFill>
                  <a:srgbClr val="2F3338"/>
                </a:solidFill>
                <a:latin typeface="Segoe UI"/>
              </a:rPr>
              <a:t> </a:t>
            </a:r>
            <a:r>
              <a:rPr sz="2000" b="0" i="0" dirty="0">
                <a:solidFill>
                  <a:srgbClr val="2F3338"/>
                </a:solidFill>
                <a:latin typeface="Segoe UI"/>
              </a:rPr>
              <a:t>nu </a:t>
            </a:r>
            <a:r>
              <a:rPr sz="2000" b="0" i="0" dirty="0" err="1">
                <a:solidFill>
                  <a:srgbClr val="2F3338"/>
                </a:solidFill>
                <a:latin typeface="Segoe UI"/>
              </a:rPr>
              <a:t>este</a:t>
            </a:r>
            <a:r>
              <a:rPr sz="20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2000" b="0" i="0" dirty="0" err="1" smtClean="0">
                <a:solidFill>
                  <a:srgbClr val="2F3338"/>
                </a:solidFill>
                <a:latin typeface="Segoe UI"/>
              </a:rPr>
              <a:t>suficient</a:t>
            </a:r>
            <a:r>
              <a:rPr lang="ro-RO" sz="2000" b="0" i="0" dirty="0" smtClean="0">
                <a:solidFill>
                  <a:srgbClr val="2F3338"/>
                </a:solidFill>
                <a:latin typeface="Segoe UI"/>
              </a:rPr>
              <a:t>ă</a:t>
            </a:r>
            <a:endParaRPr sz="2000" b="0" i="0" dirty="0">
              <a:solidFill>
                <a:srgbClr val="2F3338"/>
              </a:solidFill>
              <a:latin typeface="Segoe UI"/>
            </a:endParaRP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0" i="0" dirty="0">
                <a:solidFill>
                  <a:srgbClr val="2F3338"/>
                </a:solidFill>
                <a:latin typeface="Segoe UI"/>
              </a:rPr>
              <a:t>- </a:t>
            </a:r>
            <a:r>
              <a:rPr sz="2000" b="1" i="0" dirty="0" err="1">
                <a:solidFill>
                  <a:srgbClr val="2F3338"/>
                </a:solidFill>
                <a:latin typeface="Segoe UI"/>
              </a:rPr>
              <a:t>QuickCheck</a:t>
            </a:r>
            <a:r>
              <a:rPr sz="2000" b="0" i="0" dirty="0">
                <a:solidFill>
                  <a:srgbClr val="2F3338"/>
                </a:solidFill>
                <a:latin typeface="Segoe UI"/>
              </a:rPr>
              <a:t>: </a:t>
            </a:r>
            <a:r>
              <a:rPr sz="2000" b="0" i="0" dirty="0" err="1">
                <a:solidFill>
                  <a:srgbClr val="2F3338"/>
                </a:solidFill>
                <a:latin typeface="Segoe UI"/>
              </a:rPr>
              <a:t>concepte</a:t>
            </a:r>
            <a:r>
              <a:rPr sz="2000" b="0" i="0" dirty="0">
                <a:solidFill>
                  <a:srgbClr val="2F3338"/>
                </a:solidFill>
                <a:latin typeface="Segoe UI"/>
              </a:rPr>
              <a:t>, </a:t>
            </a:r>
            <a:r>
              <a:rPr sz="2000" b="0" i="0" dirty="0" err="1">
                <a:solidFill>
                  <a:srgbClr val="2F3338"/>
                </a:solidFill>
                <a:latin typeface="Segoe UI"/>
              </a:rPr>
              <a:t>generare</a:t>
            </a:r>
            <a:r>
              <a:rPr sz="2000" b="0" i="0" dirty="0">
                <a:solidFill>
                  <a:srgbClr val="2F3338"/>
                </a:solidFill>
                <a:latin typeface="Segoe UI"/>
              </a:rPr>
              <a:t>, shrink, classify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0" i="0" dirty="0">
                <a:solidFill>
                  <a:srgbClr val="2F3338"/>
                </a:solidFill>
                <a:latin typeface="Segoe UI"/>
              </a:rPr>
              <a:t>- </a:t>
            </a:r>
            <a:r>
              <a:rPr sz="2000" b="1" i="0" dirty="0" err="1">
                <a:solidFill>
                  <a:srgbClr val="2F3338"/>
                </a:solidFill>
                <a:latin typeface="Segoe UI"/>
              </a:rPr>
              <a:t>Arhitectura</a:t>
            </a:r>
            <a:r>
              <a:rPr sz="2000" b="1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2000" b="1" i="0" dirty="0" err="1">
                <a:solidFill>
                  <a:srgbClr val="2F3338"/>
                </a:solidFill>
                <a:latin typeface="Segoe UI"/>
              </a:rPr>
              <a:t>modulului</a:t>
            </a:r>
            <a:r>
              <a:rPr sz="2000" b="0" i="0" dirty="0">
                <a:solidFill>
                  <a:srgbClr val="2F3338"/>
                </a:solidFill>
                <a:latin typeface="Segoe UI"/>
              </a:rPr>
              <a:t>: AST, evaluator, </a:t>
            </a:r>
            <a:r>
              <a:rPr sz="2000" b="0" i="0" dirty="0" err="1">
                <a:solidFill>
                  <a:srgbClr val="2F3338"/>
                </a:solidFill>
                <a:latin typeface="Segoe UI"/>
              </a:rPr>
              <a:t>simplificator</a:t>
            </a:r>
            <a:r>
              <a:rPr sz="2000" b="0" i="0" dirty="0">
                <a:solidFill>
                  <a:srgbClr val="2F3338"/>
                </a:solidFill>
                <a:latin typeface="Segoe UI"/>
              </a:rPr>
              <a:t>, parser/pretty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0" i="0" dirty="0">
                <a:solidFill>
                  <a:srgbClr val="2F3338"/>
                </a:solidFill>
                <a:latin typeface="Segoe UI"/>
              </a:rPr>
              <a:t>- </a:t>
            </a:r>
            <a:r>
              <a:rPr sz="2000" b="1" i="0" dirty="0" err="1">
                <a:solidFill>
                  <a:srgbClr val="2F3338"/>
                </a:solidFill>
                <a:latin typeface="Segoe UI"/>
              </a:rPr>
              <a:t>Generatoare</a:t>
            </a:r>
            <a:r>
              <a:rPr sz="2000" b="1" i="0" dirty="0">
                <a:solidFill>
                  <a:srgbClr val="2F3338"/>
                </a:solidFill>
                <a:latin typeface="Segoe UI"/>
              </a:rPr>
              <a:t> custom</a:t>
            </a:r>
            <a:r>
              <a:rPr sz="2000" b="0" i="0" dirty="0">
                <a:solidFill>
                  <a:srgbClr val="2F3338"/>
                </a:solidFill>
                <a:latin typeface="Segoe UI"/>
              </a:rPr>
              <a:t>: </a:t>
            </a:r>
            <a:r>
              <a:rPr sz="2000" b="0" i="0" dirty="0" err="1">
                <a:solidFill>
                  <a:srgbClr val="2F3338"/>
                </a:solidFill>
                <a:latin typeface="Segoe UI"/>
              </a:rPr>
              <a:t>genSmallInt</a:t>
            </a:r>
            <a:r>
              <a:rPr sz="2000" b="0" i="0" dirty="0">
                <a:solidFill>
                  <a:srgbClr val="2F3338"/>
                </a:solidFill>
                <a:latin typeface="Segoe UI"/>
              </a:rPr>
              <a:t>, </a:t>
            </a:r>
            <a:r>
              <a:rPr sz="2000" b="0" i="0" dirty="0" err="1">
                <a:solidFill>
                  <a:srgbClr val="2F3338"/>
                </a:solidFill>
                <a:latin typeface="Segoe UI"/>
              </a:rPr>
              <a:t>genExpr</a:t>
            </a:r>
            <a:r>
              <a:rPr sz="2000" b="0" i="0" dirty="0">
                <a:solidFill>
                  <a:srgbClr val="2F3338"/>
                </a:solidFill>
                <a:latin typeface="Segoe UI"/>
              </a:rPr>
              <a:t>, </a:t>
            </a:r>
            <a:r>
              <a:rPr sz="2000" b="0" i="0" dirty="0" err="1">
                <a:solidFill>
                  <a:srgbClr val="2F3338"/>
                </a:solidFill>
                <a:latin typeface="Segoe UI"/>
              </a:rPr>
              <a:t>genClosedExpr</a:t>
            </a:r>
            <a:r>
              <a:rPr sz="2000" b="0" i="0" dirty="0">
                <a:solidFill>
                  <a:srgbClr val="2F3338"/>
                </a:solidFill>
                <a:latin typeface="Segoe UI"/>
              </a:rPr>
              <a:t>, </a:t>
            </a:r>
            <a:r>
              <a:rPr sz="2000" b="0" i="0" dirty="0" err="1">
                <a:solidFill>
                  <a:srgbClr val="2F3338"/>
                </a:solidFill>
                <a:latin typeface="Segoe UI"/>
              </a:rPr>
              <a:t>genEnvFor</a:t>
            </a:r>
            <a:endParaRPr sz="2000" b="0" i="0" dirty="0">
              <a:solidFill>
                <a:srgbClr val="2F3338"/>
              </a:solidFill>
              <a:latin typeface="Segoe UI"/>
            </a:endParaRP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0" i="0" dirty="0">
                <a:solidFill>
                  <a:srgbClr val="2F3338"/>
                </a:solidFill>
                <a:latin typeface="Segoe UI"/>
              </a:rPr>
              <a:t>- Cele 16 </a:t>
            </a:r>
            <a:r>
              <a:rPr sz="2000" b="0" i="0" dirty="0" err="1" smtClean="0">
                <a:solidFill>
                  <a:srgbClr val="2F3338"/>
                </a:solidFill>
                <a:latin typeface="Segoe UI"/>
              </a:rPr>
              <a:t>propriet</a:t>
            </a:r>
            <a:r>
              <a:rPr lang="ro-RO" sz="2000" b="0" i="0" dirty="0" smtClean="0">
                <a:solidFill>
                  <a:srgbClr val="2F3338"/>
                </a:solidFill>
                <a:latin typeface="Segoe UI"/>
              </a:rPr>
              <a:t>ă</a:t>
            </a:r>
            <a:r>
              <a:rPr lang="ro-RO" sz="2000" dirty="0">
                <a:solidFill>
                  <a:srgbClr val="2F3338"/>
                </a:solidFill>
                <a:latin typeface="Segoe UI"/>
              </a:rPr>
              <a:t>ț</a:t>
            </a:r>
            <a:r>
              <a:rPr sz="2000" b="0" i="0" dirty="0" smtClean="0">
                <a:solidFill>
                  <a:srgbClr val="2F3338"/>
                </a:solidFill>
                <a:latin typeface="Segoe UI"/>
              </a:rPr>
              <a:t>i </a:t>
            </a:r>
            <a:r>
              <a:rPr sz="2000" b="0" i="0" dirty="0" err="1">
                <a:solidFill>
                  <a:srgbClr val="2F3338"/>
                </a:solidFill>
                <a:latin typeface="Segoe UI"/>
              </a:rPr>
              <a:t>formale</a:t>
            </a:r>
            <a:r>
              <a:rPr sz="20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lang="ro-RO" sz="2000" dirty="0" err="1">
                <a:solidFill>
                  <a:srgbClr val="2F3338"/>
                </a:solidFill>
                <a:latin typeface="Segoe UI"/>
              </a:rPr>
              <a:t>ș</a:t>
            </a:r>
            <a:r>
              <a:rPr sz="2000" b="0" i="0" dirty="0" smtClean="0">
                <a:solidFill>
                  <a:srgbClr val="2F3338"/>
                </a:solidFill>
                <a:latin typeface="Segoe UI"/>
              </a:rPr>
              <a:t>i </a:t>
            </a:r>
            <a:r>
              <a:rPr sz="2000" b="0" i="0" dirty="0" err="1">
                <a:solidFill>
                  <a:srgbClr val="2F3338"/>
                </a:solidFill>
                <a:latin typeface="Segoe UI"/>
              </a:rPr>
              <a:t>rezultatele</a:t>
            </a:r>
            <a:r>
              <a:rPr sz="20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2000" b="0" i="0" dirty="0" err="1">
                <a:solidFill>
                  <a:srgbClr val="2F3338"/>
                </a:solidFill>
                <a:latin typeface="Segoe UI"/>
              </a:rPr>
              <a:t>experimentale</a:t>
            </a:r>
            <a:endParaRPr sz="2000" b="0" i="0" dirty="0">
              <a:solidFill>
                <a:srgbClr val="2F3338"/>
              </a:solidFill>
              <a:latin typeface="Segoe UI"/>
            </a:endParaRP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0" i="0" dirty="0">
                <a:solidFill>
                  <a:srgbClr val="2F3338"/>
                </a:solidFill>
                <a:latin typeface="Segoe UI"/>
              </a:rPr>
              <a:t>- </a:t>
            </a:r>
            <a:r>
              <a:rPr sz="2000" b="0" i="0" dirty="0" err="1">
                <a:solidFill>
                  <a:srgbClr val="2F3338"/>
                </a:solidFill>
                <a:latin typeface="Segoe UI"/>
              </a:rPr>
              <a:t>Avantaje</a:t>
            </a:r>
            <a:r>
              <a:rPr sz="2000" b="0" i="0" dirty="0">
                <a:solidFill>
                  <a:srgbClr val="2F3338"/>
                </a:solidFill>
                <a:latin typeface="Segoe UI"/>
              </a:rPr>
              <a:t>, </a:t>
            </a:r>
            <a:r>
              <a:rPr sz="2000" b="0" i="0" dirty="0" smtClean="0">
                <a:solidFill>
                  <a:srgbClr val="2F3338"/>
                </a:solidFill>
                <a:latin typeface="Segoe UI"/>
              </a:rPr>
              <a:t>limit</a:t>
            </a:r>
            <a:r>
              <a:rPr lang="ro-RO" sz="2000" b="0" i="0" dirty="0" smtClean="0">
                <a:solidFill>
                  <a:srgbClr val="2F3338"/>
                </a:solidFill>
                <a:latin typeface="Segoe UI"/>
              </a:rPr>
              <a:t>ă</a:t>
            </a:r>
            <a:r>
              <a:rPr sz="2000" b="0" i="0" dirty="0" err="1" smtClean="0">
                <a:solidFill>
                  <a:srgbClr val="2F3338"/>
                </a:solidFill>
                <a:latin typeface="Segoe UI"/>
              </a:rPr>
              <a:t>ri</a:t>
            </a:r>
            <a:r>
              <a:rPr sz="2000" b="0" i="0" dirty="0">
                <a:solidFill>
                  <a:srgbClr val="2F3338"/>
                </a:solidFill>
                <a:latin typeface="Segoe UI"/>
              </a:rPr>
              <a:t>, </a:t>
            </a:r>
            <a:r>
              <a:rPr sz="2000" b="0" i="0" dirty="0" err="1" smtClean="0">
                <a:solidFill>
                  <a:srgbClr val="2F3338"/>
                </a:solidFill>
                <a:latin typeface="Segoe UI"/>
              </a:rPr>
              <a:t>direc</a:t>
            </a:r>
            <a:r>
              <a:rPr lang="ro-RO" sz="2000" b="0" i="0" dirty="0" smtClean="0">
                <a:solidFill>
                  <a:srgbClr val="2F3338"/>
                </a:solidFill>
                <a:latin typeface="Segoe UI"/>
              </a:rPr>
              <a:t>ț</a:t>
            </a:r>
            <a:r>
              <a:rPr sz="2000" b="0" i="0" dirty="0" smtClean="0">
                <a:solidFill>
                  <a:srgbClr val="2F3338"/>
                </a:solidFill>
                <a:latin typeface="Segoe UI"/>
              </a:rPr>
              <a:t>ii </a:t>
            </a:r>
            <a:r>
              <a:rPr sz="2000" b="0" i="0" dirty="0" err="1">
                <a:solidFill>
                  <a:srgbClr val="2F3338"/>
                </a:solidFill>
                <a:latin typeface="Segoe UI"/>
              </a:rPr>
              <a:t>viitoare</a:t>
            </a:r>
            <a:r>
              <a:rPr sz="20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lang="ro-RO" sz="2000" dirty="0" err="1">
                <a:solidFill>
                  <a:srgbClr val="2F3338"/>
                </a:solidFill>
                <a:latin typeface="Segoe UI"/>
              </a:rPr>
              <a:t>ș</a:t>
            </a:r>
            <a:r>
              <a:rPr sz="2000" b="0" i="0" dirty="0" smtClean="0">
                <a:solidFill>
                  <a:srgbClr val="2F3338"/>
                </a:solidFill>
                <a:latin typeface="Segoe UI"/>
              </a:rPr>
              <a:t>i </a:t>
            </a:r>
            <a:r>
              <a:rPr sz="2000" b="0" i="0" dirty="0" err="1">
                <a:solidFill>
                  <a:srgbClr val="2F3338"/>
                </a:solidFill>
                <a:latin typeface="Segoe UI"/>
              </a:rPr>
              <a:t>concluzii</a:t>
            </a:r>
            <a:endParaRPr sz="2000" b="0" i="0" dirty="0">
              <a:solidFill>
                <a:srgbClr val="2F3338"/>
              </a:solidFill>
              <a:latin typeface="Segoe U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o-RO" sz="3500" dirty="0" smtClean="0">
                <a:solidFill>
                  <a:srgbClr val="2F3338"/>
                </a:solidFill>
                <a:latin typeface="Bookman Old Style (Headings)"/>
              </a:rPr>
              <a:t>De </a:t>
            </a:r>
            <a:r>
              <a:rPr sz="3500" dirty="0" err="1" smtClean="0">
                <a:solidFill>
                  <a:srgbClr val="2F3338"/>
                </a:solidFill>
                <a:latin typeface="Bookman Old Style (Headings)"/>
              </a:rPr>
              <a:t>ce</a:t>
            </a:r>
            <a:r>
              <a:rPr sz="3500" dirty="0" smtClean="0">
                <a:solidFill>
                  <a:srgbClr val="2F3338"/>
                </a:solidFill>
                <a:latin typeface="Bookman Old Style (Headings)"/>
              </a:rPr>
              <a:t> </a:t>
            </a:r>
            <a:r>
              <a:rPr sz="3500" dirty="0" err="1">
                <a:solidFill>
                  <a:srgbClr val="2F3338"/>
                </a:solidFill>
                <a:latin typeface="Bookman Old Style (Headings)"/>
              </a:rPr>
              <a:t>avem</a:t>
            </a:r>
            <a:r>
              <a:rPr sz="3500" dirty="0">
                <a:solidFill>
                  <a:srgbClr val="2F3338"/>
                </a:solidFill>
                <a:latin typeface="Bookman Old Style (Headings)"/>
              </a:rPr>
              <a:t> </a:t>
            </a:r>
            <a:r>
              <a:rPr sz="3500" dirty="0" err="1">
                <a:solidFill>
                  <a:srgbClr val="2F3338"/>
                </a:solidFill>
                <a:latin typeface="Bookman Old Style (Headings)"/>
              </a:rPr>
              <a:t>nevoie</a:t>
            </a:r>
            <a:r>
              <a:rPr sz="3500" dirty="0">
                <a:solidFill>
                  <a:srgbClr val="2F3338"/>
                </a:solidFill>
                <a:latin typeface="Bookman Old Style (Headings)"/>
              </a:rPr>
              <a:t> de </a:t>
            </a:r>
            <a:r>
              <a:rPr sz="3500" dirty="0" err="1">
                <a:solidFill>
                  <a:srgbClr val="2F3338"/>
                </a:solidFill>
                <a:latin typeface="Bookman Old Style (Headings)"/>
              </a:rPr>
              <a:t>metode</a:t>
            </a:r>
            <a:r>
              <a:rPr sz="3500" dirty="0">
                <a:solidFill>
                  <a:srgbClr val="2F3338"/>
                </a:solidFill>
                <a:latin typeface="Bookman Old Style (Headings)"/>
              </a:rPr>
              <a:t> </a:t>
            </a:r>
            <a:r>
              <a:rPr sz="3500" dirty="0" err="1" smtClean="0">
                <a:solidFill>
                  <a:srgbClr val="2F3338"/>
                </a:solidFill>
                <a:latin typeface="Bookman Old Style (Headings)"/>
              </a:rPr>
              <a:t>formale</a:t>
            </a:r>
            <a:r>
              <a:rPr lang="ro-RO" sz="3500" dirty="0" smtClean="0">
                <a:solidFill>
                  <a:srgbClr val="2F3338"/>
                </a:solidFill>
                <a:latin typeface="Bookman Old Style (Headings)"/>
              </a:rPr>
              <a:t>?</a:t>
            </a:r>
            <a:endParaRPr sz="3500" dirty="0">
              <a:solidFill>
                <a:srgbClr val="2F3338"/>
              </a:solidFill>
              <a:latin typeface="Bookman Old Style (Headings)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097280" y="2001520"/>
            <a:ext cx="10058400" cy="8566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lang="ro-RO" sz="1600" dirty="0">
                <a:solidFill>
                  <a:srgbClr val="2F3338"/>
                </a:solidFill>
                <a:latin typeface="Consolas" panose="020B0609020204030204" pitchFamily="49" charset="0"/>
              </a:rPr>
              <a:t>Î</a:t>
            </a:r>
            <a:r>
              <a:rPr sz="1600" b="0" i="0" dirty="0" smtClean="0">
                <a:solidFill>
                  <a:srgbClr val="2F3338"/>
                </a:solidFill>
                <a:latin typeface="Consolas" panose="020B0609020204030204" pitchFamily="49" charset="0"/>
              </a:rPr>
              <a:t>n </a:t>
            </a:r>
            <a:r>
              <a:rPr sz="1600" b="0" i="0" dirty="0" err="1">
                <a:solidFill>
                  <a:srgbClr val="2F3338"/>
                </a:solidFill>
                <a:latin typeface="Consolas" panose="020B0609020204030204" pitchFamily="49" charset="0"/>
              </a:rPr>
              <a:t>proiecte</a:t>
            </a:r>
            <a:r>
              <a:rPr sz="1600" b="0" i="0" dirty="0">
                <a:solidFill>
                  <a:srgbClr val="2F3338"/>
                </a:solidFill>
                <a:latin typeface="Consolas" panose="020B0609020204030204" pitchFamily="49" charset="0"/>
              </a:rPr>
              <a:t> </a:t>
            </a:r>
            <a:r>
              <a:rPr sz="1600" b="0" i="0" dirty="0" err="1">
                <a:solidFill>
                  <a:srgbClr val="2F3338"/>
                </a:solidFill>
                <a:latin typeface="Consolas" panose="020B0609020204030204" pitchFamily="49" charset="0"/>
              </a:rPr>
              <a:t>reale</a:t>
            </a:r>
            <a:r>
              <a:rPr sz="1600" b="0" i="0" dirty="0">
                <a:solidFill>
                  <a:srgbClr val="2F3338"/>
                </a:solidFill>
                <a:latin typeface="Consolas" panose="020B0609020204030204" pitchFamily="49" charset="0"/>
              </a:rPr>
              <a:t>, </a:t>
            </a:r>
            <a:r>
              <a:rPr sz="1600" b="0" i="0" dirty="0" err="1">
                <a:solidFill>
                  <a:srgbClr val="2F3338"/>
                </a:solidFill>
                <a:latin typeface="Consolas" panose="020B0609020204030204" pitchFamily="49" charset="0"/>
              </a:rPr>
              <a:t>codul</a:t>
            </a:r>
            <a:r>
              <a:rPr sz="1600" b="0" i="0" dirty="0">
                <a:solidFill>
                  <a:srgbClr val="2F3338"/>
                </a:solidFill>
                <a:latin typeface="Consolas" panose="020B0609020204030204" pitchFamily="49" charset="0"/>
              </a:rPr>
              <a:t> </a:t>
            </a:r>
            <a:r>
              <a:rPr sz="1600" b="0" i="0" dirty="0" err="1">
                <a:solidFill>
                  <a:srgbClr val="2F3338"/>
                </a:solidFill>
                <a:latin typeface="Consolas" panose="020B0609020204030204" pitchFamily="49" charset="0"/>
              </a:rPr>
              <a:t>poate</a:t>
            </a:r>
            <a:r>
              <a:rPr sz="1600" b="0" i="0" dirty="0">
                <a:solidFill>
                  <a:srgbClr val="2F3338"/>
                </a:solidFill>
                <a:latin typeface="Consolas" panose="020B0609020204030204" pitchFamily="49" charset="0"/>
              </a:rPr>
              <a:t> </a:t>
            </a:r>
            <a:r>
              <a:rPr sz="1600" b="0" i="0" dirty="0" smtClean="0">
                <a:solidFill>
                  <a:srgbClr val="2F3338"/>
                </a:solidFill>
                <a:latin typeface="Consolas" panose="020B0609020204030204" pitchFamily="49" charset="0"/>
              </a:rPr>
              <a:t>p</a:t>
            </a:r>
            <a:r>
              <a:rPr lang="ro-RO" sz="1600" b="0" i="0" dirty="0" smtClean="0">
                <a:solidFill>
                  <a:srgbClr val="2F3338"/>
                </a:solidFill>
                <a:latin typeface="Consolas" panose="020B0609020204030204" pitchFamily="49" charset="0"/>
              </a:rPr>
              <a:t>ă</a:t>
            </a:r>
            <a:r>
              <a:rPr sz="1600" b="0" i="0" dirty="0" err="1" smtClean="0">
                <a:solidFill>
                  <a:srgbClr val="2F3338"/>
                </a:solidFill>
                <a:latin typeface="Consolas" panose="020B0609020204030204" pitchFamily="49" charset="0"/>
              </a:rPr>
              <a:t>rea</a:t>
            </a:r>
            <a:r>
              <a:rPr sz="1600" b="0" i="0" dirty="0" smtClean="0">
                <a:solidFill>
                  <a:srgbClr val="2F3338"/>
                </a:solidFill>
                <a:latin typeface="Consolas" panose="020B0609020204030204" pitchFamily="49" charset="0"/>
              </a:rPr>
              <a:t> </a:t>
            </a:r>
            <a:r>
              <a:rPr sz="1600" b="0" i="0" dirty="0" err="1">
                <a:solidFill>
                  <a:srgbClr val="2F3338"/>
                </a:solidFill>
                <a:latin typeface="Consolas" panose="020B0609020204030204" pitchFamily="49" charset="0"/>
              </a:rPr>
              <a:t>corect</a:t>
            </a:r>
            <a:r>
              <a:rPr sz="1600" b="0" i="0" dirty="0">
                <a:solidFill>
                  <a:srgbClr val="2F3338"/>
                </a:solidFill>
                <a:latin typeface="Consolas" panose="020B0609020204030204" pitchFamily="49" charset="0"/>
              </a:rPr>
              <a:t> pe </a:t>
            </a:r>
            <a:r>
              <a:rPr sz="1600" b="0" i="0" dirty="0" err="1">
                <a:solidFill>
                  <a:srgbClr val="2F3338"/>
                </a:solidFill>
                <a:latin typeface="Consolas" panose="020B0609020204030204" pitchFamily="49" charset="0"/>
              </a:rPr>
              <a:t>exemplele</a:t>
            </a:r>
            <a:r>
              <a:rPr sz="1600" b="0" i="0" dirty="0">
                <a:solidFill>
                  <a:srgbClr val="2F3338"/>
                </a:solidFill>
                <a:latin typeface="Consolas" panose="020B0609020204030204" pitchFamily="49" charset="0"/>
              </a:rPr>
              <a:t> </a:t>
            </a:r>
            <a:r>
              <a:rPr sz="1600" b="0" i="0" dirty="0" err="1">
                <a:solidFill>
                  <a:srgbClr val="2F3338"/>
                </a:solidFill>
                <a:latin typeface="Consolas" panose="020B0609020204030204" pitchFamily="49" charset="0"/>
              </a:rPr>
              <a:t>alese</a:t>
            </a:r>
            <a:r>
              <a:rPr sz="1600" b="0" i="0" dirty="0">
                <a:solidFill>
                  <a:srgbClr val="2F3338"/>
                </a:solidFill>
                <a:latin typeface="Consolas" panose="020B0609020204030204" pitchFamily="49" charset="0"/>
              </a:rPr>
              <a:t> manual, </a:t>
            </a:r>
            <a:r>
              <a:rPr sz="1600" b="0" i="0" dirty="0" err="1">
                <a:solidFill>
                  <a:srgbClr val="2F3338"/>
                </a:solidFill>
                <a:latin typeface="Consolas" panose="020B0609020204030204" pitchFamily="49" charset="0"/>
              </a:rPr>
              <a:t>dar</a:t>
            </a:r>
            <a:r>
              <a:rPr sz="1600" b="0" i="0" dirty="0">
                <a:solidFill>
                  <a:srgbClr val="2F3338"/>
                </a:solidFill>
                <a:latin typeface="Consolas" panose="020B0609020204030204" pitchFamily="49" charset="0"/>
              </a:rPr>
              <a:t> </a:t>
            </a:r>
            <a:r>
              <a:rPr sz="1600" b="0" i="0" dirty="0" smtClean="0">
                <a:solidFill>
                  <a:srgbClr val="2F3338"/>
                </a:solidFill>
                <a:latin typeface="Consolas" panose="020B0609020204030204" pitchFamily="49" charset="0"/>
              </a:rPr>
              <a:t>s</a:t>
            </a:r>
            <a:r>
              <a:rPr lang="ro-RO" sz="1600" b="0" i="0" dirty="0" smtClean="0">
                <a:solidFill>
                  <a:srgbClr val="2F3338"/>
                </a:solidFill>
                <a:latin typeface="Consolas" panose="020B0609020204030204" pitchFamily="49" charset="0"/>
              </a:rPr>
              <a:t>ă</a:t>
            </a:r>
            <a:r>
              <a:rPr sz="1600" b="0" i="0" dirty="0" smtClean="0">
                <a:solidFill>
                  <a:srgbClr val="2F3338"/>
                </a:solidFill>
                <a:latin typeface="Consolas" panose="020B0609020204030204" pitchFamily="49" charset="0"/>
              </a:rPr>
              <a:t> e</a:t>
            </a:r>
            <a:r>
              <a:rPr lang="ro-RO" sz="1600" b="0" i="0" dirty="0" smtClean="0">
                <a:solidFill>
                  <a:srgbClr val="2F3338"/>
                </a:solidFill>
                <a:latin typeface="Consolas" panose="020B0609020204030204" pitchFamily="49" charset="0"/>
              </a:rPr>
              <a:t>ș</a:t>
            </a:r>
            <a:r>
              <a:rPr sz="1600" b="0" i="0" dirty="0" err="1" smtClean="0">
                <a:solidFill>
                  <a:srgbClr val="2F3338"/>
                </a:solidFill>
                <a:latin typeface="Consolas" panose="020B0609020204030204" pitchFamily="49" charset="0"/>
              </a:rPr>
              <a:t>ueze</a:t>
            </a:r>
            <a:r>
              <a:rPr sz="1600" b="0" i="0" dirty="0" smtClean="0">
                <a:solidFill>
                  <a:srgbClr val="2F3338"/>
                </a:solidFill>
                <a:latin typeface="Consolas" panose="020B0609020204030204" pitchFamily="49" charset="0"/>
              </a:rPr>
              <a:t> </a:t>
            </a:r>
            <a:r>
              <a:rPr sz="1600" b="0" i="0" dirty="0">
                <a:solidFill>
                  <a:srgbClr val="2F3338"/>
                </a:solidFill>
                <a:latin typeface="Consolas" panose="020B0609020204030204" pitchFamily="49" charset="0"/>
              </a:rPr>
              <a:t>pe </a:t>
            </a:r>
            <a:r>
              <a:rPr sz="1600" b="0" i="0" dirty="0" err="1">
                <a:solidFill>
                  <a:srgbClr val="2F3338"/>
                </a:solidFill>
                <a:latin typeface="Consolas" panose="020B0609020204030204" pitchFamily="49" charset="0"/>
              </a:rPr>
              <a:t>cazuri</a:t>
            </a:r>
            <a:r>
              <a:rPr sz="1600" b="0" i="0" dirty="0">
                <a:solidFill>
                  <a:srgbClr val="2F3338"/>
                </a:solidFill>
                <a:latin typeface="Consolas" panose="020B0609020204030204" pitchFamily="49" charset="0"/>
              </a:rPr>
              <a:t> </a:t>
            </a:r>
            <a:r>
              <a:rPr sz="1600" b="0" i="0" dirty="0" smtClean="0">
                <a:solidFill>
                  <a:srgbClr val="2F3338"/>
                </a:solidFill>
                <a:latin typeface="Consolas" panose="020B0609020204030204" pitchFamily="49" charset="0"/>
              </a:rPr>
              <a:t>limit</a:t>
            </a:r>
            <a:r>
              <a:rPr lang="ro-RO" sz="1600" b="0" i="0" dirty="0" smtClean="0">
                <a:solidFill>
                  <a:srgbClr val="2F3338"/>
                </a:solidFill>
                <a:latin typeface="Consolas" panose="020B0609020204030204" pitchFamily="49" charset="0"/>
              </a:rPr>
              <a:t>ă</a:t>
            </a:r>
            <a:r>
              <a:rPr sz="1600" b="0" i="0" dirty="0" smtClean="0">
                <a:solidFill>
                  <a:srgbClr val="2F3338"/>
                </a:solidFill>
                <a:latin typeface="Consolas" panose="020B0609020204030204" pitchFamily="49" charset="0"/>
              </a:rPr>
              <a:t>.</a:t>
            </a:r>
            <a:endParaRPr sz="1600" b="0" i="0" dirty="0">
              <a:solidFill>
                <a:srgbClr val="2F3338"/>
              </a:solidFill>
              <a:latin typeface="Consolas" panose="020B0609020204030204" pitchFamily="49" charset="0"/>
            </a:endParaRP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0" i="0" dirty="0" err="1">
                <a:solidFill>
                  <a:srgbClr val="2F3338"/>
                </a:solidFill>
                <a:latin typeface="Consolas" panose="020B0609020204030204" pitchFamily="49" charset="0"/>
              </a:rPr>
              <a:t>Metodele</a:t>
            </a:r>
            <a:r>
              <a:rPr sz="1600" b="0" i="0" dirty="0">
                <a:solidFill>
                  <a:srgbClr val="2F3338"/>
                </a:solidFill>
                <a:latin typeface="Consolas" panose="020B0609020204030204" pitchFamily="49" charset="0"/>
              </a:rPr>
              <a:t> </a:t>
            </a:r>
            <a:r>
              <a:rPr sz="1600" b="0" i="0" dirty="0" err="1">
                <a:solidFill>
                  <a:srgbClr val="2F3338"/>
                </a:solidFill>
                <a:latin typeface="Consolas" panose="020B0609020204030204" pitchFamily="49" charset="0"/>
              </a:rPr>
              <a:t>formale</a:t>
            </a:r>
            <a:r>
              <a:rPr sz="1600" b="0" i="0" dirty="0">
                <a:solidFill>
                  <a:srgbClr val="2F3338"/>
                </a:solidFill>
                <a:latin typeface="Consolas" panose="020B0609020204030204" pitchFamily="49" charset="0"/>
              </a:rPr>
              <a:t> ne </a:t>
            </a:r>
            <a:r>
              <a:rPr sz="1600" b="0" i="0" dirty="0" err="1" smtClean="0">
                <a:solidFill>
                  <a:srgbClr val="2F3338"/>
                </a:solidFill>
                <a:latin typeface="Consolas" panose="020B0609020204030204" pitchFamily="49" charset="0"/>
              </a:rPr>
              <a:t>ajut</a:t>
            </a:r>
            <a:r>
              <a:rPr lang="ro-RO" sz="1600" b="0" i="0" dirty="0" smtClean="0">
                <a:solidFill>
                  <a:srgbClr val="2F3338"/>
                </a:solidFill>
                <a:latin typeface="Consolas" panose="020B0609020204030204" pitchFamily="49" charset="0"/>
              </a:rPr>
              <a:t>ă</a:t>
            </a:r>
            <a:r>
              <a:rPr sz="1600" b="0" i="0" dirty="0" smtClean="0">
                <a:solidFill>
                  <a:srgbClr val="2F3338"/>
                </a:solidFill>
                <a:latin typeface="Consolas" panose="020B0609020204030204" pitchFamily="49" charset="0"/>
              </a:rPr>
              <a:t> s</a:t>
            </a:r>
            <a:r>
              <a:rPr lang="ro-RO" sz="1600" b="0" i="0" dirty="0" smtClean="0">
                <a:solidFill>
                  <a:srgbClr val="2F3338"/>
                </a:solidFill>
                <a:latin typeface="Consolas" panose="020B0609020204030204" pitchFamily="49" charset="0"/>
              </a:rPr>
              <a:t>ă</a:t>
            </a:r>
            <a:r>
              <a:rPr sz="1600" b="0" i="0" dirty="0" smtClean="0">
                <a:solidFill>
                  <a:srgbClr val="2F3338"/>
                </a:solidFill>
                <a:latin typeface="Consolas" panose="020B0609020204030204" pitchFamily="49" charset="0"/>
              </a:rPr>
              <a:t> </a:t>
            </a:r>
            <a:r>
              <a:rPr sz="1600" b="0" i="0" dirty="0" err="1">
                <a:solidFill>
                  <a:srgbClr val="2F3338"/>
                </a:solidFill>
                <a:latin typeface="Consolas" panose="020B0609020204030204" pitchFamily="49" charset="0"/>
              </a:rPr>
              <a:t>definim</a:t>
            </a:r>
            <a:r>
              <a:rPr sz="1600" b="0" i="0" dirty="0">
                <a:solidFill>
                  <a:srgbClr val="2F3338"/>
                </a:solidFill>
                <a:latin typeface="Consolas" panose="020B0609020204030204" pitchFamily="49" charset="0"/>
              </a:rPr>
              <a:t> </a:t>
            </a:r>
            <a:r>
              <a:rPr sz="1600" b="0" i="0" dirty="0" err="1">
                <a:solidFill>
                  <a:srgbClr val="2F3338"/>
                </a:solidFill>
                <a:latin typeface="Consolas" panose="020B0609020204030204" pitchFamily="49" charset="0"/>
              </a:rPr>
              <a:t>clar</a:t>
            </a:r>
            <a:r>
              <a:rPr sz="1600" b="0" i="0" dirty="0">
                <a:solidFill>
                  <a:srgbClr val="2F3338"/>
                </a:solidFill>
                <a:latin typeface="Consolas" panose="020B0609020204030204" pitchFamily="49" charset="0"/>
              </a:rPr>
              <a:t> </a:t>
            </a:r>
            <a:r>
              <a:rPr sz="1600" b="0" i="0" dirty="0" err="1">
                <a:solidFill>
                  <a:srgbClr val="2F3338"/>
                </a:solidFill>
                <a:latin typeface="Consolas" panose="020B0609020204030204" pitchFamily="49" charset="0"/>
              </a:rPr>
              <a:t>ce</a:t>
            </a:r>
            <a:r>
              <a:rPr sz="1600" b="0" i="0" dirty="0">
                <a:solidFill>
                  <a:srgbClr val="2F3338"/>
                </a:solidFill>
                <a:latin typeface="Consolas" panose="020B0609020204030204" pitchFamily="49" charset="0"/>
              </a:rPr>
              <a:t> </a:t>
            </a:r>
            <a:r>
              <a:rPr lang="ro-RO" sz="1600" dirty="0">
                <a:solidFill>
                  <a:srgbClr val="2F3338"/>
                </a:solidFill>
                <a:latin typeface="Consolas" panose="020B0609020204030204" pitchFamily="49" charset="0"/>
              </a:rPr>
              <a:t>î</a:t>
            </a:r>
            <a:r>
              <a:rPr sz="1600" b="0" i="0" dirty="0" err="1" smtClean="0">
                <a:solidFill>
                  <a:srgbClr val="2F3338"/>
                </a:solidFill>
                <a:latin typeface="Consolas" panose="020B0609020204030204" pitchFamily="49" charset="0"/>
              </a:rPr>
              <a:t>nseamn</a:t>
            </a:r>
            <a:r>
              <a:rPr lang="ro-RO" sz="1600" b="0" i="0" dirty="0" smtClean="0">
                <a:solidFill>
                  <a:srgbClr val="2F3338"/>
                </a:solidFill>
                <a:latin typeface="Consolas" panose="020B0609020204030204" pitchFamily="49" charset="0"/>
              </a:rPr>
              <a:t>ă</a:t>
            </a:r>
            <a:r>
              <a:rPr sz="1600" b="0" i="0" dirty="0" smtClean="0">
                <a:solidFill>
                  <a:srgbClr val="2F3338"/>
                </a:solidFill>
                <a:latin typeface="Consolas" panose="020B0609020204030204" pitchFamily="49" charset="0"/>
              </a:rPr>
              <a:t> </a:t>
            </a:r>
            <a:r>
              <a:rPr sz="1600" b="0" i="0" dirty="0" err="1">
                <a:solidFill>
                  <a:srgbClr val="2F3338"/>
                </a:solidFill>
                <a:latin typeface="Consolas" panose="020B0609020204030204" pitchFamily="49" charset="0"/>
              </a:rPr>
              <a:t>corectitudinea</a:t>
            </a:r>
            <a:r>
              <a:rPr sz="1600" b="0" i="0" dirty="0">
                <a:solidFill>
                  <a:srgbClr val="2F3338"/>
                </a:solidFill>
                <a:latin typeface="Consolas" panose="020B0609020204030204" pitchFamily="49" charset="0"/>
              </a:rPr>
              <a:t> </a:t>
            </a:r>
            <a:r>
              <a:rPr sz="1600" b="0" i="0" dirty="0" err="1">
                <a:solidFill>
                  <a:srgbClr val="2F3338"/>
                </a:solidFill>
                <a:latin typeface="Consolas" panose="020B0609020204030204" pitchFamily="49" charset="0"/>
              </a:rPr>
              <a:t>sistemului</a:t>
            </a:r>
            <a:r>
              <a:rPr sz="1600" b="0" i="0" dirty="0">
                <a:solidFill>
                  <a:srgbClr val="2F3338"/>
                </a:solidFill>
                <a:latin typeface="Consolas" panose="020B0609020204030204" pitchFamily="49" charset="0"/>
              </a:rPr>
              <a:t>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2946400"/>
            <a:ext cx="10058400" cy="2560320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4604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249680" y="3429000"/>
            <a:ext cx="10421620" cy="12772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b="0" i="0" dirty="0">
                <a:solidFill>
                  <a:srgbClr val="2F3338"/>
                </a:solidFill>
                <a:latin typeface="Segoe UI"/>
              </a:rPr>
              <a:t>- </a:t>
            </a:r>
            <a:r>
              <a:rPr lang="ro-RO" dirty="0" err="1">
                <a:solidFill>
                  <a:srgbClr val="2F3338"/>
                </a:solidFill>
                <a:latin typeface="Segoe UI"/>
              </a:rPr>
              <a:t>C</a:t>
            </a:r>
            <a:r>
              <a:rPr b="0" i="0" dirty="0" smtClean="0">
                <a:solidFill>
                  <a:srgbClr val="2F3338"/>
                </a:solidFill>
                <a:latin typeface="Segoe UI"/>
              </a:rPr>
              <a:t>e </a:t>
            </a:r>
            <a:r>
              <a:rPr b="0" i="0" dirty="0" err="1" smtClean="0">
                <a:solidFill>
                  <a:srgbClr val="2F3338"/>
                </a:solidFill>
                <a:latin typeface="Segoe UI"/>
              </a:rPr>
              <a:t>propriet</a:t>
            </a:r>
            <a:r>
              <a:rPr lang="ro-RO" b="0" i="0" dirty="0" smtClean="0">
                <a:solidFill>
                  <a:srgbClr val="2F3338"/>
                </a:solidFill>
                <a:latin typeface="Segoe UI"/>
              </a:rPr>
              <a:t>ă</a:t>
            </a:r>
            <a:r>
              <a:rPr lang="ro-RO" dirty="0">
                <a:solidFill>
                  <a:srgbClr val="2F3338"/>
                </a:solidFill>
                <a:latin typeface="Segoe UI"/>
              </a:rPr>
              <a:t>ț</a:t>
            </a:r>
            <a:r>
              <a:rPr b="0" i="0" dirty="0" smtClean="0">
                <a:solidFill>
                  <a:srgbClr val="2F3338"/>
                </a:solidFill>
                <a:latin typeface="Segoe UI"/>
              </a:rPr>
              <a:t>i </a:t>
            </a:r>
            <a:r>
              <a:rPr b="0" i="0" dirty="0" err="1">
                <a:solidFill>
                  <a:srgbClr val="2F3338"/>
                </a:solidFill>
                <a:latin typeface="Segoe UI"/>
              </a:rPr>
              <a:t>trebuie</a:t>
            </a:r>
            <a:r>
              <a:rPr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b="0" i="0" dirty="0" smtClean="0">
                <a:solidFill>
                  <a:srgbClr val="2F3338"/>
                </a:solidFill>
                <a:latin typeface="Segoe UI"/>
              </a:rPr>
              <a:t>s</a:t>
            </a:r>
            <a:r>
              <a:rPr lang="ro-RO" b="0" i="0" dirty="0" smtClean="0">
                <a:solidFill>
                  <a:srgbClr val="2F3338"/>
                </a:solidFill>
                <a:latin typeface="Segoe UI"/>
              </a:rPr>
              <a:t>ă</a:t>
            </a:r>
            <a:r>
              <a:rPr b="0" i="0" dirty="0" smtClean="0">
                <a:solidFill>
                  <a:srgbClr val="2F3338"/>
                </a:solidFill>
                <a:latin typeface="Segoe UI"/>
              </a:rPr>
              <a:t> </a:t>
            </a:r>
            <a:r>
              <a:rPr lang="ro-RO" dirty="0" smtClean="0">
                <a:solidFill>
                  <a:srgbClr val="2F3338"/>
                </a:solidFill>
                <a:latin typeface="Segoe UI"/>
              </a:rPr>
              <a:t>r</a:t>
            </a:r>
            <a:r>
              <a:rPr lang="ro-RO" dirty="0">
                <a:solidFill>
                  <a:srgbClr val="2F3338"/>
                </a:solidFill>
                <a:latin typeface="Segoe UI"/>
              </a:rPr>
              <a:t>ă</a:t>
            </a:r>
            <a:r>
              <a:rPr b="0" i="0" dirty="0" smtClean="0">
                <a:solidFill>
                  <a:srgbClr val="2F3338"/>
                </a:solidFill>
                <a:latin typeface="Segoe UI"/>
              </a:rPr>
              <a:t>m</a:t>
            </a:r>
            <a:r>
              <a:rPr lang="ro-RO" b="0" i="0" dirty="0" smtClean="0">
                <a:solidFill>
                  <a:srgbClr val="2F3338"/>
                </a:solidFill>
                <a:latin typeface="Segoe UI"/>
              </a:rPr>
              <a:t>â</a:t>
            </a:r>
            <a:r>
              <a:rPr b="0" i="0" dirty="0" smtClean="0">
                <a:solidFill>
                  <a:srgbClr val="2F3338"/>
                </a:solidFill>
                <a:latin typeface="Segoe UI"/>
              </a:rPr>
              <a:t>n</a:t>
            </a:r>
            <a:r>
              <a:rPr lang="ro-RO" b="0" i="0" dirty="0" smtClean="0">
                <a:solidFill>
                  <a:srgbClr val="2F3338"/>
                </a:solidFill>
                <a:latin typeface="Segoe UI"/>
              </a:rPr>
              <a:t>ă</a:t>
            </a:r>
            <a:r>
              <a:rPr b="0" i="0" dirty="0" smtClean="0">
                <a:solidFill>
                  <a:srgbClr val="2F3338"/>
                </a:solidFill>
                <a:latin typeface="Segoe UI"/>
              </a:rPr>
              <a:t> </a:t>
            </a:r>
            <a:r>
              <a:rPr b="0" i="0" dirty="0" err="1">
                <a:solidFill>
                  <a:srgbClr val="2F3338"/>
                </a:solidFill>
                <a:latin typeface="Segoe UI"/>
              </a:rPr>
              <a:t>adevarate</a:t>
            </a:r>
            <a:r>
              <a:rPr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b="0" i="0" dirty="0" err="1">
                <a:solidFill>
                  <a:srgbClr val="2F3338"/>
                </a:solidFill>
                <a:latin typeface="Segoe UI"/>
              </a:rPr>
              <a:t>pentru</a:t>
            </a:r>
            <a:r>
              <a:rPr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b="0" i="0" dirty="0" err="1">
                <a:solidFill>
                  <a:srgbClr val="2F3338"/>
                </a:solidFill>
                <a:latin typeface="Segoe UI"/>
              </a:rPr>
              <a:t>orice</a:t>
            </a:r>
            <a:r>
              <a:rPr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b="0" i="0" dirty="0" err="1">
                <a:solidFill>
                  <a:srgbClr val="2F3338"/>
                </a:solidFill>
                <a:latin typeface="Segoe UI"/>
              </a:rPr>
              <a:t>intrare</a:t>
            </a:r>
            <a:endParaRPr b="0" i="0" dirty="0">
              <a:solidFill>
                <a:srgbClr val="2F3338"/>
              </a:solidFill>
              <a:latin typeface="Segoe UI"/>
            </a:endParaRP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b="0" i="0" dirty="0">
                <a:solidFill>
                  <a:srgbClr val="2F3338"/>
                </a:solidFill>
                <a:latin typeface="Segoe UI"/>
              </a:rPr>
              <a:t>- </a:t>
            </a:r>
            <a:r>
              <a:rPr lang="ro-RO" dirty="0" err="1">
                <a:solidFill>
                  <a:srgbClr val="2F3338"/>
                </a:solidFill>
                <a:latin typeface="Segoe UI"/>
              </a:rPr>
              <a:t>C</a:t>
            </a:r>
            <a:r>
              <a:rPr b="0" i="0" dirty="0" smtClean="0">
                <a:solidFill>
                  <a:srgbClr val="2F3338"/>
                </a:solidFill>
                <a:latin typeface="Segoe UI"/>
              </a:rPr>
              <a:t>e </a:t>
            </a:r>
            <a:r>
              <a:rPr b="0" i="0" dirty="0" err="1" smtClean="0">
                <a:solidFill>
                  <a:srgbClr val="2F3338"/>
                </a:solidFill>
                <a:latin typeface="Segoe UI"/>
              </a:rPr>
              <a:t>invarian</a:t>
            </a:r>
            <a:r>
              <a:rPr lang="ro-RO" b="0" i="0" dirty="0" smtClean="0">
                <a:solidFill>
                  <a:srgbClr val="2F3338"/>
                </a:solidFill>
                <a:latin typeface="Segoe UI"/>
              </a:rPr>
              <a:t>ț</a:t>
            </a:r>
            <a:r>
              <a:rPr b="0" i="0" dirty="0" smtClean="0">
                <a:solidFill>
                  <a:srgbClr val="2F3338"/>
                </a:solidFill>
                <a:latin typeface="Segoe UI"/>
              </a:rPr>
              <a:t>i </a:t>
            </a:r>
            <a:r>
              <a:rPr b="0" i="0" dirty="0" err="1">
                <a:solidFill>
                  <a:srgbClr val="2F3338"/>
                </a:solidFill>
                <a:latin typeface="Segoe UI"/>
              </a:rPr>
              <a:t>semantici</a:t>
            </a:r>
            <a:r>
              <a:rPr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b="0" i="0" dirty="0" err="1">
                <a:solidFill>
                  <a:srgbClr val="2F3338"/>
                </a:solidFill>
                <a:latin typeface="Segoe UI"/>
              </a:rPr>
              <a:t>trebuie</a:t>
            </a:r>
            <a:r>
              <a:rPr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b="0" i="0" dirty="0" smtClean="0">
                <a:solidFill>
                  <a:srgbClr val="2F3338"/>
                </a:solidFill>
                <a:latin typeface="Segoe UI"/>
              </a:rPr>
              <a:t>p</a:t>
            </a:r>
            <a:r>
              <a:rPr lang="ro-RO" b="0" i="0" dirty="0" smtClean="0">
                <a:solidFill>
                  <a:srgbClr val="2F3338"/>
                </a:solidFill>
                <a:latin typeface="Segoe UI"/>
              </a:rPr>
              <a:t>ăs</a:t>
            </a:r>
            <a:r>
              <a:rPr b="0" i="0" dirty="0" err="1" smtClean="0">
                <a:solidFill>
                  <a:srgbClr val="2F3338"/>
                </a:solidFill>
                <a:latin typeface="Segoe UI"/>
              </a:rPr>
              <a:t>tra</a:t>
            </a:r>
            <a:r>
              <a:rPr lang="ro-RO" b="0" i="0" dirty="0" smtClean="0">
                <a:solidFill>
                  <a:srgbClr val="2F3338"/>
                </a:solidFill>
                <a:latin typeface="Segoe UI"/>
              </a:rPr>
              <a:t>ț</a:t>
            </a:r>
            <a:r>
              <a:rPr b="0" i="0" dirty="0" smtClean="0">
                <a:solidFill>
                  <a:srgbClr val="2F3338"/>
                </a:solidFill>
                <a:latin typeface="Segoe UI"/>
              </a:rPr>
              <a:t>i dup</a:t>
            </a:r>
            <a:r>
              <a:rPr lang="ro-RO" b="0" i="0" dirty="0" smtClean="0">
                <a:solidFill>
                  <a:srgbClr val="2F3338"/>
                </a:solidFill>
                <a:latin typeface="Segoe UI"/>
              </a:rPr>
              <a:t>ă</a:t>
            </a:r>
            <a:r>
              <a:rPr b="0" i="0" dirty="0" smtClean="0">
                <a:solidFill>
                  <a:srgbClr val="2F3338"/>
                </a:solidFill>
                <a:latin typeface="Segoe UI"/>
              </a:rPr>
              <a:t> transform</a:t>
            </a:r>
            <a:r>
              <a:rPr lang="ro-RO" b="0" i="0" dirty="0" smtClean="0">
                <a:solidFill>
                  <a:srgbClr val="2F3338"/>
                </a:solidFill>
                <a:latin typeface="Segoe UI"/>
              </a:rPr>
              <a:t>ă</a:t>
            </a:r>
            <a:r>
              <a:rPr b="0" i="0" dirty="0" err="1" smtClean="0">
                <a:solidFill>
                  <a:srgbClr val="2F3338"/>
                </a:solidFill>
                <a:latin typeface="Segoe UI"/>
              </a:rPr>
              <a:t>ri</a:t>
            </a:r>
            <a:r>
              <a:rPr b="0" i="0" dirty="0" smtClean="0">
                <a:solidFill>
                  <a:srgbClr val="2F3338"/>
                </a:solidFill>
                <a:latin typeface="Segoe UI"/>
              </a:rPr>
              <a:t> </a:t>
            </a:r>
            <a:r>
              <a:rPr b="0" i="0" dirty="0">
                <a:solidFill>
                  <a:srgbClr val="2F3338"/>
                </a:solidFill>
                <a:latin typeface="Segoe UI"/>
              </a:rPr>
              <a:t>(ex: </a:t>
            </a:r>
            <a:r>
              <a:rPr b="0" i="0" dirty="0" err="1">
                <a:solidFill>
                  <a:srgbClr val="2F3338"/>
                </a:solidFill>
                <a:latin typeface="Segoe UI"/>
              </a:rPr>
              <a:t>simplificare</a:t>
            </a:r>
            <a:r>
              <a:rPr b="0" i="0" dirty="0">
                <a:solidFill>
                  <a:srgbClr val="2F3338"/>
                </a:solidFill>
                <a:latin typeface="Segoe UI"/>
              </a:rPr>
              <a:t>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b="0" i="0" dirty="0">
                <a:solidFill>
                  <a:srgbClr val="2F3338"/>
                </a:solidFill>
                <a:latin typeface="Segoe UI"/>
              </a:rPr>
              <a:t>- </a:t>
            </a:r>
            <a:r>
              <a:rPr lang="ro-RO" dirty="0" err="1">
                <a:solidFill>
                  <a:srgbClr val="2F3338"/>
                </a:solidFill>
                <a:latin typeface="Segoe UI"/>
              </a:rPr>
              <a:t>C</a:t>
            </a:r>
            <a:r>
              <a:rPr b="0" i="0" dirty="0" smtClean="0">
                <a:solidFill>
                  <a:srgbClr val="2F3338"/>
                </a:solidFill>
                <a:latin typeface="Segoe UI"/>
              </a:rPr>
              <a:t>e </a:t>
            </a:r>
            <a:r>
              <a:rPr b="0" i="0" dirty="0" err="1" smtClean="0">
                <a:solidFill>
                  <a:srgbClr val="2F3338"/>
                </a:solidFill>
                <a:latin typeface="Segoe UI"/>
              </a:rPr>
              <a:t>garan</a:t>
            </a:r>
            <a:r>
              <a:rPr lang="ro-RO" b="0" i="0" dirty="0" smtClean="0">
                <a:solidFill>
                  <a:srgbClr val="2F3338"/>
                </a:solidFill>
                <a:latin typeface="Segoe UI"/>
              </a:rPr>
              <a:t>ț</a:t>
            </a:r>
            <a:r>
              <a:rPr b="0" i="0" dirty="0" smtClean="0">
                <a:solidFill>
                  <a:srgbClr val="2F3338"/>
                </a:solidFill>
                <a:latin typeface="Segoe UI"/>
              </a:rPr>
              <a:t>ii </a:t>
            </a:r>
            <a:r>
              <a:rPr b="0" i="0" dirty="0" err="1">
                <a:solidFill>
                  <a:srgbClr val="2F3338"/>
                </a:solidFill>
                <a:latin typeface="Segoe UI"/>
              </a:rPr>
              <a:t>vrem</a:t>
            </a:r>
            <a:r>
              <a:rPr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b="0" i="0" dirty="0" err="1">
                <a:solidFill>
                  <a:srgbClr val="2F3338"/>
                </a:solidFill>
                <a:latin typeface="Segoe UI"/>
              </a:rPr>
              <a:t>pentru</a:t>
            </a:r>
            <a:r>
              <a:rPr b="0" i="0" dirty="0">
                <a:solidFill>
                  <a:srgbClr val="2F3338"/>
                </a:solidFill>
                <a:latin typeface="Segoe UI"/>
              </a:rPr>
              <a:t> parser, evaluator </a:t>
            </a:r>
            <a:r>
              <a:rPr lang="ro-RO" dirty="0" err="1">
                <a:solidFill>
                  <a:srgbClr val="2F3338"/>
                </a:solidFill>
                <a:latin typeface="Segoe UI"/>
              </a:rPr>
              <a:t>ș</a:t>
            </a:r>
            <a:r>
              <a:rPr b="0" i="0" dirty="0" smtClean="0">
                <a:solidFill>
                  <a:srgbClr val="2F3338"/>
                </a:solidFill>
                <a:latin typeface="Segoe UI"/>
              </a:rPr>
              <a:t>i </a:t>
            </a:r>
            <a:r>
              <a:rPr b="0" i="0" dirty="0" err="1" smtClean="0">
                <a:solidFill>
                  <a:srgbClr val="2F3338"/>
                </a:solidFill>
                <a:latin typeface="Segoe UI"/>
              </a:rPr>
              <a:t>propriet</a:t>
            </a:r>
            <a:r>
              <a:rPr lang="ro-RO" b="0" i="0" dirty="0" smtClean="0">
                <a:solidFill>
                  <a:srgbClr val="2F3338"/>
                </a:solidFill>
                <a:latin typeface="Segoe UI"/>
              </a:rPr>
              <a:t>ă</a:t>
            </a:r>
            <a:r>
              <a:rPr lang="ro-RO" dirty="0">
                <a:solidFill>
                  <a:srgbClr val="2F3338"/>
                </a:solidFill>
                <a:latin typeface="Segoe UI"/>
              </a:rPr>
              <a:t>ț</a:t>
            </a:r>
            <a:r>
              <a:rPr b="0" i="0" dirty="0" err="1" smtClean="0">
                <a:solidFill>
                  <a:srgbClr val="2F3338"/>
                </a:solidFill>
                <a:latin typeface="Segoe UI"/>
              </a:rPr>
              <a:t>ile</a:t>
            </a:r>
            <a:r>
              <a:rPr b="0" i="0" dirty="0" smtClean="0">
                <a:solidFill>
                  <a:srgbClr val="2F3338"/>
                </a:solidFill>
                <a:latin typeface="Segoe UI"/>
              </a:rPr>
              <a:t> </a:t>
            </a:r>
            <a:r>
              <a:rPr b="0" i="0" dirty="0" err="1" smtClean="0">
                <a:solidFill>
                  <a:srgbClr val="2F3338"/>
                </a:solidFill>
                <a:latin typeface="Segoe UI"/>
              </a:rPr>
              <a:t>algebrice</a:t>
            </a:r>
            <a:endParaRPr b="0" i="0" dirty="0">
              <a:solidFill>
                <a:srgbClr val="2F3338"/>
              </a:solidFill>
              <a:latin typeface="Segoe UI"/>
            </a:endParaRP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b="0" i="0" dirty="0">
                <a:solidFill>
                  <a:srgbClr val="2F3338"/>
                </a:solidFill>
                <a:latin typeface="Segoe UI"/>
              </a:rPr>
              <a:t>- </a:t>
            </a:r>
            <a:r>
              <a:rPr lang="ro-RO" b="0" i="0" dirty="0" smtClean="0">
                <a:solidFill>
                  <a:srgbClr val="2F3338"/>
                </a:solidFill>
                <a:latin typeface="Segoe UI"/>
              </a:rPr>
              <a:t>C</a:t>
            </a:r>
            <a:r>
              <a:rPr b="0" i="0" dirty="0" smtClean="0">
                <a:solidFill>
                  <a:srgbClr val="2F3338"/>
                </a:solidFill>
                <a:latin typeface="Segoe UI"/>
              </a:rPr>
              <a:t>um valid</a:t>
            </a:r>
            <a:r>
              <a:rPr lang="ro-RO" b="0" i="0" dirty="0" smtClean="0">
                <a:solidFill>
                  <a:srgbClr val="2F3338"/>
                </a:solidFill>
                <a:latin typeface="Segoe UI"/>
              </a:rPr>
              <a:t>ă</a:t>
            </a:r>
            <a:r>
              <a:rPr b="0" i="0" dirty="0" smtClean="0">
                <a:solidFill>
                  <a:srgbClr val="2F3338"/>
                </a:solidFill>
                <a:latin typeface="Segoe UI"/>
              </a:rPr>
              <a:t>m </a:t>
            </a:r>
            <a:r>
              <a:rPr b="0" i="0" dirty="0" err="1">
                <a:solidFill>
                  <a:srgbClr val="2F3338"/>
                </a:solidFill>
                <a:latin typeface="Segoe UI"/>
              </a:rPr>
              <a:t>sistematic</a:t>
            </a:r>
            <a:r>
              <a:rPr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b="0" i="0" dirty="0" err="1">
                <a:solidFill>
                  <a:srgbClr val="2F3338"/>
                </a:solidFill>
                <a:latin typeface="Segoe UI"/>
              </a:rPr>
              <a:t>corectitudinea</a:t>
            </a:r>
            <a:r>
              <a:rPr b="0" i="0" dirty="0">
                <a:solidFill>
                  <a:srgbClr val="2F3338"/>
                </a:solidFill>
                <a:latin typeface="Segoe UI"/>
              </a:rPr>
              <a:t> pe o </a:t>
            </a:r>
            <a:r>
              <a:rPr b="0" i="0" dirty="0" err="1" smtClean="0">
                <a:solidFill>
                  <a:srgbClr val="2F3338"/>
                </a:solidFill>
                <a:latin typeface="Segoe UI"/>
              </a:rPr>
              <a:t>clas</a:t>
            </a:r>
            <a:r>
              <a:rPr lang="ro-RO" b="0" i="0" dirty="0" smtClean="0">
                <a:solidFill>
                  <a:srgbClr val="2F3338"/>
                </a:solidFill>
                <a:latin typeface="Segoe UI"/>
              </a:rPr>
              <a:t>ă</a:t>
            </a:r>
            <a:r>
              <a:rPr b="0" i="0" dirty="0" smtClean="0">
                <a:solidFill>
                  <a:srgbClr val="2F3338"/>
                </a:solidFill>
                <a:latin typeface="Segoe UI"/>
              </a:rPr>
              <a:t> </a:t>
            </a:r>
            <a:r>
              <a:rPr b="0" i="0" dirty="0">
                <a:solidFill>
                  <a:srgbClr val="2F3338"/>
                </a:solidFill>
                <a:latin typeface="Segoe UI"/>
              </a:rPr>
              <a:t>mare de </a:t>
            </a:r>
            <a:r>
              <a:rPr b="0" i="0" dirty="0" err="1">
                <a:solidFill>
                  <a:srgbClr val="2F3338"/>
                </a:solidFill>
                <a:latin typeface="Segoe UI"/>
              </a:rPr>
              <a:t>cazuri</a:t>
            </a:r>
            <a:endParaRPr b="0" i="0" dirty="0">
              <a:solidFill>
                <a:srgbClr val="2F3338"/>
              </a:solidFill>
              <a:latin typeface="Segoe U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ounded Rectangle 9"/>
          <p:cNvSpPr/>
          <p:nvPr/>
        </p:nvSpPr>
        <p:spPr>
          <a:xfrm>
            <a:off x="6454985" y="2784787"/>
            <a:ext cx="4480607" cy="1719072"/>
          </a:xfrm>
          <a:prstGeom prst="roundRect">
            <a:avLst/>
          </a:prstGeom>
          <a:solidFill>
            <a:srgbClr val="1E1E1E"/>
          </a:solidFill>
          <a:ln w="15240">
            <a:solidFill>
              <a:srgbClr val="2D2D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400" dirty="0" err="1">
                <a:solidFill>
                  <a:schemeClr val="tx1"/>
                </a:solidFill>
              </a:rPr>
              <a:t>Testare</a:t>
            </a:r>
            <a:r>
              <a:rPr sz="3400" dirty="0">
                <a:solidFill>
                  <a:schemeClr val="tx1"/>
                </a:solidFill>
              </a:rPr>
              <a:t> </a:t>
            </a:r>
            <a:r>
              <a:rPr sz="3400" dirty="0" err="1" smtClean="0">
                <a:solidFill>
                  <a:schemeClr val="tx1"/>
                </a:solidFill>
              </a:rPr>
              <a:t>clasic</a:t>
            </a:r>
            <a:r>
              <a:rPr lang="ro-RO" sz="3400" dirty="0" smtClean="0">
                <a:solidFill>
                  <a:schemeClr val="tx1"/>
                </a:solidFill>
              </a:rPr>
              <a:t>ă</a:t>
            </a:r>
            <a:r>
              <a:rPr sz="3400" dirty="0" smtClean="0">
                <a:solidFill>
                  <a:schemeClr val="tx1"/>
                </a:solidFill>
              </a:rPr>
              <a:t> </a:t>
            </a:r>
            <a:r>
              <a:rPr sz="3400" dirty="0">
                <a:solidFill>
                  <a:schemeClr val="tx1"/>
                </a:solidFill>
              </a:rPr>
              <a:t>vs. property-based testing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400" b="1" dirty="0" err="1">
                <a:solidFill>
                  <a:srgbClr val="1F4E79"/>
                </a:solidFill>
                <a:latin typeface="Segoe UI"/>
              </a:rPr>
              <a:t>Testare</a:t>
            </a:r>
            <a:r>
              <a:rPr lang="en-US" sz="2400" b="1" dirty="0">
                <a:solidFill>
                  <a:srgbClr val="1F4E79"/>
                </a:solidFill>
                <a:latin typeface="Segoe UI"/>
              </a:rPr>
              <a:t> </a:t>
            </a:r>
            <a:r>
              <a:rPr lang="en-US" sz="2400" b="1" dirty="0" err="1" smtClean="0">
                <a:solidFill>
                  <a:srgbClr val="1F4E79"/>
                </a:solidFill>
                <a:latin typeface="Segoe UI"/>
              </a:rPr>
              <a:t>clasic</a:t>
            </a:r>
            <a:r>
              <a:rPr lang="ro-RO" sz="2400" b="1" dirty="0" smtClean="0">
                <a:solidFill>
                  <a:srgbClr val="1F4E79"/>
                </a:solidFill>
                <a:latin typeface="Segoe UI"/>
              </a:rPr>
              <a:t>ă</a:t>
            </a:r>
            <a:endParaRPr lang="en-US" sz="2400" b="1" dirty="0">
              <a:solidFill>
                <a:srgbClr val="1F4E79"/>
              </a:solidFill>
              <a:latin typeface="Segoe UI"/>
            </a:endParaRP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400" b="1" dirty="0">
                <a:solidFill>
                  <a:srgbClr val="1F4E79"/>
                </a:solidFill>
                <a:latin typeface="Segoe UI"/>
              </a:rPr>
              <a:t>Property-based testing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400" b="1" dirty="0" err="1">
                <a:solidFill>
                  <a:srgbClr val="4EC9B0"/>
                </a:solidFill>
                <a:latin typeface="Consolas"/>
              </a:rPr>
              <a:t>Proprietate</a:t>
            </a:r>
            <a:r>
              <a:rPr lang="en-US" sz="1400" b="1" dirty="0">
                <a:solidFill>
                  <a:srgbClr val="4EC9B0"/>
                </a:solidFill>
                <a:latin typeface="Consolas"/>
              </a:rPr>
              <a:t> </a:t>
            </a:r>
            <a:r>
              <a:rPr lang="en-US" sz="1400" b="1" dirty="0" err="1">
                <a:solidFill>
                  <a:srgbClr val="4EC9B0"/>
                </a:solidFill>
                <a:latin typeface="Consolas"/>
              </a:rPr>
              <a:t>generala</a:t>
            </a:r>
            <a:endParaRPr lang="en-US" sz="1400" b="1" dirty="0">
              <a:solidFill>
                <a:srgbClr val="4EC9B0"/>
              </a:solidFill>
              <a:latin typeface="Consolas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400" dirty="0">
                <a:solidFill>
                  <a:srgbClr val="D4D4D4"/>
                </a:solidFill>
                <a:latin typeface="Consolas"/>
              </a:rPr>
              <a:t>  </a:t>
            </a:r>
            <a:br>
              <a:rPr lang="en-US" sz="1400" dirty="0">
                <a:solidFill>
                  <a:srgbClr val="D4D4D4"/>
                </a:solidFill>
                <a:latin typeface="Consolas"/>
              </a:rPr>
            </a:br>
            <a:r>
              <a:rPr lang="en-US" sz="1400" dirty="0">
                <a:solidFill>
                  <a:srgbClr val="569CD6"/>
                </a:solidFill>
                <a:latin typeface="Consolas"/>
              </a:rPr>
              <a:t>for all a, b: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400" dirty="0">
                <a:solidFill>
                  <a:srgbClr val="D4D4D4"/>
                </a:solidFill>
                <a:latin typeface="Consolas"/>
              </a:rPr>
              <a:t>  eval env (Add a b) == eval env (Add b a)</a:t>
            </a:r>
          </a:p>
          <a:p>
            <a:endParaRPr sz="1600" dirty="0">
              <a:latin typeface="Consolas"/>
            </a:endParaRPr>
          </a:p>
          <a:p>
            <a:r>
              <a:rPr lang="en-US" sz="1600" dirty="0">
                <a:latin typeface="Consolas"/>
              </a:rPr>
              <a:t/>
            </a:r>
            <a:br>
              <a:rPr lang="en-US" sz="1600" dirty="0">
                <a:latin typeface="Consolas"/>
              </a:rPr>
            </a:br>
            <a:r>
              <a:rPr lang="en-US" sz="1600" dirty="0">
                <a:latin typeface="Consolas"/>
              </a:rPr>
              <a:t/>
            </a:r>
            <a:br>
              <a:rPr lang="en-US" sz="1600" dirty="0">
                <a:latin typeface="Consolas"/>
              </a:rPr>
            </a:br>
            <a:r>
              <a:rPr sz="1600" dirty="0" err="1">
                <a:latin typeface="Consolas"/>
              </a:rPr>
              <a:t>QuickCheck</a:t>
            </a:r>
            <a:r>
              <a:rPr sz="1600" dirty="0">
                <a:latin typeface="Consolas"/>
              </a:rPr>
              <a:t> </a:t>
            </a:r>
            <a:r>
              <a:rPr sz="1600" dirty="0" err="1">
                <a:latin typeface="Consolas"/>
              </a:rPr>
              <a:t>genereaza</a:t>
            </a:r>
            <a:r>
              <a:rPr sz="1600" dirty="0">
                <a:latin typeface="Consolas"/>
              </a:rPr>
              <a:t> automat </a:t>
            </a:r>
            <a:r>
              <a:rPr sz="1600" dirty="0" err="1">
                <a:latin typeface="Consolas"/>
              </a:rPr>
              <a:t>sute</a:t>
            </a:r>
            <a:r>
              <a:rPr sz="1600" dirty="0">
                <a:latin typeface="Consolas"/>
              </a:rPr>
              <a:t> de </a:t>
            </a:r>
            <a:r>
              <a:rPr sz="1600" dirty="0" err="1">
                <a:latin typeface="Consolas"/>
              </a:rPr>
              <a:t>cazuri</a:t>
            </a:r>
            <a:r>
              <a:rPr sz="1600" dirty="0">
                <a:latin typeface="Consolas"/>
              </a:rPr>
              <a:t> </a:t>
            </a:r>
            <a:r>
              <a:rPr lang="ro-RO" sz="1600" dirty="0" err="1">
                <a:latin typeface="Consolas"/>
              </a:rPr>
              <a:t>ș</a:t>
            </a:r>
            <a:r>
              <a:rPr sz="1600" dirty="0" smtClean="0">
                <a:latin typeface="Consolas"/>
              </a:rPr>
              <a:t>i </a:t>
            </a:r>
            <a:r>
              <a:rPr sz="1600" dirty="0" err="1" smtClean="0">
                <a:latin typeface="Consolas"/>
              </a:rPr>
              <a:t>caut</a:t>
            </a:r>
            <a:r>
              <a:rPr lang="ro-RO" sz="1600" dirty="0" smtClean="0">
                <a:latin typeface="Consolas"/>
              </a:rPr>
              <a:t>ă</a:t>
            </a:r>
            <a:r>
              <a:rPr sz="1600" dirty="0" smtClean="0">
                <a:latin typeface="Consolas"/>
              </a:rPr>
              <a:t> </a:t>
            </a:r>
            <a:r>
              <a:rPr sz="1600" dirty="0" err="1">
                <a:latin typeface="Consolas"/>
              </a:rPr>
              <a:t>contraexemple</a:t>
            </a:r>
            <a:r>
              <a:rPr sz="1600" dirty="0">
                <a:latin typeface="Consolas"/>
              </a:rPr>
              <a:t>.</a:t>
            </a:r>
          </a:p>
        </p:txBody>
      </p:sp>
      <p:sp>
        <p:nvSpPr>
          <p:cNvPr id="7" name="Rounded Rectangle 5"/>
          <p:cNvSpPr/>
          <p:nvPr/>
        </p:nvSpPr>
        <p:spPr>
          <a:xfrm>
            <a:off x="975361" y="2793682"/>
            <a:ext cx="4700696" cy="1768106"/>
          </a:xfrm>
          <a:prstGeom prst="roundRect">
            <a:avLst/>
          </a:prstGeom>
          <a:solidFill>
            <a:srgbClr val="1E1E1E"/>
          </a:solidFill>
          <a:ln w="15240">
            <a:solidFill>
              <a:srgbClr val="2D2D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400" b="1" dirty="0" err="1">
                <a:solidFill>
                  <a:srgbClr val="4EC9B0"/>
                </a:solidFill>
                <a:latin typeface="Consolas"/>
              </a:rPr>
              <a:t>Exemple</a:t>
            </a:r>
            <a:r>
              <a:rPr lang="en-US" sz="1400" b="1" dirty="0">
                <a:solidFill>
                  <a:srgbClr val="4EC9B0"/>
                </a:solidFill>
                <a:latin typeface="Consolas"/>
              </a:rPr>
              <a:t> </a:t>
            </a:r>
            <a:r>
              <a:rPr lang="en-US" sz="1400" b="1" dirty="0" err="1">
                <a:solidFill>
                  <a:srgbClr val="4EC9B0"/>
                </a:solidFill>
                <a:latin typeface="Consolas"/>
              </a:rPr>
              <a:t>punctuale</a:t>
            </a:r>
            <a:endParaRPr lang="en-US" sz="1400" b="1" dirty="0">
              <a:solidFill>
                <a:srgbClr val="4EC9B0"/>
              </a:solidFill>
              <a:latin typeface="Consolas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400" dirty="0">
                <a:solidFill>
                  <a:srgbClr val="D4D4D4"/>
                </a:solidFill>
                <a:latin typeface="Consolas"/>
              </a:rPr>
              <a:t>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400" dirty="0">
                <a:solidFill>
                  <a:srgbClr val="D4D4D4"/>
                </a:solidFill>
                <a:latin typeface="Consolas"/>
              </a:rPr>
              <a:t>eval env (Add (Const 1) (Const 2)) == Just 3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1400" dirty="0">
                <a:solidFill>
                  <a:srgbClr val="D4D4D4"/>
                </a:solidFill>
                <a:latin typeface="Consolas"/>
              </a:rPr>
              <a:t>eval env (Mul (Const 5) (Const 0)) == Just 0</a:t>
            </a:r>
            <a:r>
              <a:rPr lang="en-US" sz="1600" dirty="0">
                <a:solidFill>
                  <a:srgbClr val="D4D4D4"/>
                </a:solidFill>
                <a:latin typeface="Consolas"/>
              </a:rPr>
              <a:t/>
            </a:r>
            <a:br>
              <a:rPr lang="en-US" sz="1600" dirty="0">
                <a:solidFill>
                  <a:srgbClr val="D4D4D4"/>
                </a:solidFill>
                <a:latin typeface="Consolas"/>
              </a:rPr>
            </a:br>
            <a:r>
              <a:rPr lang="en-US" sz="1600" dirty="0">
                <a:solidFill>
                  <a:srgbClr val="D4D4D4"/>
                </a:solidFill>
                <a:latin typeface="Consolas"/>
              </a:rPr>
              <a:t/>
            </a:r>
            <a:br>
              <a:rPr lang="en-US" sz="1600" dirty="0">
                <a:solidFill>
                  <a:srgbClr val="D4D4D4"/>
                </a:solidFill>
                <a:latin typeface="Consolas"/>
              </a:rPr>
            </a:br>
            <a:r>
              <a:rPr lang="en-US" sz="1600" dirty="0">
                <a:solidFill>
                  <a:srgbClr val="D4D4D4"/>
                </a:solidFill>
                <a:latin typeface="Consolas"/>
              </a:rPr>
              <a:t/>
            </a:r>
            <a:br>
              <a:rPr lang="en-US" sz="1600" dirty="0">
                <a:solidFill>
                  <a:srgbClr val="D4D4D4"/>
                </a:solidFill>
                <a:latin typeface="Consolas"/>
              </a:rPr>
            </a:br>
            <a:r>
              <a:rPr lang="en-US" sz="1600" dirty="0">
                <a:solidFill>
                  <a:srgbClr val="D4D4D4"/>
                </a:solidFill>
                <a:latin typeface="Consolas"/>
              </a:rPr>
              <a:t/>
            </a:r>
            <a:br>
              <a:rPr lang="en-US" sz="1600" dirty="0">
                <a:solidFill>
                  <a:srgbClr val="D4D4D4"/>
                </a:solidFill>
                <a:latin typeface="Consolas"/>
              </a:rPr>
            </a:br>
            <a:endParaRPr sz="1600" dirty="0">
              <a:latin typeface="Consolas"/>
            </a:endParaRPr>
          </a:p>
          <a:p>
            <a:r>
              <a:rPr sz="1600" dirty="0" err="1">
                <a:latin typeface="Consolas"/>
              </a:rPr>
              <a:t>Problema</a:t>
            </a:r>
            <a:r>
              <a:rPr sz="1600" dirty="0">
                <a:latin typeface="Consolas"/>
              </a:rPr>
              <a:t>: </a:t>
            </a:r>
            <a:r>
              <a:rPr sz="1600" dirty="0" err="1" smtClean="0">
                <a:latin typeface="Consolas"/>
              </a:rPr>
              <a:t>acoper</a:t>
            </a:r>
            <a:r>
              <a:rPr lang="ro-RO" sz="1600" dirty="0" smtClean="0">
                <a:latin typeface="Consolas"/>
              </a:rPr>
              <a:t>ă</a:t>
            </a:r>
            <a:r>
              <a:rPr sz="1600" dirty="0" smtClean="0">
                <a:latin typeface="Consolas"/>
              </a:rPr>
              <a:t> </a:t>
            </a:r>
            <a:r>
              <a:rPr sz="1600" dirty="0" err="1">
                <a:latin typeface="Consolas"/>
              </a:rPr>
              <a:t>doar</a:t>
            </a:r>
            <a:r>
              <a:rPr sz="1600" dirty="0">
                <a:latin typeface="Consolas"/>
              </a:rPr>
              <a:t> </a:t>
            </a:r>
            <a:r>
              <a:rPr sz="1600" dirty="0" err="1">
                <a:latin typeface="Consolas"/>
              </a:rPr>
              <a:t>cazurile</a:t>
            </a:r>
            <a:r>
              <a:rPr sz="1600" dirty="0">
                <a:latin typeface="Consolas"/>
              </a:rPr>
              <a:t> la care </a:t>
            </a:r>
            <a:r>
              <a:rPr sz="1600" dirty="0" err="1">
                <a:latin typeface="Consolas"/>
              </a:rPr>
              <a:t>te-ai</a:t>
            </a:r>
            <a:r>
              <a:rPr sz="1600" dirty="0">
                <a:latin typeface="Consolas"/>
              </a:rPr>
              <a:t> </a:t>
            </a:r>
            <a:r>
              <a:rPr sz="1600" dirty="0" smtClean="0">
                <a:latin typeface="Consolas"/>
              </a:rPr>
              <a:t>g</a:t>
            </a:r>
            <a:r>
              <a:rPr lang="ro-RO" sz="1600" dirty="0" smtClean="0">
                <a:latin typeface="Consolas"/>
              </a:rPr>
              <a:t>â</a:t>
            </a:r>
            <a:r>
              <a:rPr sz="1600" dirty="0" err="1" smtClean="0">
                <a:latin typeface="Consolas"/>
              </a:rPr>
              <a:t>ndit</a:t>
            </a:r>
            <a:r>
              <a:rPr sz="1600" dirty="0">
                <a:latin typeface="Consolas"/>
              </a:rPr>
              <a:t>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400" dirty="0">
                <a:solidFill>
                  <a:schemeClr val="tx1"/>
                </a:solidFill>
              </a:rPr>
              <a:t>Ce </a:t>
            </a:r>
            <a:r>
              <a:rPr sz="3400" dirty="0" err="1">
                <a:solidFill>
                  <a:schemeClr val="tx1"/>
                </a:solidFill>
              </a:rPr>
              <a:t>este</a:t>
            </a:r>
            <a:r>
              <a:rPr sz="3400" dirty="0">
                <a:solidFill>
                  <a:schemeClr val="tx1"/>
                </a:solidFill>
              </a:rPr>
              <a:t> </a:t>
            </a:r>
            <a:r>
              <a:rPr sz="3400" dirty="0" err="1">
                <a:solidFill>
                  <a:schemeClr val="tx1"/>
                </a:solidFill>
              </a:rPr>
              <a:t>QuickCheck</a:t>
            </a:r>
            <a:endParaRPr sz="3400" dirty="0">
              <a:solidFill>
                <a:schemeClr val="tx1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000" dirty="0" err="1">
                <a:solidFill>
                  <a:srgbClr val="2F3338"/>
                </a:solidFill>
                <a:latin typeface="Segoe UI"/>
              </a:rPr>
              <a:t>QuickCheck</a:t>
            </a:r>
            <a:r>
              <a:rPr lang="en-US" sz="2000" dirty="0">
                <a:solidFill>
                  <a:srgbClr val="2F3338"/>
                </a:solidFill>
                <a:latin typeface="Segoe UI"/>
              </a:rPr>
              <a:t> </a:t>
            </a:r>
            <a:r>
              <a:rPr lang="en-US" sz="2000" dirty="0" err="1">
                <a:solidFill>
                  <a:srgbClr val="2F3338"/>
                </a:solidFill>
                <a:latin typeface="Segoe UI"/>
              </a:rPr>
              <a:t>este</a:t>
            </a:r>
            <a:r>
              <a:rPr lang="en-US" sz="2000" dirty="0">
                <a:solidFill>
                  <a:srgbClr val="2F3338"/>
                </a:solidFill>
                <a:latin typeface="Segoe UI"/>
              </a:rPr>
              <a:t> </a:t>
            </a:r>
            <a:r>
              <a:rPr lang="en-US" sz="2000" dirty="0" err="1">
                <a:solidFill>
                  <a:srgbClr val="2F3338"/>
                </a:solidFill>
                <a:latin typeface="Segoe UI"/>
              </a:rPr>
              <a:t>biblioteca</a:t>
            </a:r>
            <a:r>
              <a:rPr lang="en-US" sz="2000" dirty="0">
                <a:solidFill>
                  <a:srgbClr val="2F3338"/>
                </a:solidFill>
                <a:latin typeface="Segoe UI"/>
              </a:rPr>
              <a:t> Haskell </a:t>
            </a:r>
            <a:r>
              <a:rPr lang="en-US" sz="2000" dirty="0" err="1">
                <a:solidFill>
                  <a:srgbClr val="2F3338"/>
                </a:solidFill>
                <a:latin typeface="Segoe UI"/>
              </a:rPr>
              <a:t>pentru</a:t>
            </a:r>
            <a:r>
              <a:rPr lang="en-US" sz="2000" dirty="0">
                <a:solidFill>
                  <a:srgbClr val="2F3338"/>
                </a:solidFill>
                <a:latin typeface="Segoe UI"/>
              </a:rPr>
              <a:t> property-based testing</a:t>
            </a:r>
            <a:r>
              <a:rPr lang="en-US" sz="2400" dirty="0">
                <a:solidFill>
                  <a:srgbClr val="2F3338"/>
                </a:solidFill>
                <a:latin typeface="Segoe UI"/>
              </a:rPr>
              <a:t/>
            </a:r>
            <a:br>
              <a:rPr lang="en-US" sz="2400" dirty="0">
                <a:solidFill>
                  <a:srgbClr val="2F3338"/>
                </a:solidFill>
                <a:latin typeface="Segoe UI"/>
              </a:rPr>
            </a:br>
            <a:r>
              <a:rPr lang="en-US" sz="2400" b="1" dirty="0">
                <a:solidFill>
                  <a:srgbClr val="4B5563"/>
                </a:solidFill>
                <a:latin typeface="Segoe UI"/>
              </a:rPr>
              <a:t/>
            </a:r>
            <a:br>
              <a:rPr lang="en-US" sz="2400" b="1" dirty="0">
                <a:solidFill>
                  <a:srgbClr val="4B5563"/>
                </a:solidFill>
                <a:latin typeface="Segoe UI"/>
              </a:rPr>
            </a:br>
            <a:r>
              <a:rPr lang="en-US" sz="2400" b="1" dirty="0" err="1">
                <a:solidFill>
                  <a:srgbClr val="4B5563"/>
                </a:solidFill>
                <a:latin typeface="Segoe UI"/>
              </a:rPr>
              <a:t>Elementele-cheie</a:t>
            </a:r>
            <a:r>
              <a:rPr lang="en-US" sz="2400" b="1" dirty="0">
                <a:solidFill>
                  <a:srgbClr val="4B5563"/>
                </a:solidFill>
                <a:latin typeface="Segoe UI"/>
              </a:rPr>
              <a:t> de care ne </a:t>
            </a:r>
            <a:r>
              <a:rPr lang="en-US" sz="2400" b="1" dirty="0" err="1">
                <a:solidFill>
                  <a:srgbClr val="4B5563"/>
                </a:solidFill>
                <a:latin typeface="Segoe UI"/>
              </a:rPr>
              <a:t>folosim</a:t>
            </a:r>
            <a:r>
              <a:rPr lang="en-US" sz="2400" b="1" dirty="0">
                <a:solidFill>
                  <a:srgbClr val="4B5563"/>
                </a:solidFill>
                <a:latin typeface="Segoe UI"/>
              </a:rPr>
              <a:t> </a:t>
            </a:r>
            <a:r>
              <a:rPr lang="ro-RO" sz="2400" b="1" dirty="0" smtClean="0">
                <a:solidFill>
                  <a:srgbClr val="4B5563"/>
                </a:solidFill>
                <a:latin typeface="Segoe UI"/>
              </a:rPr>
              <a:t>î</a:t>
            </a:r>
            <a:r>
              <a:rPr lang="en-US" sz="2400" b="1" dirty="0" smtClean="0">
                <a:solidFill>
                  <a:srgbClr val="4B5563"/>
                </a:solidFill>
                <a:latin typeface="Segoe UI"/>
              </a:rPr>
              <a:t>n </a:t>
            </a:r>
            <a:r>
              <a:rPr lang="en-US" sz="2400" b="1" dirty="0" err="1">
                <a:solidFill>
                  <a:srgbClr val="4B5563"/>
                </a:solidFill>
                <a:latin typeface="Segoe UI"/>
              </a:rPr>
              <a:t>proiect</a:t>
            </a:r>
            <a:r>
              <a:rPr lang="en-US" sz="2400" b="1" dirty="0">
                <a:solidFill>
                  <a:srgbClr val="4B5563"/>
                </a:solidFill>
                <a:latin typeface="Segoe UI"/>
              </a:rPr>
              <a:t>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400" dirty="0">
                <a:solidFill>
                  <a:srgbClr val="2F3338"/>
                </a:solidFill>
                <a:latin typeface="Segoe UI"/>
              </a:rPr>
              <a:t/>
            </a:r>
            <a:br>
              <a:rPr lang="en-US" sz="2400" dirty="0">
                <a:solidFill>
                  <a:srgbClr val="2F3338"/>
                </a:solidFill>
                <a:latin typeface="Segoe UI"/>
              </a:rPr>
            </a:br>
            <a:r>
              <a:rPr lang="en-US" sz="2000" dirty="0">
                <a:solidFill>
                  <a:srgbClr val="2F3338"/>
                </a:solidFill>
                <a:latin typeface="Segoe UI"/>
              </a:rPr>
              <a:t>- </a:t>
            </a:r>
            <a:r>
              <a:rPr lang="en-US" sz="2000" b="1" dirty="0">
                <a:solidFill>
                  <a:srgbClr val="1F4E79"/>
                </a:solidFill>
                <a:latin typeface="Consolas"/>
              </a:rPr>
              <a:t>Arbitrary</a:t>
            </a:r>
            <a:r>
              <a:rPr lang="en-US" sz="2000" dirty="0">
                <a:solidFill>
                  <a:srgbClr val="2F3338"/>
                </a:solidFill>
                <a:latin typeface="Segoe UI"/>
              </a:rPr>
              <a:t> - </a:t>
            </a:r>
            <a:r>
              <a:rPr lang="en-US" sz="2000" dirty="0" err="1">
                <a:solidFill>
                  <a:srgbClr val="2F3338"/>
                </a:solidFill>
                <a:latin typeface="Segoe UI"/>
              </a:rPr>
              <a:t>clasa</a:t>
            </a:r>
            <a:r>
              <a:rPr lang="en-US" sz="2000" dirty="0">
                <a:solidFill>
                  <a:srgbClr val="2F3338"/>
                </a:solidFill>
                <a:latin typeface="Segoe UI"/>
              </a:rPr>
              <a:t> </a:t>
            </a:r>
            <a:r>
              <a:rPr lang="en-US" sz="2000" dirty="0" err="1">
                <a:solidFill>
                  <a:srgbClr val="2F3338"/>
                </a:solidFill>
                <a:latin typeface="Segoe UI"/>
              </a:rPr>
              <a:t>pentru</a:t>
            </a:r>
            <a:r>
              <a:rPr lang="en-US" sz="2000" dirty="0">
                <a:solidFill>
                  <a:srgbClr val="2F3338"/>
                </a:solidFill>
                <a:latin typeface="Segoe UI"/>
              </a:rPr>
              <a:t> </a:t>
            </a:r>
            <a:r>
              <a:rPr lang="en-US" sz="2000" dirty="0" err="1">
                <a:solidFill>
                  <a:srgbClr val="2F3338"/>
                </a:solidFill>
                <a:latin typeface="Segoe UI"/>
              </a:rPr>
              <a:t>tipuri</a:t>
            </a:r>
            <a:r>
              <a:rPr lang="en-US" sz="2000" dirty="0">
                <a:solidFill>
                  <a:srgbClr val="2F3338"/>
                </a:solidFill>
                <a:latin typeface="Segoe UI"/>
              </a:rPr>
              <a:t> </a:t>
            </a:r>
            <a:r>
              <a:rPr lang="en-US" sz="2000" dirty="0" err="1">
                <a:solidFill>
                  <a:srgbClr val="2F3338"/>
                </a:solidFill>
                <a:latin typeface="Segoe UI"/>
              </a:rPr>
              <a:t>ce</a:t>
            </a:r>
            <a:r>
              <a:rPr lang="en-US" sz="2000" dirty="0">
                <a:solidFill>
                  <a:srgbClr val="2F3338"/>
                </a:solidFill>
                <a:latin typeface="Segoe UI"/>
              </a:rPr>
              <a:t> pot fi generate </a:t>
            </a:r>
            <a:r>
              <a:rPr lang="en-US" sz="2000" dirty="0" err="1">
                <a:solidFill>
                  <a:srgbClr val="2F3338"/>
                </a:solidFill>
                <a:latin typeface="Segoe UI"/>
              </a:rPr>
              <a:t>aleatoriu</a:t>
            </a:r>
            <a:endParaRPr lang="en-US" sz="2000" dirty="0">
              <a:solidFill>
                <a:srgbClr val="2F3338"/>
              </a:solidFill>
              <a:latin typeface="Segoe UI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000" dirty="0">
                <a:solidFill>
                  <a:srgbClr val="2F3338"/>
                </a:solidFill>
                <a:latin typeface="Segoe UI"/>
              </a:rPr>
              <a:t>- </a:t>
            </a:r>
            <a:r>
              <a:rPr lang="en-US" sz="2000" b="1" dirty="0">
                <a:solidFill>
                  <a:srgbClr val="1F4E79"/>
                </a:solidFill>
                <a:latin typeface="Consolas"/>
              </a:rPr>
              <a:t>Gen a</a:t>
            </a:r>
            <a:r>
              <a:rPr lang="en-US" sz="2000" dirty="0">
                <a:solidFill>
                  <a:srgbClr val="2F3338"/>
                </a:solidFill>
                <a:latin typeface="Segoe UI"/>
              </a:rPr>
              <a:t> - </a:t>
            </a:r>
            <a:r>
              <a:rPr lang="en-US" sz="2000" dirty="0" err="1">
                <a:solidFill>
                  <a:srgbClr val="2F3338"/>
                </a:solidFill>
                <a:latin typeface="Segoe UI"/>
              </a:rPr>
              <a:t>tipul</a:t>
            </a:r>
            <a:r>
              <a:rPr lang="en-US" sz="2000" dirty="0">
                <a:solidFill>
                  <a:srgbClr val="2F3338"/>
                </a:solidFill>
                <a:latin typeface="Segoe UI"/>
              </a:rPr>
              <a:t> </a:t>
            </a:r>
            <a:r>
              <a:rPr lang="en-US" sz="2000" dirty="0" err="1">
                <a:solidFill>
                  <a:srgbClr val="2F3338"/>
                </a:solidFill>
                <a:latin typeface="Segoe UI"/>
              </a:rPr>
              <a:t>unui</a:t>
            </a:r>
            <a:r>
              <a:rPr lang="en-US" sz="2000" dirty="0">
                <a:solidFill>
                  <a:srgbClr val="2F3338"/>
                </a:solidFill>
                <a:latin typeface="Segoe UI"/>
              </a:rPr>
              <a:t> generator de </a:t>
            </a:r>
            <a:r>
              <a:rPr lang="en-US" sz="2000" dirty="0" err="1" smtClean="0">
                <a:solidFill>
                  <a:srgbClr val="2F3338"/>
                </a:solidFill>
                <a:latin typeface="Segoe UI"/>
              </a:rPr>
              <a:t>valori</a:t>
            </a:r>
            <a:endParaRPr lang="en-US" sz="2000" dirty="0">
              <a:solidFill>
                <a:srgbClr val="2F3338"/>
              </a:solidFill>
              <a:latin typeface="Segoe UI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000" dirty="0">
                <a:solidFill>
                  <a:srgbClr val="2F3338"/>
                </a:solidFill>
                <a:latin typeface="Segoe UI"/>
              </a:rPr>
              <a:t>- </a:t>
            </a:r>
            <a:r>
              <a:rPr lang="en-US" sz="2000" b="1" dirty="0">
                <a:solidFill>
                  <a:srgbClr val="1F4E79"/>
                </a:solidFill>
                <a:latin typeface="Consolas"/>
              </a:rPr>
              <a:t>frequency</a:t>
            </a:r>
            <a:r>
              <a:rPr lang="en-US" sz="2000" dirty="0">
                <a:solidFill>
                  <a:srgbClr val="2F3338"/>
                </a:solidFill>
                <a:latin typeface="Segoe UI"/>
              </a:rPr>
              <a:t> - </a:t>
            </a:r>
            <a:r>
              <a:rPr lang="en-US" sz="2000" dirty="0" err="1">
                <a:solidFill>
                  <a:srgbClr val="2F3338"/>
                </a:solidFill>
                <a:latin typeface="Segoe UI"/>
              </a:rPr>
              <a:t>alege</a:t>
            </a:r>
            <a:r>
              <a:rPr lang="en-US" sz="2000" dirty="0">
                <a:solidFill>
                  <a:srgbClr val="2F3338"/>
                </a:solidFill>
                <a:latin typeface="Segoe UI"/>
              </a:rPr>
              <a:t> </a:t>
            </a:r>
            <a:r>
              <a:rPr lang="ro-RO" sz="2000" dirty="0" err="1">
                <a:solidFill>
                  <a:srgbClr val="2F3338"/>
                </a:solidFill>
                <a:latin typeface="Segoe UI"/>
              </a:rPr>
              <a:t>î</a:t>
            </a:r>
            <a:r>
              <a:rPr lang="en-US" sz="2000" dirty="0" err="1" smtClean="0">
                <a:solidFill>
                  <a:srgbClr val="2F3338"/>
                </a:solidFill>
                <a:latin typeface="Segoe UI"/>
              </a:rPr>
              <a:t>ntre</a:t>
            </a:r>
            <a:r>
              <a:rPr lang="en-US" sz="2000" dirty="0" smtClean="0">
                <a:solidFill>
                  <a:srgbClr val="2F3338"/>
                </a:solidFill>
                <a:latin typeface="Segoe UI"/>
              </a:rPr>
              <a:t> </a:t>
            </a:r>
            <a:r>
              <a:rPr lang="en-US" sz="2000" dirty="0" err="1">
                <a:solidFill>
                  <a:srgbClr val="2F3338"/>
                </a:solidFill>
                <a:latin typeface="Segoe UI"/>
              </a:rPr>
              <a:t>generatoare</a:t>
            </a:r>
            <a:r>
              <a:rPr lang="en-US" sz="2000" dirty="0">
                <a:solidFill>
                  <a:srgbClr val="2F3338"/>
                </a:solidFill>
                <a:latin typeface="Segoe UI"/>
              </a:rPr>
              <a:t> cu </a:t>
            </a:r>
            <a:r>
              <a:rPr lang="en-US" sz="2000" dirty="0" err="1">
                <a:solidFill>
                  <a:srgbClr val="2F3338"/>
                </a:solidFill>
                <a:latin typeface="Segoe UI"/>
              </a:rPr>
              <a:t>ponderi</a:t>
            </a:r>
            <a:r>
              <a:rPr lang="en-US" sz="2000" dirty="0">
                <a:solidFill>
                  <a:srgbClr val="2F3338"/>
                </a:solidFill>
                <a:latin typeface="Segoe UI"/>
              </a:rPr>
              <a:t> </a:t>
            </a:r>
            <a:r>
              <a:rPr lang="en-US" sz="2000" dirty="0" err="1">
                <a:solidFill>
                  <a:srgbClr val="2F3338"/>
                </a:solidFill>
                <a:latin typeface="Segoe UI"/>
              </a:rPr>
              <a:t>explicite</a:t>
            </a:r>
            <a:endParaRPr lang="en-US" sz="2000" dirty="0">
              <a:solidFill>
                <a:srgbClr val="2F3338"/>
              </a:solidFill>
              <a:latin typeface="Segoe UI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000" dirty="0">
                <a:solidFill>
                  <a:srgbClr val="2F3338"/>
                </a:solidFill>
                <a:latin typeface="Segoe UI"/>
              </a:rPr>
              <a:t>- </a:t>
            </a:r>
            <a:r>
              <a:rPr lang="en-US" sz="2000" b="1" dirty="0">
                <a:solidFill>
                  <a:srgbClr val="1F4E79"/>
                </a:solidFill>
                <a:latin typeface="Consolas"/>
              </a:rPr>
              <a:t>sized</a:t>
            </a:r>
            <a:r>
              <a:rPr lang="en-US" sz="2000" dirty="0">
                <a:solidFill>
                  <a:srgbClr val="2F3338"/>
                </a:solidFill>
                <a:latin typeface="Segoe UI"/>
              </a:rPr>
              <a:t> - </a:t>
            </a:r>
            <a:r>
              <a:rPr lang="en-US" sz="2000" dirty="0" err="1" smtClean="0">
                <a:solidFill>
                  <a:srgbClr val="2F3338"/>
                </a:solidFill>
                <a:latin typeface="Segoe UI"/>
              </a:rPr>
              <a:t>controleaz</a:t>
            </a:r>
            <a:r>
              <a:rPr lang="ro-RO" sz="2000" dirty="0" smtClean="0">
                <a:solidFill>
                  <a:srgbClr val="2F3338"/>
                </a:solidFill>
                <a:latin typeface="Segoe UI"/>
              </a:rPr>
              <a:t>ă</a:t>
            </a:r>
            <a:r>
              <a:rPr lang="en-US" sz="2000" dirty="0" smtClean="0">
                <a:solidFill>
                  <a:srgbClr val="2F3338"/>
                </a:solidFill>
                <a:latin typeface="Segoe UI"/>
              </a:rPr>
              <a:t> </a:t>
            </a:r>
            <a:r>
              <a:rPr lang="en-US" sz="2000" dirty="0" err="1">
                <a:solidFill>
                  <a:srgbClr val="2F3338"/>
                </a:solidFill>
                <a:latin typeface="Segoe UI"/>
              </a:rPr>
              <a:t>marimea</a:t>
            </a:r>
            <a:r>
              <a:rPr lang="en-US" sz="2000" dirty="0">
                <a:solidFill>
                  <a:srgbClr val="2F3338"/>
                </a:solidFill>
                <a:latin typeface="Segoe UI"/>
              </a:rPr>
              <a:t> </a:t>
            </a:r>
            <a:r>
              <a:rPr lang="en-US" sz="2000" dirty="0" err="1">
                <a:solidFill>
                  <a:srgbClr val="2F3338"/>
                </a:solidFill>
                <a:latin typeface="Segoe UI"/>
              </a:rPr>
              <a:t>expresiilor</a:t>
            </a:r>
            <a:r>
              <a:rPr lang="en-US" sz="2000" dirty="0">
                <a:solidFill>
                  <a:srgbClr val="2F3338"/>
                </a:solidFill>
                <a:latin typeface="Segoe UI"/>
              </a:rPr>
              <a:t> generate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000" dirty="0">
                <a:solidFill>
                  <a:srgbClr val="2F3338"/>
                </a:solidFill>
                <a:latin typeface="Segoe UI"/>
              </a:rPr>
              <a:t>- </a:t>
            </a:r>
            <a:r>
              <a:rPr lang="en-US" sz="2000" b="1" dirty="0">
                <a:solidFill>
                  <a:srgbClr val="1F4E79"/>
                </a:solidFill>
                <a:latin typeface="Consolas"/>
              </a:rPr>
              <a:t>shrink</a:t>
            </a:r>
            <a:r>
              <a:rPr lang="en-US" sz="2000" dirty="0">
                <a:solidFill>
                  <a:srgbClr val="2F3338"/>
                </a:solidFill>
                <a:latin typeface="Segoe UI"/>
              </a:rPr>
              <a:t> - reduce </a:t>
            </a:r>
            <a:r>
              <a:rPr lang="en-US" sz="2000" dirty="0" err="1">
                <a:solidFill>
                  <a:srgbClr val="2F3338"/>
                </a:solidFill>
                <a:latin typeface="Segoe UI"/>
              </a:rPr>
              <a:t>contraexemplul</a:t>
            </a:r>
            <a:r>
              <a:rPr lang="en-US" sz="2000" dirty="0">
                <a:solidFill>
                  <a:srgbClr val="2F3338"/>
                </a:solidFill>
                <a:latin typeface="Segoe UI"/>
              </a:rPr>
              <a:t> la forma </a:t>
            </a:r>
            <a:r>
              <a:rPr lang="en-US" sz="2000" dirty="0" smtClean="0">
                <a:solidFill>
                  <a:srgbClr val="2F3338"/>
                </a:solidFill>
                <a:latin typeface="Segoe UI"/>
              </a:rPr>
              <a:t>minim</a:t>
            </a:r>
            <a:r>
              <a:rPr lang="ro-RO" sz="2000" dirty="0" smtClean="0">
                <a:solidFill>
                  <a:srgbClr val="2F3338"/>
                </a:solidFill>
                <a:latin typeface="Segoe UI"/>
              </a:rPr>
              <a:t>ă</a:t>
            </a:r>
            <a:endParaRPr lang="en-US" sz="2000" dirty="0">
              <a:solidFill>
                <a:srgbClr val="2F3338"/>
              </a:solidFill>
              <a:latin typeface="Segoe UI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000" dirty="0">
                <a:solidFill>
                  <a:srgbClr val="2F3338"/>
                </a:solidFill>
                <a:latin typeface="Segoe UI"/>
              </a:rPr>
              <a:t>- </a:t>
            </a:r>
            <a:r>
              <a:rPr lang="en-US" sz="2000" b="1" dirty="0">
                <a:solidFill>
                  <a:srgbClr val="1F4E79"/>
                </a:solidFill>
                <a:latin typeface="Consolas"/>
              </a:rPr>
              <a:t>classify</a:t>
            </a:r>
            <a:r>
              <a:rPr lang="en-US" sz="2000" dirty="0">
                <a:solidFill>
                  <a:srgbClr val="2F3338"/>
                </a:solidFill>
                <a:latin typeface="Segoe UI"/>
              </a:rPr>
              <a:t> - </a:t>
            </a:r>
            <a:r>
              <a:rPr lang="en-US" sz="2000" dirty="0" err="1" smtClean="0">
                <a:solidFill>
                  <a:srgbClr val="2F3338"/>
                </a:solidFill>
                <a:latin typeface="Segoe UI"/>
              </a:rPr>
              <a:t>arat</a:t>
            </a:r>
            <a:r>
              <a:rPr lang="ro-RO" sz="2000" dirty="0" smtClean="0">
                <a:solidFill>
                  <a:srgbClr val="2F3338"/>
                </a:solidFill>
                <a:latin typeface="Segoe UI"/>
              </a:rPr>
              <a:t>ă</a:t>
            </a:r>
            <a:r>
              <a:rPr lang="en-US" sz="2000" dirty="0" smtClean="0">
                <a:solidFill>
                  <a:srgbClr val="2F3338"/>
                </a:solidFill>
                <a:latin typeface="Segoe UI"/>
              </a:rPr>
              <a:t> </a:t>
            </a:r>
            <a:r>
              <a:rPr lang="en-US" sz="2000" dirty="0" err="1" smtClean="0">
                <a:solidFill>
                  <a:srgbClr val="2F3338"/>
                </a:solidFill>
                <a:latin typeface="Segoe UI"/>
              </a:rPr>
              <a:t>distribu</a:t>
            </a:r>
            <a:r>
              <a:rPr lang="ro-RO" sz="2000" dirty="0" smtClean="0">
                <a:solidFill>
                  <a:srgbClr val="2F3338"/>
                </a:solidFill>
                <a:latin typeface="Segoe UI"/>
              </a:rPr>
              <a:t>ț</a:t>
            </a:r>
            <a:r>
              <a:rPr lang="en-US" sz="2000" dirty="0" err="1" smtClean="0">
                <a:solidFill>
                  <a:srgbClr val="2F3338"/>
                </a:solidFill>
                <a:latin typeface="Segoe UI"/>
              </a:rPr>
              <a:t>ia</a:t>
            </a:r>
            <a:r>
              <a:rPr lang="en-US" sz="2000" dirty="0" smtClean="0">
                <a:solidFill>
                  <a:srgbClr val="2F3338"/>
                </a:solidFill>
                <a:latin typeface="Segoe UI"/>
              </a:rPr>
              <a:t> </a:t>
            </a:r>
            <a:r>
              <a:rPr lang="en-US" sz="2000" dirty="0" err="1">
                <a:solidFill>
                  <a:srgbClr val="2F3338"/>
                </a:solidFill>
                <a:latin typeface="Segoe UI"/>
              </a:rPr>
              <a:t>cazurilor</a:t>
            </a:r>
            <a:r>
              <a:rPr lang="en-US" sz="2000" dirty="0">
                <a:solidFill>
                  <a:srgbClr val="2F3338"/>
                </a:solidFill>
                <a:latin typeface="Segoe UI"/>
              </a:rPr>
              <a:t> generate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sz="2000" dirty="0">
                <a:solidFill>
                  <a:srgbClr val="2F3338"/>
                </a:solidFill>
                <a:latin typeface="Segoe UI"/>
              </a:rPr>
              <a:t>- </a:t>
            </a:r>
            <a:r>
              <a:rPr lang="en-US" sz="2000" b="1" dirty="0" err="1">
                <a:solidFill>
                  <a:srgbClr val="1F4E79"/>
                </a:solidFill>
                <a:latin typeface="Consolas"/>
              </a:rPr>
              <a:t>quickCheckWith</a:t>
            </a:r>
            <a:r>
              <a:rPr lang="en-US" sz="2000" dirty="0">
                <a:solidFill>
                  <a:srgbClr val="2F3338"/>
                </a:solidFill>
                <a:latin typeface="Segoe UI"/>
              </a:rPr>
              <a:t> - </a:t>
            </a:r>
            <a:r>
              <a:rPr lang="en-US" sz="2000" dirty="0" err="1" smtClean="0">
                <a:solidFill>
                  <a:srgbClr val="2F3338"/>
                </a:solidFill>
                <a:latin typeface="Segoe UI"/>
              </a:rPr>
              <a:t>ruleaz</a:t>
            </a:r>
            <a:r>
              <a:rPr lang="ro-RO" sz="2000" dirty="0" smtClean="0">
                <a:solidFill>
                  <a:srgbClr val="2F3338"/>
                </a:solidFill>
                <a:latin typeface="Segoe UI"/>
              </a:rPr>
              <a:t>ă</a:t>
            </a:r>
            <a:r>
              <a:rPr lang="en-US" sz="2000" dirty="0" smtClean="0">
                <a:solidFill>
                  <a:srgbClr val="2F3338"/>
                </a:solidFill>
                <a:latin typeface="Segoe UI"/>
              </a:rPr>
              <a:t> </a:t>
            </a:r>
            <a:r>
              <a:rPr lang="en-US" sz="2000" dirty="0">
                <a:solidFill>
                  <a:srgbClr val="2F3338"/>
                </a:solidFill>
                <a:latin typeface="Segoe UI"/>
              </a:rPr>
              <a:t>cu </a:t>
            </a:r>
            <a:r>
              <a:rPr lang="en-US" sz="2000" dirty="0" err="1">
                <a:solidFill>
                  <a:srgbClr val="2F3338"/>
                </a:solidFill>
                <a:latin typeface="Segoe UI"/>
              </a:rPr>
              <a:t>parametri</a:t>
            </a:r>
            <a:r>
              <a:rPr lang="en-US" sz="2000" dirty="0">
                <a:solidFill>
                  <a:srgbClr val="2F3338"/>
                </a:solidFill>
                <a:latin typeface="Segoe UI"/>
              </a:rPr>
              <a:t> custom (</a:t>
            </a:r>
            <a:r>
              <a:rPr lang="en-US" sz="2000" dirty="0" err="1">
                <a:solidFill>
                  <a:srgbClr val="2F3338"/>
                </a:solidFill>
                <a:latin typeface="Segoe UI"/>
              </a:rPr>
              <a:t>maxSuccess</a:t>
            </a:r>
            <a:r>
              <a:rPr lang="en-US" sz="2000" dirty="0">
                <a:solidFill>
                  <a:srgbClr val="2F3338"/>
                </a:solidFill>
                <a:latin typeface="Segoe UI"/>
              </a:rPr>
              <a:t>, </a:t>
            </a:r>
            <a:r>
              <a:rPr lang="en-US" sz="2000" dirty="0" err="1">
                <a:solidFill>
                  <a:srgbClr val="2F3338"/>
                </a:solidFill>
                <a:latin typeface="Segoe UI"/>
              </a:rPr>
              <a:t>maxSize</a:t>
            </a:r>
            <a:r>
              <a:rPr lang="en-US" sz="2000" dirty="0">
                <a:solidFill>
                  <a:srgbClr val="2F3338"/>
                </a:solidFill>
                <a:latin typeface="Segoe UI"/>
              </a:rPr>
              <a:t>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500" dirty="0" err="1">
                <a:solidFill>
                  <a:srgbClr val="2F3338"/>
                </a:solidFill>
              </a:rPr>
              <a:t>Arhitectura</a:t>
            </a:r>
            <a:r>
              <a:rPr sz="3500" dirty="0">
                <a:solidFill>
                  <a:srgbClr val="2F3338"/>
                </a:solidFill>
              </a:rPr>
              <a:t> </a:t>
            </a:r>
            <a:r>
              <a:rPr sz="3500" dirty="0" err="1">
                <a:solidFill>
                  <a:srgbClr val="2F3338"/>
                </a:solidFill>
              </a:rPr>
              <a:t>modulului</a:t>
            </a:r>
            <a:r>
              <a:rPr sz="3500" dirty="0">
                <a:solidFill>
                  <a:srgbClr val="2F3338"/>
                </a:solidFill>
              </a:rPr>
              <a:t> </a:t>
            </a:r>
            <a:r>
              <a:rPr sz="3500" dirty="0" err="1">
                <a:solidFill>
                  <a:srgbClr val="2F3338"/>
                </a:solidFill>
              </a:rPr>
              <a:t>testat</a:t>
            </a:r>
            <a:endParaRPr sz="3500" dirty="0">
              <a:solidFill>
                <a:srgbClr val="2F3338"/>
              </a:solidFill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1097280" y="2057400"/>
            <a:ext cx="9997440" cy="2806700"/>
          </a:xfrm>
          <a:prstGeom prst="roundRect">
            <a:avLst/>
          </a:prstGeom>
          <a:solidFill>
            <a:srgbClr val="F5F8FC"/>
          </a:solidFill>
          <a:ln w="14604">
            <a:solidFill>
              <a:srgbClr val="D5DF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25880" y="2194560"/>
            <a:ext cx="9601200" cy="16979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0" i="0" dirty="0">
                <a:solidFill>
                  <a:srgbClr val="2F3338"/>
                </a:solidFill>
                <a:latin typeface="Segoe UI"/>
              </a:rPr>
              <a:t>-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Expr.hs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 - AST +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functii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structurale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: size, depth,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operatorCount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,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freeVars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, substitute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0" i="0" dirty="0">
                <a:solidFill>
                  <a:srgbClr val="2F3338"/>
                </a:solidFill>
                <a:latin typeface="Segoe UI"/>
              </a:rPr>
              <a:t>-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Eval.hs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 -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evaluare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600" b="0" i="0" dirty="0" err="1" smtClean="0">
                <a:solidFill>
                  <a:srgbClr val="2F3338"/>
                </a:solidFill>
                <a:latin typeface="Segoe UI"/>
              </a:rPr>
              <a:t>sigur</a:t>
            </a:r>
            <a:r>
              <a:rPr lang="ro-RO" sz="1600" b="0" i="0" dirty="0" smtClean="0">
                <a:solidFill>
                  <a:srgbClr val="2F3338"/>
                </a:solidFill>
                <a:latin typeface="Segoe UI"/>
              </a:rPr>
              <a:t>ă</a:t>
            </a:r>
            <a:r>
              <a:rPr sz="1600" b="0" i="0" dirty="0" smtClean="0">
                <a:solidFill>
                  <a:srgbClr val="2F3338"/>
                </a:solidFill>
                <a:latin typeface="Segoe UI"/>
              </a:rPr>
              <a:t>: 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eval :: Env -&gt; Expr -&gt; Maybe Int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0" i="0" dirty="0">
                <a:solidFill>
                  <a:srgbClr val="2F3338"/>
                </a:solidFill>
                <a:latin typeface="Segoe UI"/>
              </a:rPr>
              <a:t>-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Simplify.hs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 - reguli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algebrice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aplicate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600" b="0" i="0" dirty="0" smtClean="0">
                <a:solidFill>
                  <a:srgbClr val="2F3338"/>
                </a:solidFill>
                <a:latin typeface="Segoe UI"/>
              </a:rPr>
              <a:t>p</a:t>
            </a:r>
            <a:r>
              <a:rPr lang="ro-RO" sz="1600" b="0" i="0" dirty="0" smtClean="0">
                <a:solidFill>
                  <a:srgbClr val="2F3338"/>
                </a:solidFill>
                <a:latin typeface="Segoe UI"/>
              </a:rPr>
              <a:t>â</a:t>
            </a:r>
            <a:r>
              <a:rPr sz="1600" b="0" i="0" dirty="0" smtClean="0">
                <a:solidFill>
                  <a:srgbClr val="2F3338"/>
                </a:solidFill>
                <a:latin typeface="Segoe UI"/>
              </a:rPr>
              <a:t>n</a:t>
            </a:r>
            <a:r>
              <a:rPr lang="ro-RO" sz="1600" dirty="0">
                <a:solidFill>
                  <a:srgbClr val="2F3338"/>
                </a:solidFill>
                <a:latin typeface="Segoe UI"/>
              </a:rPr>
              <a:t>ă</a:t>
            </a:r>
            <a:r>
              <a:rPr sz="1600" b="0" i="0" dirty="0" smtClean="0">
                <a:solidFill>
                  <a:srgbClr val="2F3338"/>
                </a:solidFill>
                <a:latin typeface="Segoe UI"/>
              </a:rPr>
              <a:t> 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la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punct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 fix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0" i="0" dirty="0">
                <a:solidFill>
                  <a:srgbClr val="2F3338"/>
                </a:solidFill>
                <a:latin typeface="Segoe UI"/>
              </a:rPr>
              <a:t>-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Pretty.hs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 -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serializare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 text cu </a:t>
            </a:r>
            <a:r>
              <a:rPr sz="1600" b="0" i="0" dirty="0" err="1" smtClean="0">
                <a:solidFill>
                  <a:srgbClr val="2F3338"/>
                </a:solidFill>
                <a:latin typeface="Segoe UI"/>
              </a:rPr>
              <a:t>preceden</a:t>
            </a:r>
            <a:r>
              <a:rPr lang="ro-RO" sz="1600" b="0" i="0" dirty="0" smtClean="0">
                <a:solidFill>
                  <a:srgbClr val="2F3338"/>
                </a:solidFill>
                <a:latin typeface="Segoe UI"/>
              </a:rPr>
              <a:t>ță</a:t>
            </a:r>
            <a:r>
              <a:rPr sz="1600" b="0" i="0" dirty="0" smtClean="0">
                <a:solidFill>
                  <a:srgbClr val="2F3338"/>
                </a:solidFill>
                <a:latin typeface="Segoe UI"/>
              </a:rPr>
              <a:t> </a:t>
            </a:r>
            <a:r>
              <a:rPr sz="1600" b="0" i="0" dirty="0" err="1" smtClean="0">
                <a:solidFill>
                  <a:srgbClr val="2F3338"/>
                </a:solidFill>
                <a:latin typeface="Segoe UI"/>
              </a:rPr>
              <a:t>corect</a:t>
            </a:r>
            <a:r>
              <a:rPr lang="ro-RO" sz="1600" b="0" i="0" dirty="0" smtClean="0">
                <a:solidFill>
                  <a:srgbClr val="2F3338"/>
                </a:solidFill>
                <a:latin typeface="Segoe UI"/>
              </a:rPr>
              <a:t>ă</a:t>
            </a:r>
            <a:endParaRPr sz="1600" b="0" i="0" dirty="0">
              <a:solidFill>
                <a:srgbClr val="2F3338"/>
              </a:solidFill>
              <a:latin typeface="Segoe UI"/>
            </a:endParaRP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0" i="0" dirty="0">
                <a:solidFill>
                  <a:srgbClr val="2F3338"/>
                </a:solidFill>
                <a:latin typeface="Segoe UI"/>
              </a:rPr>
              <a:t>-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Parser.hs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 -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parsare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 text -&gt; Expr (</a:t>
            </a:r>
            <a:r>
              <a:rPr sz="1600" b="0" i="0" dirty="0" smtClean="0">
                <a:solidFill>
                  <a:srgbClr val="2F3338"/>
                </a:solidFill>
                <a:latin typeface="Segoe UI"/>
              </a:rPr>
              <a:t>respect</a:t>
            </a:r>
            <a:r>
              <a:rPr lang="ro-RO" sz="1600" b="0" i="0" dirty="0" smtClean="0">
                <a:solidFill>
                  <a:srgbClr val="2F3338"/>
                </a:solidFill>
                <a:latin typeface="Segoe UI"/>
              </a:rPr>
              <a:t>ă</a:t>
            </a:r>
            <a:r>
              <a:rPr sz="1600" b="0" i="0" dirty="0" smtClean="0">
                <a:solidFill>
                  <a:srgbClr val="2F3338"/>
                </a:solidFill>
                <a:latin typeface="Segoe UI"/>
              </a:rPr>
              <a:t> </a:t>
            </a:r>
            <a:r>
              <a:rPr sz="1600" b="0" i="0" dirty="0" err="1" smtClean="0">
                <a:solidFill>
                  <a:srgbClr val="2F3338"/>
                </a:solidFill>
                <a:latin typeface="Segoe UI"/>
              </a:rPr>
              <a:t>priorit</a:t>
            </a:r>
            <a:r>
              <a:rPr lang="ro-RO" sz="1600" b="0" i="0" dirty="0" smtClean="0">
                <a:solidFill>
                  <a:srgbClr val="2F3338"/>
                </a:solidFill>
                <a:latin typeface="Segoe UI"/>
              </a:rPr>
              <a:t>ă</a:t>
            </a:r>
            <a:r>
              <a:rPr lang="ro-RO" sz="1600" dirty="0">
                <a:solidFill>
                  <a:srgbClr val="2F3338"/>
                </a:solidFill>
                <a:latin typeface="Segoe UI"/>
              </a:rPr>
              <a:t>ț</a:t>
            </a:r>
            <a:r>
              <a:rPr sz="1600" b="0" i="0" dirty="0" err="1" smtClean="0">
                <a:solidFill>
                  <a:srgbClr val="2F3338"/>
                </a:solidFill>
                <a:latin typeface="Segoe UI"/>
              </a:rPr>
              <a:t>ile</a:t>
            </a:r>
            <a:r>
              <a:rPr sz="1600" b="0" i="0" dirty="0" smtClean="0">
                <a:solidFill>
                  <a:srgbClr val="2F3338"/>
                </a:solidFill>
                <a:latin typeface="Segoe UI"/>
              </a:rPr>
              <a:t>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operatorilor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0" i="0" dirty="0">
                <a:solidFill>
                  <a:srgbClr val="2F3338"/>
                </a:solidFill>
                <a:latin typeface="Segoe UI"/>
              </a:rPr>
              <a:t>- test/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Spec.hs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 -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generatoare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 custom + 16 </a:t>
            </a:r>
            <a:r>
              <a:rPr sz="1600" b="0" i="0" dirty="0" err="1" smtClean="0">
                <a:solidFill>
                  <a:srgbClr val="2F3338"/>
                </a:solidFill>
                <a:latin typeface="Segoe UI"/>
              </a:rPr>
              <a:t>propriet</a:t>
            </a:r>
            <a:r>
              <a:rPr lang="ro-RO" sz="1600" b="0" i="0" dirty="0" smtClean="0">
                <a:solidFill>
                  <a:srgbClr val="2F3338"/>
                </a:solidFill>
                <a:latin typeface="Segoe UI"/>
              </a:rPr>
              <a:t>ăț</a:t>
            </a:r>
            <a:r>
              <a:rPr sz="1600" b="0" i="0" dirty="0" smtClean="0">
                <a:solidFill>
                  <a:srgbClr val="2F3338"/>
                </a:solidFill>
                <a:latin typeface="Segoe UI"/>
              </a:rPr>
              <a:t>i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QuickCheck</a:t>
            </a:r>
            <a:endParaRPr sz="1600" b="0" i="0" dirty="0">
              <a:solidFill>
                <a:srgbClr val="2F3338"/>
              </a:solidFill>
              <a:latin typeface="Segoe U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400" dirty="0" err="1"/>
              <a:t>Modulul</a:t>
            </a:r>
            <a:r>
              <a:rPr sz="3400" dirty="0"/>
              <a:t> </a:t>
            </a:r>
            <a:r>
              <a:rPr sz="3400" dirty="0" err="1"/>
              <a:t>testat</a:t>
            </a:r>
            <a:r>
              <a:rPr sz="3400" dirty="0"/>
              <a:t>: AST </a:t>
            </a:r>
            <a:r>
              <a:rPr lang="ro-RO" sz="3400" dirty="0" err="1"/>
              <a:t>ș</a:t>
            </a:r>
            <a:r>
              <a:rPr sz="3400" dirty="0" smtClean="0"/>
              <a:t>i </a:t>
            </a:r>
            <a:r>
              <a:rPr sz="3400" dirty="0"/>
              <a:t>evaluator</a:t>
            </a:r>
          </a:p>
        </p:txBody>
      </p:sp>
      <p:sp>
        <p:nvSpPr>
          <p:cNvPr id="9" name="Rounded Rectangle 2"/>
          <p:cNvSpPr/>
          <p:nvPr/>
        </p:nvSpPr>
        <p:spPr>
          <a:xfrm>
            <a:off x="1153160" y="1986280"/>
            <a:ext cx="4808728" cy="1971943"/>
          </a:xfrm>
          <a:prstGeom prst="roundRect">
            <a:avLst/>
          </a:prstGeom>
          <a:solidFill>
            <a:srgbClr val="1E1E1E"/>
          </a:solidFill>
          <a:ln w="15240">
            <a:solidFill>
              <a:srgbClr val="2D2D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317752" y="2096007"/>
            <a:ext cx="4478988" cy="14003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 dirty="0">
                <a:solidFill>
                  <a:srgbClr val="4EC9B0"/>
                </a:solidFill>
                <a:latin typeface="Consolas"/>
              </a:rPr>
              <a:t>AST (</a:t>
            </a:r>
            <a:r>
              <a:rPr sz="1400" b="1" i="0" dirty="0" err="1">
                <a:solidFill>
                  <a:srgbClr val="4EC9B0"/>
                </a:solidFill>
                <a:latin typeface="Consolas"/>
              </a:rPr>
              <a:t>Expr</a:t>
            </a:r>
            <a:r>
              <a:rPr sz="1400" b="1" i="0" dirty="0">
                <a:solidFill>
                  <a:srgbClr val="4EC9B0"/>
                </a:solidFill>
                <a:latin typeface="Consolas"/>
              </a:rPr>
              <a:t>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0" b="0" i="0" dirty="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 dirty="0">
                <a:solidFill>
                  <a:srgbClr val="569CD6"/>
                </a:solidFill>
                <a:latin typeface="Consolas"/>
              </a:rPr>
              <a:t>data </a:t>
            </a:r>
            <a:r>
              <a:rPr sz="1300" b="0" i="0" dirty="0" err="1">
                <a:solidFill>
                  <a:srgbClr val="569CD6"/>
                </a:solidFill>
                <a:latin typeface="Consolas"/>
              </a:rPr>
              <a:t>Expr</a:t>
            </a:r>
            <a:endParaRPr sz="1300" b="0" i="0" dirty="0">
              <a:solidFill>
                <a:srgbClr val="569CD6"/>
              </a:solidFill>
              <a:latin typeface="Consolas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 dirty="0">
                <a:solidFill>
                  <a:srgbClr val="D4D4D4"/>
                </a:solidFill>
                <a:latin typeface="Consolas"/>
              </a:rPr>
              <a:t>  = </a:t>
            </a:r>
            <a:r>
              <a:rPr sz="1300" b="0" i="0" dirty="0" err="1">
                <a:solidFill>
                  <a:srgbClr val="D4D4D4"/>
                </a:solidFill>
                <a:latin typeface="Consolas"/>
              </a:rPr>
              <a:t>Const</a:t>
            </a:r>
            <a:r>
              <a:rPr sz="1300" b="0" i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300" b="0" i="0" dirty="0" err="1">
                <a:solidFill>
                  <a:srgbClr val="D4D4D4"/>
                </a:solidFill>
                <a:latin typeface="Consolas"/>
              </a:rPr>
              <a:t>Int</a:t>
            </a:r>
            <a:endParaRPr sz="1300" b="0" i="0" dirty="0">
              <a:solidFill>
                <a:srgbClr val="D4D4D4"/>
              </a:solidFill>
              <a:latin typeface="Consolas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 dirty="0">
                <a:solidFill>
                  <a:srgbClr val="D4D4D4"/>
                </a:solidFill>
                <a:latin typeface="Consolas"/>
              </a:rPr>
              <a:t>  | </a:t>
            </a:r>
            <a:r>
              <a:rPr sz="1300" b="0" i="0" dirty="0" err="1">
                <a:solidFill>
                  <a:srgbClr val="D4D4D4"/>
                </a:solidFill>
                <a:latin typeface="Consolas"/>
              </a:rPr>
              <a:t>Var</a:t>
            </a:r>
            <a:r>
              <a:rPr sz="1300" b="0" i="0" dirty="0">
                <a:solidFill>
                  <a:srgbClr val="D4D4D4"/>
                </a:solidFill>
                <a:latin typeface="Consolas"/>
              </a:rPr>
              <a:t> String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 dirty="0">
                <a:solidFill>
                  <a:srgbClr val="D4D4D4"/>
                </a:solidFill>
                <a:latin typeface="Consolas"/>
              </a:rPr>
              <a:t>  | Add </a:t>
            </a:r>
            <a:r>
              <a:rPr sz="1300" b="0" i="0" dirty="0" err="1">
                <a:solidFill>
                  <a:srgbClr val="D4D4D4"/>
                </a:solidFill>
                <a:latin typeface="Consolas"/>
              </a:rPr>
              <a:t>Expr</a:t>
            </a:r>
            <a:r>
              <a:rPr sz="1300" b="0" i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300" b="0" i="0" dirty="0" err="1">
                <a:solidFill>
                  <a:srgbClr val="D4D4D4"/>
                </a:solidFill>
                <a:latin typeface="Consolas"/>
              </a:rPr>
              <a:t>Expr</a:t>
            </a:r>
            <a:r>
              <a:rPr sz="1300" b="0" i="0" dirty="0">
                <a:solidFill>
                  <a:srgbClr val="D4D4D4"/>
                </a:solidFill>
                <a:latin typeface="Consolas"/>
              </a:rPr>
              <a:t> | Sub </a:t>
            </a:r>
            <a:r>
              <a:rPr sz="1300" b="0" i="0" dirty="0" err="1">
                <a:solidFill>
                  <a:srgbClr val="D4D4D4"/>
                </a:solidFill>
                <a:latin typeface="Consolas"/>
              </a:rPr>
              <a:t>Expr</a:t>
            </a:r>
            <a:r>
              <a:rPr sz="1300" b="0" i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300" b="0" i="0" dirty="0" err="1">
                <a:solidFill>
                  <a:srgbClr val="D4D4D4"/>
                </a:solidFill>
                <a:latin typeface="Consolas"/>
              </a:rPr>
              <a:t>Expr</a:t>
            </a:r>
            <a:endParaRPr sz="1300" b="0" i="0" dirty="0">
              <a:solidFill>
                <a:srgbClr val="D4D4D4"/>
              </a:solidFill>
              <a:latin typeface="Consolas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 dirty="0">
                <a:solidFill>
                  <a:srgbClr val="D4D4D4"/>
                </a:solidFill>
                <a:latin typeface="Consolas"/>
              </a:rPr>
              <a:t>  | </a:t>
            </a:r>
            <a:r>
              <a:rPr sz="1300" b="0" i="0" dirty="0" err="1">
                <a:solidFill>
                  <a:srgbClr val="D4D4D4"/>
                </a:solidFill>
                <a:latin typeface="Consolas"/>
              </a:rPr>
              <a:t>Mul</a:t>
            </a:r>
            <a:r>
              <a:rPr sz="1300" b="0" i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300" b="0" i="0" dirty="0" err="1">
                <a:solidFill>
                  <a:srgbClr val="D4D4D4"/>
                </a:solidFill>
                <a:latin typeface="Consolas"/>
              </a:rPr>
              <a:t>Expr</a:t>
            </a:r>
            <a:r>
              <a:rPr sz="1300" b="0" i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300" b="0" i="0" dirty="0" err="1">
                <a:solidFill>
                  <a:srgbClr val="D4D4D4"/>
                </a:solidFill>
                <a:latin typeface="Consolas"/>
              </a:rPr>
              <a:t>Expr</a:t>
            </a:r>
            <a:r>
              <a:rPr sz="1300" b="0" i="0" dirty="0">
                <a:solidFill>
                  <a:srgbClr val="D4D4D4"/>
                </a:solidFill>
                <a:latin typeface="Consolas"/>
              </a:rPr>
              <a:t> | </a:t>
            </a:r>
            <a:r>
              <a:rPr sz="1300" b="0" i="0" dirty="0" err="1">
                <a:solidFill>
                  <a:srgbClr val="D4D4D4"/>
                </a:solidFill>
                <a:latin typeface="Consolas"/>
              </a:rPr>
              <a:t>Neg</a:t>
            </a:r>
            <a:r>
              <a:rPr sz="1300" b="0" i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300" b="0" i="0" dirty="0" err="1">
                <a:solidFill>
                  <a:srgbClr val="D4D4D4"/>
                </a:solidFill>
                <a:latin typeface="Consolas"/>
              </a:rPr>
              <a:t>Expr</a:t>
            </a:r>
            <a:endParaRPr sz="1300" b="0" i="0" dirty="0">
              <a:solidFill>
                <a:srgbClr val="D4D4D4"/>
              </a:solidFill>
              <a:latin typeface="Consolas"/>
            </a:endParaRPr>
          </a:p>
        </p:txBody>
      </p:sp>
      <p:sp>
        <p:nvSpPr>
          <p:cNvPr id="11" name="Rounded Rectangle 4"/>
          <p:cNvSpPr/>
          <p:nvPr/>
        </p:nvSpPr>
        <p:spPr>
          <a:xfrm>
            <a:off x="1153160" y="4018787"/>
            <a:ext cx="4808728" cy="1629705"/>
          </a:xfrm>
          <a:prstGeom prst="roundRect">
            <a:avLst/>
          </a:prstGeom>
          <a:solidFill>
            <a:srgbClr val="1E1E1E"/>
          </a:solidFill>
          <a:ln w="15240">
            <a:solidFill>
              <a:srgbClr val="2D2D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317752" y="4128516"/>
            <a:ext cx="4478988" cy="14003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 dirty="0">
                <a:solidFill>
                  <a:srgbClr val="4EC9B0"/>
                </a:solidFill>
                <a:latin typeface="Consolas"/>
              </a:rPr>
              <a:t>Evaluator (fragment)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0" b="0" i="0" dirty="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 dirty="0">
                <a:solidFill>
                  <a:srgbClr val="9CDCFE"/>
                </a:solidFill>
                <a:latin typeface="Consolas"/>
              </a:rPr>
              <a:t>eval :: Env -&gt; Expr -&gt; Maybe Int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 dirty="0">
                <a:solidFill>
                  <a:srgbClr val="D4D4D4"/>
                </a:solidFill>
                <a:latin typeface="Consolas"/>
              </a:rPr>
              <a:t>eval env (Add a b) = liftA2 (+) (eval env a) (eval env b)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 dirty="0">
                <a:solidFill>
                  <a:srgbClr val="D4D4D4"/>
                </a:solidFill>
                <a:latin typeface="Consolas"/>
              </a:rPr>
              <a:t>eval env (Var x)   = </a:t>
            </a:r>
            <a:r>
              <a:rPr sz="1300" b="0" i="0" dirty="0" err="1">
                <a:solidFill>
                  <a:srgbClr val="D4D4D4"/>
                </a:solidFill>
                <a:latin typeface="Consolas"/>
              </a:rPr>
              <a:t>Map.lookup</a:t>
            </a:r>
            <a:r>
              <a:rPr sz="1300" b="0" i="0" dirty="0">
                <a:solidFill>
                  <a:srgbClr val="D4D4D4"/>
                </a:solidFill>
                <a:latin typeface="Consolas"/>
              </a:rPr>
              <a:t> x env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 dirty="0">
                <a:solidFill>
                  <a:srgbClr val="6A9955"/>
                </a:solidFill>
                <a:latin typeface="Consolas"/>
              </a:rPr>
              <a:t>-- Nothing </a:t>
            </a:r>
            <a:r>
              <a:rPr sz="1300" b="0" i="0" dirty="0" err="1">
                <a:solidFill>
                  <a:srgbClr val="6A9955"/>
                </a:solidFill>
                <a:latin typeface="Consolas"/>
              </a:rPr>
              <a:t>daca</a:t>
            </a:r>
            <a:r>
              <a:rPr sz="1300" b="0" i="0" dirty="0">
                <a:solidFill>
                  <a:srgbClr val="6A9955"/>
                </a:solidFill>
                <a:latin typeface="Consolas"/>
              </a:rPr>
              <a:t> o </a:t>
            </a:r>
            <a:r>
              <a:rPr sz="1300" b="0" i="0" dirty="0" err="1">
                <a:solidFill>
                  <a:srgbClr val="6A9955"/>
                </a:solidFill>
                <a:latin typeface="Consolas"/>
              </a:rPr>
              <a:t>variabila</a:t>
            </a:r>
            <a:r>
              <a:rPr sz="1300" b="0" i="0" dirty="0">
                <a:solidFill>
                  <a:srgbClr val="6A9955"/>
                </a:solidFill>
                <a:latin typeface="Consolas"/>
              </a:rPr>
              <a:t> </a:t>
            </a:r>
            <a:r>
              <a:rPr sz="1300" b="0" i="0" dirty="0" err="1">
                <a:solidFill>
                  <a:srgbClr val="6A9955"/>
                </a:solidFill>
                <a:latin typeface="Consolas"/>
              </a:rPr>
              <a:t>lipseste</a:t>
            </a:r>
            <a:r>
              <a:rPr sz="1300" b="0" i="0" dirty="0">
                <a:solidFill>
                  <a:srgbClr val="6A9955"/>
                </a:solidFill>
                <a:latin typeface="Consolas"/>
              </a:rPr>
              <a:t> din </a:t>
            </a:r>
            <a:r>
              <a:rPr sz="1300" b="0" i="0" dirty="0" err="1">
                <a:solidFill>
                  <a:srgbClr val="6A9955"/>
                </a:solidFill>
                <a:latin typeface="Consolas"/>
              </a:rPr>
              <a:t>mediu</a:t>
            </a:r>
            <a:endParaRPr sz="1300" b="0" i="0" dirty="0">
              <a:solidFill>
                <a:srgbClr val="6A9955"/>
              </a:solidFill>
              <a:latin typeface="Consolas"/>
            </a:endParaRPr>
          </a:p>
        </p:txBody>
      </p:sp>
      <p:sp>
        <p:nvSpPr>
          <p:cNvPr id="13" name="Rounded Rectangle 6"/>
          <p:cNvSpPr/>
          <p:nvPr/>
        </p:nvSpPr>
        <p:spPr>
          <a:xfrm>
            <a:off x="6346952" y="1986280"/>
            <a:ext cx="4808728" cy="3657600"/>
          </a:xfrm>
          <a:prstGeom prst="roundRect">
            <a:avLst/>
          </a:prstGeom>
          <a:solidFill>
            <a:srgbClr val="EEF4FF"/>
          </a:solidFill>
          <a:ln w="15240">
            <a:solidFill>
              <a:srgbClr val="D0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02399" y="2105152"/>
            <a:ext cx="448814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F4E79"/>
                </a:solidFill>
                <a:latin typeface="Segoe UI"/>
              </a:rPr>
              <a:t>Arbore pentru: 1 * x + -(-y)</a:t>
            </a:r>
          </a:p>
        </p:txBody>
      </p:sp>
      <p:sp>
        <p:nvSpPr>
          <p:cNvPr id="18" name="Rounded Rectangle 11"/>
          <p:cNvSpPr/>
          <p:nvPr/>
        </p:nvSpPr>
        <p:spPr>
          <a:xfrm>
            <a:off x="7032752" y="4043680"/>
            <a:ext cx="714440" cy="325941"/>
          </a:xfrm>
          <a:prstGeom prst="roundRect">
            <a:avLst/>
          </a:prstGeom>
          <a:solidFill>
            <a:srgbClr val="EAF1FB"/>
          </a:solidFill>
          <a:ln w="16510">
            <a:solidFill>
              <a:srgbClr val="3B6E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1F4E79"/>
                </a:solidFill>
                <a:latin typeface="Consolas"/>
              </a:rPr>
              <a:t>1</a:t>
            </a:r>
          </a:p>
        </p:txBody>
      </p:sp>
      <p:sp>
        <p:nvSpPr>
          <p:cNvPr id="19" name="Rounded Rectangle 12"/>
          <p:cNvSpPr/>
          <p:nvPr/>
        </p:nvSpPr>
        <p:spPr>
          <a:xfrm>
            <a:off x="7874000" y="4043680"/>
            <a:ext cx="714440" cy="325941"/>
          </a:xfrm>
          <a:prstGeom prst="roundRect">
            <a:avLst/>
          </a:prstGeom>
          <a:solidFill>
            <a:srgbClr val="EAF1FB"/>
          </a:solidFill>
          <a:ln w="16510">
            <a:solidFill>
              <a:srgbClr val="3B6E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1F4E79"/>
                </a:solidFill>
                <a:latin typeface="Consolas"/>
              </a:rPr>
              <a:t>x</a:t>
            </a:r>
          </a:p>
        </p:txBody>
      </p:sp>
      <p:cxnSp>
        <p:nvCxnSpPr>
          <p:cNvPr id="22" name="Connector 15"/>
          <p:cNvCxnSpPr>
            <a:cxnSpLocks/>
            <a:endCxn id="16" idx="0"/>
          </p:cNvCxnSpPr>
          <p:nvPr/>
        </p:nvCxnSpPr>
        <p:spPr>
          <a:xfrm flipH="1">
            <a:off x="7810596" y="2900680"/>
            <a:ext cx="977804" cy="484632"/>
          </a:xfrm>
          <a:prstGeom prst="line">
            <a:avLst/>
          </a:prstGeom>
          <a:ln w="16510">
            <a:solidFill>
              <a:srgbClr val="6B7F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16"/>
          <p:cNvCxnSpPr>
            <a:cxnSpLocks/>
          </p:cNvCxnSpPr>
          <p:nvPr/>
        </p:nvCxnSpPr>
        <p:spPr>
          <a:xfrm>
            <a:off x="8788400" y="2900680"/>
            <a:ext cx="907690" cy="594842"/>
          </a:xfrm>
          <a:prstGeom prst="line">
            <a:avLst/>
          </a:prstGeom>
          <a:ln w="16510">
            <a:solidFill>
              <a:srgbClr val="6B7F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17"/>
          <p:cNvCxnSpPr>
            <a:cxnSpLocks/>
            <a:endCxn id="18" idx="0"/>
          </p:cNvCxnSpPr>
          <p:nvPr/>
        </p:nvCxnSpPr>
        <p:spPr>
          <a:xfrm flipH="1">
            <a:off x="7389972" y="3568192"/>
            <a:ext cx="420020" cy="475488"/>
          </a:xfrm>
          <a:prstGeom prst="line">
            <a:avLst/>
          </a:prstGeom>
          <a:ln w="16510">
            <a:solidFill>
              <a:srgbClr val="6B7F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18"/>
          <p:cNvCxnSpPr>
            <a:cxnSpLocks/>
            <a:endCxn id="19" idx="0"/>
          </p:cNvCxnSpPr>
          <p:nvPr/>
        </p:nvCxnSpPr>
        <p:spPr>
          <a:xfrm>
            <a:off x="7809992" y="3568192"/>
            <a:ext cx="421228" cy="475488"/>
          </a:xfrm>
          <a:prstGeom prst="line">
            <a:avLst/>
          </a:prstGeom>
          <a:ln w="16510">
            <a:solidFill>
              <a:srgbClr val="6B7F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19"/>
          <p:cNvCxnSpPr>
            <a:cxnSpLocks/>
          </p:cNvCxnSpPr>
          <p:nvPr/>
        </p:nvCxnSpPr>
        <p:spPr>
          <a:xfrm>
            <a:off x="9766808" y="3568192"/>
            <a:ext cx="0" cy="586694"/>
          </a:xfrm>
          <a:prstGeom prst="line">
            <a:avLst/>
          </a:prstGeom>
          <a:ln w="16510">
            <a:solidFill>
              <a:srgbClr val="6B7F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0"/>
          <p:cNvCxnSpPr>
            <a:cxnSpLocks/>
          </p:cNvCxnSpPr>
          <p:nvPr/>
        </p:nvCxnSpPr>
        <p:spPr>
          <a:xfrm>
            <a:off x="9766808" y="4226560"/>
            <a:ext cx="0" cy="586694"/>
          </a:xfrm>
          <a:prstGeom prst="line">
            <a:avLst/>
          </a:prstGeom>
          <a:ln w="16510">
            <a:solidFill>
              <a:srgbClr val="6B7F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544327" y="5311227"/>
            <a:ext cx="448814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i="0" dirty="0" smtClean="0">
                <a:solidFill>
                  <a:srgbClr val="4B5563"/>
                </a:solidFill>
                <a:latin typeface="Segoe UI"/>
              </a:rPr>
              <a:t>R</a:t>
            </a:r>
            <a:r>
              <a:rPr lang="ro-RO" sz="1200" i="0" dirty="0" smtClean="0">
                <a:solidFill>
                  <a:srgbClr val="4B5563"/>
                </a:solidFill>
                <a:latin typeface="Segoe UI"/>
              </a:rPr>
              <a:t>ă</a:t>
            </a:r>
            <a:r>
              <a:rPr sz="1200" i="0" dirty="0" smtClean="0">
                <a:solidFill>
                  <a:srgbClr val="4B5563"/>
                </a:solidFill>
                <a:latin typeface="Segoe UI"/>
              </a:rPr>
              <a:t>d</a:t>
            </a:r>
            <a:r>
              <a:rPr lang="ro-RO" sz="1200" i="0" dirty="0" smtClean="0">
                <a:solidFill>
                  <a:srgbClr val="4B5563"/>
                </a:solidFill>
                <a:latin typeface="Segoe UI"/>
              </a:rPr>
              <a:t>ă</a:t>
            </a:r>
            <a:r>
              <a:rPr sz="1200" i="0" dirty="0" err="1" smtClean="0">
                <a:solidFill>
                  <a:srgbClr val="4B5563"/>
                </a:solidFill>
                <a:latin typeface="Segoe UI"/>
              </a:rPr>
              <a:t>cina</a:t>
            </a:r>
            <a:r>
              <a:rPr sz="1200" i="0" dirty="0">
                <a:solidFill>
                  <a:srgbClr val="4B5563"/>
                </a:solidFill>
                <a:latin typeface="Segoe UI"/>
              </a:rPr>
              <a:t>:</a:t>
            </a:r>
            <a:r>
              <a:rPr sz="1200" b="1" i="0" dirty="0">
                <a:solidFill>
                  <a:srgbClr val="4B5563"/>
                </a:solidFill>
                <a:latin typeface="Segoe UI"/>
              </a:rPr>
              <a:t> </a:t>
            </a:r>
            <a:r>
              <a:rPr sz="1200" b="1" i="0" dirty="0">
                <a:solidFill>
                  <a:srgbClr val="1F4E79"/>
                </a:solidFill>
                <a:latin typeface="Consolas"/>
              </a:rPr>
              <a:t>Add</a:t>
            </a:r>
            <a:r>
              <a:rPr sz="1200" b="0" i="0" dirty="0">
                <a:solidFill>
                  <a:srgbClr val="4B5563"/>
                </a:solidFill>
                <a:latin typeface="Segoe UI"/>
              </a:rPr>
              <a:t>  |  </a:t>
            </a:r>
            <a:r>
              <a:rPr sz="1200" b="0" i="0" dirty="0" err="1">
                <a:solidFill>
                  <a:srgbClr val="4B5563"/>
                </a:solidFill>
                <a:latin typeface="Segoe UI"/>
              </a:rPr>
              <a:t>Subarbori</a:t>
            </a:r>
            <a:r>
              <a:rPr sz="1200" b="0" i="0" dirty="0">
                <a:solidFill>
                  <a:srgbClr val="4B5563"/>
                </a:solidFill>
                <a:latin typeface="Segoe UI"/>
              </a:rPr>
              <a:t>: </a:t>
            </a:r>
            <a:r>
              <a:rPr sz="1200" b="1" i="0" dirty="0">
                <a:solidFill>
                  <a:srgbClr val="1F4E79"/>
                </a:solidFill>
                <a:latin typeface="Consolas"/>
              </a:rPr>
              <a:t>Mul(1,x)</a:t>
            </a:r>
            <a:r>
              <a:rPr sz="1200" b="0" i="0" dirty="0">
                <a:solidFill>
                  <a:srgbClr val="4B5563"/>
                </a:solidFill>
                <a:latin typeface="Segoe UI"/>
              </a:rPr>
              <a:t> </a:t>
            </a:r>
            <a:r>
              <a:rPr lang="ro-RO" sz="1200" dirty="0" err="1">
                <a:solidFill>
                  <a:srgbClr val="4B5563"/>
                </a:solidFill>
                <a:latin typeface="Segoe UI"/>
              </a:rPr>
              <a:t>ș</a:t>
            </a:r>
            <a:r>
              <a:rPr sz="1200" b="0" i="0" dirty="0" smtClean="0">
                <a:solidFill>
                  <a:srgbClr val="4B5563"/>
                </a:solidFill>
                <a:latin typeface="Segoe UI"/>
              </a:rPr>
              <a:t>i </a:t>
            </a:r>
            <a:r>
              <a:rPr sz="1200" b="1" i="0" dirty="0">
                <a:solidFill>
                  <a:srgbClr val="1F4E79"/>
                </a:solidFill>
                <a:latin typeface="Consolas"/>
              </a:rPr>
              <a:t>Neg(Neg(y))</a:t>
            </a:r>
          </a:p>
        </p:txBody>
      </p:sp>
      <p:sp>
        <p:nvSpPr>
          <p:cNvPr id="15" name="Rounded Rectangle 8"/>
          <p:cNvSpPr/>
          <p:nvPr/>
        </p:nvSpPr>
        <p:spPr>
          <a:xfrm>
            <a:off x="8431784" y="2717800"/>
            <a:ext cx="714440" cy="325941"/>
          </a:xfrm>
          <a:prstGeom prst="roundRect">
            <a:avLst/>
          </a:prstGeom>
          <a:solidFill>
            <a:srgbClr val="EAF1FB"/>
          </a:solidFill>
          <a:ln w="16510">
            <a:solidFill>
              <a:srgbClr val="3B6E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1F4E79"/>
                </a:solidFill>
                <a:latin typeface="Consolas"/>
              </a:rPr>
              <a:t>Add</a:t>
            </a:r>
          </a:p>
        </p:txBody>
      </p:sp>
      <p:sp>
        <p:nvSpPr>
          <p:cNvPr id="17" name="Rounded Rectangle 10"/>
          <p:cNvSpPr/>
          <p:nvPr/>
        </p:nvSpPr>
        <p:spPr>
          <a:xfrm>
            <a:off x="9410192" y="3385312"/>
            <a:ext cx="714440" cy="325941"/>
          </a:xfrm>
          <a:prstGeom prst="roundRect">
            <a:avLst/>
          </a:prstGeom>
          <a:solidFill>
            <a:srgbClr val="EAF1FB"/>
          </a:solidFill>
          <a:ln w="16510">
            <a:solidFill>
              <a:srgbClr val="3B6E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1F4E79"/>
                </a:solidFill>
                <a:latin typeface="Consolas"/>
              </a:rPr>
              <a:t>Neg</a:t>
            </a:r>
          </a:p>
        </p:txBody>
      </p:sp>
      <p:sp>
        <p:nvSpPr>
          <p:cNvPr id="20" name="Rounded Rectangle 13"/>
          <p:cNvSpPr/>
          <p:nvPr/>
        </p:nvSpPr>
        <p:spPr>
          <a:xfrm>
            <a:off x="9410192" y="4043680"/>
            <a:ext cx="714440" cy="325941"/>
          </a:xfrm>
          <a:prstGeom prst="roundRect">
            <a:avLst/>
          </a:prstGeom>
          <a:solidFill>
            <a:srgbClr val="EAF1FB"/>
          </a:solidFill>
          <a:ln w="16510">
            <a:solidFill>
              <a:srgbClr val="3B6E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1F4E79"/>
                </a:solidFill>
                <a:latin typeface="Consolas"/>
              </a:rPr>
              <a:t>Neg</a:t>
            </a:r>
          </a:p>
        </p:txBody>
      </p:sp>
      <p:sp>
        <p:nvSpPr>
          <p:cNvPr id="21" name="Rounded Rectangle 14"/>
          <p:cNvSpPr/>
          <p:nvPr/>
        </p:nvSpPr>
        <p:spPr>
          <a:xfrm>
            <a:off x="9410192" y="4702048"/>
            <a:ext cx="714440" cy="325941"/>
          </a:xfrm>
          <a:prstGeom prst="roundRect">
            <a:avLst/>
          </a:prstGeom>
          <a:solidFill>
            <a:srgbClr val="EAF1FB"/>
          </a:solidFill>
          <a:ln w="16510">
            <a:solidFill>
              <a:srgbClr val="3B6E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1F4E79"/>
                </a:solidFill>
                <a:latin typeface="Consolas"/>
              </a:rPr>
              <a:t>y</a:t>
            </a:r>
          </a:p>
        </p:txBody>
      </p:sp>
      <p:sp>
        <p:nvSpPr>
          <p:cNvPr id="16" name="Rounded Rectangle 9"/>
          <p:cNvSpPr/>
          <p:nvPr/>
        </p:nvSpPr>
        <p:spPr>
          <a:xfrm>
            <a:off x="7453376" y="3385312"/>
            <a:ext cx="714440" cy="325941"/>
          </a:xfrm>
          <a:prstGeom prst="roundRect">
            <a:avLst/>
          </a:prstGeom>
          <a:solidFill>
            <a:srgbClr val="EAF1FB"/>
          </a:solidFill>
          <a:ln w="16510">
            <a:solidFill>
              <a:srgbClr val="3B6E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1F4E79"/>
                </a:solidFill>
                <a:latin typeface="Consolas"/>
              </a:rPr>
              <a:t>Mul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53160" y="5762752"/>
            <a:ext cx="10058400" cy="5796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0" dirty="0" err="1">
                <a:solidFill>
                  <a:srgbClr val="2F3338"/>
                </a:solidFill>
                <a:latin typeface="Segoe UI"/>
              </a:rPr>
              <a:t>Modelarea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 cu 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tipuri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algebrice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 face 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structura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expresiilor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500" b="0" i="0" dirty="0" smtClean="0">
                <a:solidFill>
                  <a:srgbClr val="2F3338"/>
                </a:solidFill>
                <a:latin typeface="Segoe UI"/>
              </a:rPr>
              <a:t>explicit</a:t>
            </a:r>
            <a:r>
              <a:rPr lang="ro-RO" sz="1500" b="0" i="0" dirty="0" smtClean="0">
                <a:solidFill>
                  <a:srgbClr val="2F3338"/>
                </a:solidFill>
                <a:latin typeface="Segoe UI"/>
              </a:rPr>
              <a:t>ă</a:t>
            </a:r>
            <a:r>
              <a:rPr sz="1500" b="0" i="0" dirty="0" smtClean="0">
                <a:solidFill>
                  <a:srgbClr val="2F3338"/>
                </a:solidFill>
                <a:latin typeface="Segoe UI"/>
              </a:rPr>
              <a:t> </a:t>
            </a:r>
            <a:r>
              <a:rPr lang="ro-RO" sz="1500" dirty="0" err="1">
                <a:solidFill>
                  <a:srgbClr val="2F3338"/>
                </a:solidFill>
                <a:latin typeface="Segoe UI"/>
              </a:rPr>
              <a:t>ș</a:t>
            </a:r>
            <a:r>
              <a:rPr sz="1500" b="0" i="0" dirty="0" smtClean="0">
                <a:solidFill>
                  <a:srgbClr val="2F3338"/>
                </a:solidFill>
                <a:latin typeface="Segoe UI"/>
              </a:rPr>
              <a:t>i u</a:t>
            </a:r>
            <a:r>
              <a:rPr lang="ro-RO" sz="1500" b="0" i="0" dirty="0" smtClean="0">
                <a:solidFill>
                  <a:srgbClr val="2F3338"/>
                </a:solidFill>
                <a:latin typeface="Segoe UI"/>
              </a:rPr>
              <a:t>ș</a:t>
            </a:r>
            <a:r>
              <a:rPr sz="1500" b="0" i="0" dirty="0" smtClean="0">
                <a:solidFill>
                  <a:srgbClr val="2F3338"/>
                </a:solidFill>
                <a:latin typeface="Segoe UI"/>
              </a:rPr>
              <a:t>or 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de 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procesat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recursiv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0" dirty="0" err="1" smtClean="0">
                <a:solidFill>
                  <a:srgbClr val="2F3338"/>
                </a:solidFill>
                <a:latin typeface="Segoe UI"/>
              </a:rPr>
              <a:t>Func</a:t>
            </a:r>
            <a:r>
              <a:rPr lang="ro-RO" sz="1500" b="0" i="0" dirty="0" smtClean="0">
                <a:solidFill>
                  <a:srgbClr val="2F3338"/>
                </a:solidFill>
                <a:latin typeface="Segoe UI"/>
              </a:rPr>
              <a:t>ț</a:t>
            </a:r>
            <a:r>
              <a:rPr sz="1500" b="0" i="0" dirty="0" smtClean="0">
                <a:solidFill>
                  <a:srgbClr val="2F3338"/>
                </a:solidFill>
                <a:latin typeface="Segoe UI"/>
              </a:rPr>
              <a:t>ii 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precum size/depth/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operatorCount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folosesc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 direct </a:t>
            </a:r>
            <a:r>
              <a:rPr sz="1500" b="0" i="0" dirty="0" err="1" smtClean="0">
                <a:solidFill>
                  <a:srgbClr val="2F3338"/>
                </a:solidFill>
                <a:latin typeface="Segoe UI"/>
              </a:rPr>
              <a:t>aceast</a:t>
            </a:r>
            <a:r>
              <a:rPr lang="ro-RO" sz="1500" b="0" i="0" dirty="0" smtClean="0">
                <a:solidFill>
                  <a:srgbClr val="2F3338"/>
                </a:solidFill>
                <a:latin typeface="Segoe UI"/>
              </a:rPr>
              <a:t>ă</a:t>
            </a:r>
            <a:r>
              <a:rPr sz="1500" b="0" i="0" dirty="0" smtClean="0">
                <a:solidFill>
                  <a:srgbClr val="2F3338"/>
                </a:solidFill>
                <a:latin typeface="Segoe UI"/>
              </a:rPr>
              <a:t> </a:t>
            </a:r>
            <a:r>
              <a:rPr sz="1500" b="0" i="0" dirty="0" err="1" smtClean="0">
                <a:solidFill>
                  <a:srgbClr val="2F3338"/>
                </a:solidFill>
                <a:latin typeface="Segoe UI"/>
              </a:rPr>
              <a:t>structur</a:t>
            </a:r>
            <a:r>
              <a:rPr lang="ro-RO" sz="1500" b="0" i="0" dirty="0" smtClean="0">
                <a:solidFill>
                  <a:srgbClr val="2F3338"/>
                </a:solidFill>
                <a:latin typeface="Segoe UI"/>
              </a:rPr>
              <a:t>ă.</a:t>
            </a:r>
            <a:endParaRPr sz="1500" b="0" i="0" dirty="0">
              <a:solidFill>
                <a:srgbClr val="2F3338"/>
              </a:solidFill>
              <a:latin typeface="Segoe U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500" dirty="0" err="1">
                <a:solidFill>
                  <a:srgbClr val="2F3338"/>
                </a:solidFill>
              </a:rPr>
              <a:t>Evaluatorul</a:t>
            </a:r>
            <a:r>
              <a:rPr sz="3500" dirty="0">
                <a:solidFill>
                  <a:srgbClr val="2F3338"/>
                </a:solidFill>
              </a:rPr>
              <a:t>: </a:t>
            </a:r>
            <a:r>
              <a:rPr sz="3500" dirty="0" err="1">
                <a:solidFill>
                  <a:srgbClr val="2F3338"/>
                </a:solidFill>
              </a:rPr>
              <a:t>semantica</a:t>
            </a:r>
            <a:r>
              <a:rPr sz="3500" dirty="0">
                <a:solidFill>
                  <a:srgbClr val="2F3338"/>
                </a:solidFill>
              </a:rPr>
              <a:t> </a:t>
            </a:r>
            <a:r>
              <a:rPr sz="3500" dirty="0" smtClean="0">
                <a:solidFill>
                  <a:srgbClr val="2F3338"/>
                </a:solidFill>
              </a:rPr>
              <a:t>opera</a:t>
            </a:r>
            <a:r>
              <a:rPr lang="ro-RO" sz="3500" dirty="0" smtClean="0">
                <a:solidFill>
                  <a:srgbClr val="2F3338"/>
                </a:solidFill>
              </a:rPr>
              <a:t>ț</a:t>
            </a:r>
            <a:r>
              <a:rPr sz="3500" dirty="0" err="1" smtClean="0">
                <a:solidFill>
                  <a:srgbClr val="2F3338"/>
                </a:solidFill>
              </a:rPr>
              <a:t>ional</a:t>
            </a:r>
            <a:r>
              <a:rPr lang="ro-RO" sz="3500" dirty="0" smtClean="0">
                <a:solidFill>
                  <a:srgbClr val="2F3338"/>
                </a:solidFill>
              </a:rPr>
              <a:t>ă</a:t>
            </a:r>
            <a:endParaRPr sz="3500" dirty="0">
              <a:solidFill>
                <a:srgbClr val="2F3338"/>
              </a:solidFill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1097280" y="2159000"/>
            <a:ext cx="10058400" cy="1783080"/>
          </a:xfrm>
          <a:prstGeom prst="roundRect">
            <a:avLst/>
          </a:prstGeom>
          <a:solidFill>
            <a:srgbClr val="1E1E1E"/>
          </a:solidFill>
          <a:ln w="13970">
            <a:solidFill>
              <a:srgbClr val="2D2D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4" name="TextBox 3"/>
          <p:cNvSpPr txBox="1"/>
          <p:nvPr/>
        </p:nvSpPr>
        <p:spPr>
          <a:xfrm>
            <a:off x="1261872" y="2250440"/>
            <a:ext cx="972921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9CDCFE"/>
                </a:solidFill>
                <a:latin typeface="Consolas"/>
              </a:rPr>
              <a:t>Fragment din Eval.hs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61872" y="2524760"/>
            <a:ext cx="9729216" cy="789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 i="0" dirty="0">
                <a:solidFill>
                  <a:srgbClr val="D4D4D4"/>
                </a:solidFill>
                <a:latin typeface="Consolas"/>
              </a:rPr>
              <a:t>eval :: Env -&gt; Expr -&gt; Maybe Int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 i="0" dirty="0">
                <a:solidFill>
                  <a:srgbClr val="D4D4D4"/>
                </a:solidFill>
                <a:latin typeface="Consolas"/>
              </a:rPr>
              <a:t>eval env (Add a b) = liftA2 (+) (eval env a) (eval env b)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 i="0" dirty="0">
                <a:solidFill>
                  <a:srgbClr val="D4D4D4"/>
                </a:solidFill>
                <a:latin typeface="Consolas"/>
              </a:rPr>
              <a:t>eval env (Var x)   = </a:t>
            </a:r>
            <a:r>
              <a:rPr sz="1400" b="0" i="0" dirty="0" err="1">
                <a:solidFill>
                  <a:srgbClr val="D4D4D4"/>
                </a:solidFill>
                <a:latin typeface="Consolas"/>
              </a:rPr>
              <a:t>Map.lookup</a:t>
            </a:r>
            <a:r>
              <a:rPr sz="1400" b="0" i="0" dirty="0">
                <a:solidFill>
                  <a:srgbClr val="D4D4D4"/>
                </a:solidFill>
                <a:latin typeface="Consolas"/>
              </a:rPr>
              <a:t> x env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4079239"/>
            <a:ext cx="10058400" cy="2057400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4604">
            <a:solidFill>
              <a:srgbClr val="D5DF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7" name="TextBox 6"/>
          <p:cNvSpPr txBox="1"/>
          <p:nvPr/>
        </p:nvSpPr>
        <p:spPr>
          <a:xfrm>
            <a:off x="1325880" y="4307839"/>
            <a:ext cx="9601200" cy="8822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0" i="0" dirty="0">
                <a:solidFill>
                  <a:srgbClr val="2F3338"/>
                </a:solidFill>
                <a:latin typeface="Segoe UI"/>
              </a:rPr>
              <a:t>- Maybe </a:t>
            </a:r>
            <a:r>
              <a:rPr sz="1600" b="0" i="0" dirty="0" err="1" smtClean="0">
                <a:solidFill>
                  <a:srgbClr val="2F3338"/>
                </a:solidFill>
                <a:latin typeface="Segoe UI"/>
              </a:rPr>
              <a:t>encodeaz</a:t>
            </a:r>
            <a:r>
              <a:rPr lang="ro-RO" sz="1600" b="0" i="0" dirty="0" smtClean="0">
                <a:solidFill>
                  <a:srgbClr val="2F3338"/>
                </a:solidFill>
                <a:latin typeface="Segoe UI"/>
              </a:rPr>
              <a:t>ă</a:t>
            </a:r>
            <a:r>
              <a:rPr sz="1600" b="0" i="0" dirty="0" smtClean="0">
                <a:solidFill>
                  <a:srgbClr val="2F3338"/>
                </a:solidFill>
                <a:latin typeface="Segoe UI"/>
              </a:rPr>
              <a:t> 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explicit </a:t>
            </a:r>
            <a:r>
              <a:rPr sz="1600" b="0" i="0" dirty="0" smtClean="0">
                <a:solidFill>
                  <a:srgbClr val="2F3338"/>
                </a:solidFill>
                <a:latin typeface="Segoe UI"/>
              </a:rPr>
              <a:t>e</a:t>
            </a:r>
            <a:r>
              <a:rPr lang="ro-RO" sz="1600" b="0" i="0" dirty="0" smtClean="0">
                <a:solidFill>
                  <a:srgbClr val="2F3338"/>
                </a:solidFill>
                <a:latin typeface="Segoe UI"/>
              </a:rPr>
              <a:t>ș</a:t>
            </a:r>
            <a:r>
              <a:rPr sz="1600" b="0" i="0" dirty="0" err="1" smtClean="0">
                <a:solidFill>
                  <a:srgbClr val="2F3338"/>
                </a:solidFill>
                <a:latin typeface="Segoe UI"/>
              </a:rPr>
              <a:t>ecul</a:t>
            </a:r>
            <a:r>
              <a:rPr sz="1600" b="0" i="0" dirty="0" smtClean="0">
                <a:solidFill>
                  <a:srgbClr val="2F3338"/>
                </a:solidFill>
                <a:latin typeface="Segoe UI"/>
              </a:rPr>
              <a:t> par</a:t>
            </a:r>
            <a:r>
              <a:rPr lang="ro-RO" sz="1600" b="0" i="0" dirty="0" smtClean="0">
                <a:solidFill>
                  <a:srgbClr val="2F3338"/>
                </a:solidFill>
                <a:latin typeface="Segoe UI"/>
              </a:rPr>
              <a:t>ț</a:t>
            </a:r>
            <a:r>
              <a:rPr sz="1600" b="0" i="0" dirty="0" err="1" smtClean="0">
                <a:solidFill>
                  <a:srgbClr val="2F3338"/>
                </a:solidFill>
                <a:latin typeface="Segoe UI"/>
              </a:rPr>
              <a:t>ial</a:t>
            </a:r>
            <a:r>
              <a:rPr sz="1600" b="0" i="0" dirty="0" smtClean="0">
                <a:solidFill>
                  <a:srgbClr val="2F3338"/>
                </a:solidFill>
                <a:latin typeface="Segoe UI"/>
              </a:rPr>
              <a:t> 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(Nothing)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0" i="0" dirty="0">
                <a:solidFill>
                  <a:srgbClr val="2F3338"/>
                </a:solidFill>
                <a:latin typeface="Segoe UI"/>
              </a:rPr>
              <a:t>- </a:t>
            </a:r>
            <a:r>
              <a:rPr sz="1600" b="0" i="0" dirty="0" smtClean="0">
                <a:solidFill>
                  <a:srgbClr val="2F3338"/>
                </a:solidFill>
                <a:latin typeface="Segoe UI"/>
              </a:rPr>
              <a:t>opera</a:t>
            </a:r>
            <a:r>
              <a:rPr lang="ro-RO" sz="1600" b="0" i="0" dirty="0" smtClean="0">
                <a:solidFill>
                  <a:srgbClr val="2F3338"/>
                </a:solidFill>
                <a:latin typeface="Segoe UI"/>
              </a:rPr>
              <a:t>ț</a:t>
            </a:r>
            <a:r>
              <a:rPr sz="1600" b="0" i="0" dirty="0" err="1" smtClean="0">
                <a:solidFill>
                  <a:srgbClr val="2F3338"/>
                </a:solidFill>
                <a:latin typeface="Segoe UI"/>
              </a:rPr>
              <a:t>iile</a:t>
            </a:r>
            <a:r>
              <a:rPr sz="1600" b="0" i="0" dirty="0" smtClean="0">
                <a:solidFill>
                  <a:srgbClr val="2F3338"/>
                </a:solidFill>
                <a:latin typeface="Segoe UI"/>
              </a:rPr>
              <a:t>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binare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600" b="0" i="0" dirty="0" err="1" smtClean="0">
                <a:solidFill>
                  <a:srgbClr val="2F3338"/>
                </a:solidFill>
                <a:latin typeface="Segoe UI"/>
              </a:rPr>
              <a:t>reu</a:t>
            </a:r>
            <a:r>
              <a:rPr lang="ro-RO" sz="1600" b="0" i="0" dirty="0" smtClean="0">
                <a:solidFill>
                  <a:srgbClr val="2F3338"/>
                </a:solidFill>
                <a:latin typeface="Segoe UI"/>
              </a:rPr>
              <a:t>ș</a:t>
            </a:r>
            <a:r>
              <a:rPr sz="1600" b="0" i="0" dirty="0" smtClean="0">
                <a:solidFill>
                  <a:srgbClr val="2F3338"/>
                </a:solidFill>
                <a:latin typeface="Segoe UI"/>
              </a:rPr>
              <a:t>esc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doar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600" b="0" i="0" dirty="0" err="1" smtClean="0">
                <a:solidFill>
                  <a:srgbClr val="2F3338"/>
                </a:solidFill>
                <a:latin typeface="Segoe UI"/>
              </a:rPr>
              <a:t>dac</a:t>
            </a:r>
            <a:r>
              <a:rPr lang="ro-RO" sz="1600" b="0" i="0" dirty="0" smtClean="0">
                <a:solidFill>
                  <a:srgbClr val="2F3338"/>
                </a:solidFill>
                <a:latin typeface="Segoe UI"/>
              </a:rPr>
              <a:t>ă</a:t>
            </a:r>
            <a:r>
              <a:rPr sz="1600" b="0" i="0" dirty="0" smtClean="0">
                <a:solidFill>
                  <a:srgbClr val="2F3338"/>
                </a:solidFill>
                <a:latin typeface="Segoe UI"/>
              </a:rPr>
              <a:t>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ambele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subexpresii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sunt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evaluabile</a:t>
            </a:r>
            <a:endParaRPr sz="1600" b="0" i="0" dirty="0">
              <a:solidFill>
                <a:srgbClr val="2F3338"/>
              </a:solidFill>
              <a:latin typeface="Segoe UI"/>
            </a:endParaRP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0" i="0" dirty="0">
                <a:solidFill>
                  <a:srgbClr val="2F3338"/>
                </a:solidFill>
                <a:latin typeface="Segoe UI"/>
              </a:rPr>
              <a:t>- design-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ul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600" b="0" i="0" dirty="0" err="1" smtClean="0">
                <a:solidFill>
                  <a:srgbClr val="2F3338"/>
                </a:solidFill>
                <a:latin typeface="Segoe UI"/>
              </a:rPr>
              <a:t>evit</a:t>
            </a:r>
            <a:r>
              <a:rPr lang="ro-RO" sz="1600" b="0" i="0" dirty="0" smtClean="0">
                <a:solidFill>
                  <a:srgbClr val="2F3338"/>
                </a:solidFill>
                <a:latin typeface="Segoe UI"/>
              </a:rPr>
              <a:t>ă</a:t>
            </a:r>
            <a:r>
              <a:rPr sz="1600" b="0" i="0" dirty="0" smtClean="0">
                <a:solidFill>
                  <a:srgbClr val="2F3338"/>
                </a:solidFill>
                <a:latin typeface="Segoe UI"/>
              </a:rPr>
              <a:t> </a:t>
            </a:r>
            <a:r>
              <a:rPr sz="1600" b="0" i="0" dirty="0" err="1" smtClean="0">
                <a:solidFill>
                  <a:srgbClr val="2F3338"/>
                </a:solidFill>
                <a:latin typeface="Segoe UI"/>
              </a:rPr>
              <a:t>excep</a:t>
            </a:r>
            <a:r>
              <a:rPr lang="ro-RO" sz="1600" b="0" i="0" dirty="0" smtClean="0">
                <a:solidFill>
                  <a:srgbClr val="2F3338"/>
                </a:solidFill>
                <a:latin typeface="Segoe UI"/>
              </a:rPr>
              <a:t>ț</a:t>
            </a:r>
            <a:r>
              <a:rPr sz="1600" b="0" i="0" dirty="0" smtClean="0">
                <a:solidFill>
                  <a:srgbClr val="2F3338"/>
                </a:solidFill>
                <a:latin typeface="Segoe UI"/>
              </a:rPr>
              <a:t>ii 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runtime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pentru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variabile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nedefinite</a:t>
            </a:r>
            <a:endParaRPr sz="1600" b="0" i="0" dirty="0">
              <a:solidFill>
                <a:srgbClr val="2F3338"/>
              </a:solidFill>
              <a:latin typeface="Segoe U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500" dirty="0" err="1">
                <a:solidFill>
                  <a:srgbClr val="2F3338"/>
                </a:solidFill>
              </a:rPr>
              <a:t>Simplificatorul</a:t>
            </a:r>
            <a:r>
              <a:rPr sz="3500" dirty="0">
                <a:solidFill>
                  <a:srgbClr val="2F3338"/>
                </a:solidFill>
              </a:rPr>
              <a:t> </a:t>
            </a:r>
            <a:r>
              <a:rPr lang="ro-RO" sz="3500" dirty="0" err="1">
                <a:solidFill>
                  <a:srgbClr val="2F3338"/>
                </a:solidFill>
              </a:rPr>
              <a:t>ș</a:t>
            </a:r>
            <a:r>
              <a:rPr sz="3500" dirty="0" smtClean="0">
                <a:solidFill>
                  <a:srgbClr val="2F3338"/>
                </a:solidFill>
              </a:rPr>
              <a:t>i </a:t>
            </a:r>
            <a:r>
              <a:rPr sz="3500" dirty="0" err="1">
                <a:solidFill>
                  <a:srgbClr val="2F3338"/>
                </a:solidFill>
              </a:rPr>
              <a:t>regulile</a:t>
            </a:r>
            <a:r>
              <a:rPr sz="3500" dirty="0">
                <a:solidFill>
                  <a:srgbClr val="2F3338"/>
                </a:solidFill>
              </a:rPr>
              <a:t> </a:t>
            </a:r>
            <a:r>
              <a:rPr sz="3500" dirty="0" err="1">
                <a:solidFill>
                  <a:srgbClr val="2F3338"/>
                </a:solidFill>
              </a:rPr>
              <a:t>algebrice</a:t>
            </a:r>
            <a:endParaRPr sz="3500" dirty="0">
              <a:solidFill>
                <a:srgbClr val="2F3338"/>
              </a:solidFill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097280" y="2027982"/>
            <a:ext cx="100584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0" i="0" dirty="0" err="1">
                <a:solidFill>
                  <a:srgbClr val="2F3338"/>
                </a:solidFill>
                <a:latin typeface="Segoe UI"/>
              </a:rPr>
              <a:t>Simplificarea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600" b="0" i="0" dirty="0" err="1" smtClean="0">
                <a:solidFill>
                  <a:srgbClr val="2F3338"/>
                </a:solidFill>
                <a:latin typeface="Segoe UI"/>
              </a:rPr>
              <a:t>aplic</a:t>
            </a:r>
            <a:r>
              <a:rPr lang="ro-RO" sz="1600" b="0" i="0" dirty="0" smtClean="0">
                <a:solidFill>
                  <a:srgbClr val="2F3338"/>
                </a:solidFill>
                <a:latin typeface="Segoe UI"/>
              </a:rPr>
              <a:t>ă</a:t>
            </a:r>
            <a:r>
              <a:rPr sz="1600" b="0" i="0" dirty="0" smtClean="0">
                <a:solidFill>
                  <a:srgbClr val="2F3338"/>
                </a:solidFill>
                <a:latin typeface="Segoe UI"/>
              </a:rPr>
              <a:t>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reguli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600" b="0" i="0" dirty="0" smtClean="0">
                <a:solidFill>
                  <a:srgbClr val="2F3338"/>
                </a:solidFill>
                <a:latin typeface="Segoe UI"/>
              </a:rPr>
              <a:t>p</a:t>
            </a:r>
            <a:r>
              <a:rPr lang="ro-RO" sz="1600" b="0" i="0" dirty="0" smtClean="0">
                <a:solidFill>
                  <a:srgbClr val="2F3338"/>
                </a:solidFill>
                <a:latin typeface="Segoe UI"/>
              </a:rPr>
              <a:t>â</a:t>
            </a:r>
            <a:r>
              <a:rPr sz="1600" b="0" i="0" dirty="0" smtClean="0">
                <a:solidFill>
                  <a:srgbClr val="2F3338"/>
                </a:solidFill>
                <a:latin typeface="Segoe UI"/>
              </a:rPr>
              <a:t>n</a:t>
            </a:r>
            <a:r>
              <a:rPr lang="ro-RO" sz="1600" b="0" i="0" dirty="0" smtClean="0">
                <a:solidFill>
                  <a:srgbClr val="2F3338"/>
                </a:solidFill>
                <a:latin typeface="Segoe UI"/>
              </a:rPr>
              <a:t>ă</a:t>
            </a:r>
            <a:r>
              <a:rPr sz="1600" b="0" i="0" dirty="0" smtClean="0">
                <a:solidFill>
                  <a:srgbClr val="2F3338"/>
                </a:solidFill>
                <a:latin typeface="Segoe UI"/>
              </a:rPr>
              <a:t> 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la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stabilizare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 (fixpoint).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1" y="2514600"/>
            <a:ext cx="4846320" cy="3566160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14604">
            <a:solidFill>
              <a:srgbClr val="D5DF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309360" y="2514600"/>
            <a:ext cx="4846320" cy="3566160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4604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325881" y="3429000"/>
            <a:ext cx="43891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F3338"/>
                </a:solidFill>
                <a:latin typeface="Segoe UI"/>
              </a:rPr>
              <a:t>- x + 0 -&gt; x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F3338"/>
                </a:solidFill>
                <a:latin typeface="Segoe UI"/>
              </a:rPr>
              <a:t>- x * 1 -&gt; x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F3338"/>
                </a:solidFill>
                <a:latin typeface="Segoe UI"/>
              </a:rPr>
              <a:t>- x * 0 -&gt; 0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F3338"/>
                </a:solidFill>
                <a:latin typeface="Segoe UI"/>
              </a:rPr>
              <a:t>- x - x -&gt; 0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F3338"/>
                </a:solidFill>
                <a:latin typeface="Segoe UI"/>
              </a:rPr>
              <a:t>- --x -&gt; x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F3338"/>
                </a:solidFill>
                <a:latin typeface="Segoe UI"/>
              </a:rPr>
              <a:t>- 0 - e -&gt; -e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77000" y="3670717"/>
            <a:ext cx="43891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0" dirty="0">
                <a:solidFill>
                  <a:srgbClr val="2F3338"/>
                </a:solidFill>
                <a:latin typeface="Segoe UI"/>
              </a:rPr>
              <a:t>- Const a + Const b -&gt; Const (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a+b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0" dirty="0">
                <a:solidFill>
                  <a:srgbClr val="2F3338"/>
                </a:solidFill>
                <a:latin typeface="Segoe UI"/>
              </a:rPr>
              <a:t>- Const a * Const b -&gt; Const (a*b)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0" dirty="0">
                <a:solidFill>
                  <a:srgbClr val="2F3338"/>
                </a:solidFill>
                <a:latin typeface="Segoe UI"/>
              </a:rPr>
              <a:t>- Const a - Const b -&gt; Const (a-b)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0" dirty="0">
                <a:solidFill>
                  <a:srgbClr val="2F3338"/>
                </a:solidFill>
                <a:latin typeface="Segoe UI"/>
              </a:rPr>
              <a:t>- 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regulile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 sunt 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aplicate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recursiv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 pe 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subarbori</a:t>
            </a:r>
            <a:endParaRPr sz="1500" b="0" i="0" dirty="0">
              <a:solidFill>
                <a:srgbClr val="2F3338"/>
              </a:solidFill>
              <a:latin typeface="Segoe U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500" dirty="0">
                <a:solidFill>
                  <a:srgbClr val="2F3338"/>
                </a:solidFill>
              </a:rPr>
              <a:t>Pretty + Parser: round-trip semantic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97280" y="2024380"/>
            <a:ext cx="10058400" cy="4185920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4604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4" name="TextBox 3"/>
          <p:cNvSpPr txBox="1"/>
          <p:nvPr/>
        </p:nvSpPr>
        <p:spPr>
          <a:xfrm>
            <a:off x="1325880" y="2207260"/>
            <a:ext cx="9601200" cy="9746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b="0" i="0" dirty="0">
                <a:solidFill>
                  <a:srgbClr val="2F3338"/>
                </a:solidFill>
                <a:latin typeface="Segoe UI"/>
              </a:rPr>
              <a:t>- </a:t>
            </a:r>
            <a:r>
              <a:rPr b="0" i="0" dirty="0" err="1">
                <a:solidFill>
                  <a:srgbClr val="2F3338"/>
                </a:solidFill>
                <a:latin typeface="Segoe UI"/>
              </a:rPr>
              <a:t>Pretty.hs</a:t>
            </a:r>
            <a:r>
              <a:rPr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b="0" i="0" dirty="0" err="1">
                <a:solidFill>
                  <a:srgbClr val="2F3338"/>
                </a:solidFill>
                <a:latin typeface="Segoe UI"/>
              </a:rPr>
              <a:t>foloseste</a:t>
            </a:r>
            <a:r>
              <a:rPr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b="0" i="0" dirty="0" err="1" smtClean="0">
                <a:solidFill>
                  <a:srgbClr val="2F3338"/>
                </a:solidFill>
                <a:latin typeface="Segoe UI"/>
              </a:rPr>
              <a:t>priorit</a:t>
            </a:r>
            <a:r>
              <a:rPr lang="ro-RO" b="0" i="0" dirty="0" smtClean="0">
                <a:solidFill>
                  <a:srgbClr val="2F3338"/>
                </a:solidFill>
                <a:latin typeface="Segoe UI"/>
              </a:rPr>
              <a:t>ă</a:t>
            </a:r>
            <a:r>
              <a:rPr lang="ro-RO" dirty="0">
                <a:solidFill>
                  <a:srgbClr val="2F3338"/>
                </a:solidFill>
                <a:latin typeface="Segoe UI"/>
              </a:rPr>
              <a:t>ț</a:t>
            </a:r>
            <a:r>
              <a:rPr b="0" i="0" dirty="0" smtClean="0">
                <a:solidFill>
                  <a:srgbClr val="2F3338"/>
                </a:solidFill>
                <a:latin typeface="Segoe UI"/>
              </a:rPr>
              <a:t>i </a:t>
            </a:r>
            <a:r>
              <a:rPr b="0" i="0" dirty="0">
                <a:solidFill>
                  <a:srgbClr val="2F3338"/>
                </a:solidFill>
                <a:latin typeface="Segoe UI"/>
              </a:rPr>
              <a:t>(</a:t>
            </a:r>
            <a:r>
              <a:rPr b="0" i="0" dirty="0" err="1">
                <a:solidFill>
                  <a:srgbClr val="2F3338"/>
                </a:solidFill>
                <a:latin typeface="Segoe UI"/>
              </a:rPr>
              <a:t>addPrec</a:t>
            </a:r>
            <a:r>
              <a:rPr b="0" i="0" dirty="0">
                <a:solidFill>
                  <a:srgbClr val="2F3338"/>
                </a:solidFill>
                <a:latin typeface="Segoe UI"/>
              </a:rPr>
              <a:t>, </a:t>
            </a:r>
            <a:r>
              <a:rPr b="0" i="0" dirty="0" err="1">
                <a:solidFill>
                  <a:srgbClr val="2F3338"/>
                </a:solidFill>
                <a:latin typeface="Segoe UI"/>
              </a:rPr>
              <a:t>mulPrec</a:t>
            </a:r>
            <a:r>
              <a:rPr b="0" i="0" dirty="0">
                <a:solidFill>
                  <a:srgbClr val="2F3338"/>
                </a:solidFill>
                <a:latin typeface="Segoe UI"/>
              </a:rPr>
              <a:t>, </a:t>
            </a:r>
            <a:r>
              <a:rPr b="0" i="0" dirty="0" err="1">
                <a:solidFill>
                  <a:srgbClr val="2F3338"/>
                </a:solidFill>
                <a:latin typeface="Segoe UI"/>
              </a:rPr>
              <a:t>negPrec</a:t>
            </a:r>
            <a:r>
              <a:rPr b="0" i="0" dirty="0">
                <a:solidFill>
                  <a:srgbClr val="2F3338"/>
                </a:solidFill>
                <a:latin typeface="Segoe UI"/>
              </a:rPr>
              <a:t>) </a:t>
            </a:r>
            <a:r>
              <a:rPr b="0" i="0" dirty="0" err="1">
                <a:solidFill>
                  <a:srgbClr val="2F3338"/>
                </a:solidFill>
                <a:latin typeface="Segoe UI"/>
              </a:rPr>
              <a:t>pentru</a:t>
            </a:r>
            <a:r>
              <a:rPr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b="0" i="0" dirty="0" err="1">
                <a:solidFill>
                  <a:srgbClr val="2F3338"/>
                </a:solidFill>
                <a:latin typeface="Segoe UI"/>
              </a:rPr>
              <a:t>paranteze</a:t>
            </a:r>
            <a:r>
              <a:rPr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b="0" i="0" dirty="0" err="1">
                <a:solidFill>
                  <a:srgbClr val="2F3338"/>
                </a:solidFill>
                <a:latin typeface="Segoe UI"/>
              </a:rPr>
              <a:t>corecte</a:t>
            </a:r>
            <a:endParaRPr b="0" i="0" dirty="0">
              <a:solidFill>
                <a:srgbClr val="2F3338"/>
              </a:solidFill>
              <a:latin typeface="Segoe UI"/>
            </a:endParaRP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b="0" i="0" dirty="0">
                <a:solidFill>
                  <a:srgbClr val="2F3338"/>
                </a:solidFill>
                <a:latin typeface="Segoe UI"/>
              </a:rPr>
              <a:t>- </a:t>
            </a:r>
            <a:r>
              <a:rPr b="0" i="0" dirty="0" err="1">
                <a:solidFill>
                  <a:srgbClr val="2F3338"/>
                </a:solidFill>
                <a:latin typeface="Segoe UI"/>
              </a:rPr>
              <a:t>Parser.hs</a:t>
            </a:r>
            <a:r>
              <a:rPr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b="0" i="0" dirty="0" smtClean="0">
                <a:solidFill>
                  <a:srgbClr val="2F3338"/>
                </a:solidFill>
                <a:latin typeface="Segoe UI"/>
              </a:rPr>
              <a:t>respect</a:t>
            </a:r>
            <a:r>
              <a:rPr lang="ro-RO" b="0" i="0" dirty="0" smtClean="0">
                <a:solidFill>
                  <a:srgbClr val="2F3338"/>
                </a:solidFill>
                <a:latin typeface="Segoe UI"/>
              </a:rPr>
              <a:t>ă</a:t>
            </a:r>
            <a:r>
              <a:rPr b="0" i="0" dirty="0" smtClean="0">
                <a:solidFill>
                  <a:srgbClr val="2F3338"/>
                </a:solidFill>
                <a:latin typeface="Segoe UI"/>
              </a:rPr>
              <a:t> </a:t>
            </a:r>
            <a:r>
              <a:rPr b="0" i="0" dirty="0" err="1" smtClean="0">
                <a:solidFill>
                  <a:srgbClr val="2F3338"/>
                </a:solidFill>
                <a:latin typeface="Segoe UI"/>
              </a:rPr>
              <a:t>preceden</a:t>
            </a:r>
            <a:r>
              <a:rPr lang="ro-RO" b="0" i="0" dirty="0" smtClean="0">
                <a:solidFill>
                  <a:srgbClr val="2F3338"/>
                </a:solidFill>
                <a:latin typeface="Segoe UI"/>
              </a:rPr>
              <a:t>ț</a:t>
            </a:r>
            <a:r>
              <a:rPr b="0" i="0" dirty="0" smtClean="0">
                <a:solidFill>
                  <a:srgbClr val="2F3338"/>
                </a:solidFill>
                <a:latin typeface="Segoe UI"/>
              </a:rPr>
              <a:t>a </a:t>
            </a:r>
            <a:r>
              <a:rPr b="0" i="0" dirty="0" err="1">
                <a:solidFill>
                  <a:srgbClr val="2F3338"/>
                </a:solidFill>
                <a:latin typeface="Segoe UI"/>
              </a:rPr>
              <a:t>operatorilor</a:t>
            </a:r>
            <a:r>
              <a:rPr b="0" i="0" dirty="0">
                <a:solidFill>
                  <a:srgbClr val="2F3338"/>
                </a:solidFill>
                <a:latin typeface="Segoe UI"/>
              </a:rPr>
              <a:t>: </a:t>
            </a:r>
            <a:r>
              <a:rPr b="0" i="0" dirty="0" err="1">
                <a:solidFill>
                  <a:srgbClr val="2F3338"/>
                </a:solidFill>
                <a:latin typeface="Segoe UI"/>
              </a:rPr>
              <a:t>exprP</a:t>
            </a:r>
            <a:r>
              <a:rPr b="0" i="0" dirty="0">
                <a:solidFill>
                  <a:srgbClr val="2F3338"/>
                </a:solidFill>
                <a:latin typeface="Segoe UI"/>
              </a:rPr>
              <a:t> (+/-), </a:t>
            </a:r>
            <a:r>
              <a:rPr b="0" i="0" dirty="0" err="1">
                <a:solidFill>
                  <a:srgbClr val="2F3338"/>
                </a:solidFill>
                <a:latin typeface="Segoe UI"/>
              </a:rPr>
              <a:t>termP</a:t>
            </a:r>
            <a:r>
              <a:rPr b="0" i="0" dirty="0">
                <a:solidFill>
                  <a:srgbClr val="2F3338"/>
                </a:solidFill>
                <a:latin typeface="Segoe UI"/>
              </a:rPr>
              <a:t> (*), </a:t>
            </a:r>
            <a:r>
              <a:rPr b="0" i="0" dirty="0" err="1">
                <a:solidFill>
                  <a:srgbClr val="2F3338"/>
                </a:solidFill>
                <a:latin typeface="Segoe UI"/>
              </a:rPr>
              <a:t>factorP</a:t>
            </a:r>
            <a:r>
              <a:rPr b="0" i="0" dirty="0">
                <a:solidFill>
                  <a:srgbClr val="2F3338"/>
                </a:solidFill>
                <a:latin typeface="Segoe UI"/>
              </a:rPr>
              <a:t> (</a:t>
            </a:r>
            <a:r>
              <a:rPr b="0" i="0" dirty="0" err="1">
                <a:solidFill>
                  <a:srgbClr val="2F3338"/>
                </a:solidFill>
                <a:latin typeface="Segoe UI"/>
              </a:rPr>
              <a:t>negare</a:t>
            </a:r>
            <a:r>
              <a:rPr b="0" i="0" dirty="0">
                <a:solidFill>
                  <a:srgbClr val="2F3338"/>
                </a:solidFill>
                <a:latin typeface="Segoe UI"/>
              </a:rPr>
              <a:t>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b="0" i="0" dirty="0">
                <a:solidFill>
                  <a:srgbClr val="2F3338"/>
                </a:solidFill>
                <a:latin typeface="Segoe UI"/>
              </a:rPr>
              <a:t>- sunt </a:t>
            </a:r>
            <a:r>
              <a:rPr b="0" i="0" dirty="0" err="1">
                <a:solidFill>
                  <a:srgbClr val="2F3338"/>
                </a:solidFill>
                <a:latin typeface="Segoe UI"/>
              </a:rPr>
              <a:t>suportate</a:t>
            </a:r>
            <a:r>
              <a:rPr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b="0" i="0" dirty="0" err="1">
                <a:solidFill>
                  <a:srgbClr val="2F3338"/>
                </a:solidFill>
                <a:latin typeface="Segoe UI"/>
              </a:rPr>
              <a:t>variabile</a:t>
            </a:r>
            <a:r>
              <a:rPr b="0" i="0" dirty="0">
                <a:solidFill>
                  <a:srgbClr val="2F3338"/>
                </a:solidFill>
                <a:latin typeface="Segoe UI"/>
              </a:rPr>
              <a:t>, </a:t>
            </a:r>
            <a:r>
              <a:rPr b="0" i="0" dirty="0" err="1">
                <a:solidFill>
                  <a:srgbClr val="2F3338"/>
                </a:solidFill>
                <a:latin typeface="Segoe UI"/>
              </a:rPr>
              <a:t>constante</a:t>
            </a:r>
            <a:r>
              <a:rPr b="0" i="0" dirty="0">
                <a:solidFill>
                  <a:srgbClr val="2F3338"/>
                </a:solidFill>
                <a:latin typeface="Segoe UI"/>
              </a:rPr>
              <a:t>, </a:t>
            </a:r>
            <a:r>
              <a:rPr b="0" i="0" dirty="0" err="1">
                <a:solidFill>
                  <a:srgbClr val="2F3338"/>
                </a:solidFill>
                <a:latin typeface="Segoe UI"/>
              </a:rPr>
              <a:t>paranteze</a:t>
            </a:r>
            <a:r>
              <a:rPr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lang="ro-RO" dirty="0" err="1">
                <a:solidFill>
                  <a:srgbClr val="2F3338"/>
                </a:solidFill>
                <a:latin typeface="Segoe UI"/>
              </a:rPr>
              <a:t>ș</a:t>
            </a:r>
            <a:r>
              <a:rPr b="0" i="0" dirty="0" smtClean="0">
                <a:solidFill>
                  <a:srgbClr val="2F3338"/>
                </a:solidFill>
                <a:latin typeface="Segoe UI"/>
              </a:rPr>
              <a:t>i </a:t>
            </a:r>
            <a:r>
              <a:rPr b="0" i="0" dirty="0" err="1">
                <a:solidFill>
                  <a:srgbClr val="2F3338"/>
                </a:solidFill>
                <a:latin typeface="Segoe UI"/>
              </a:rPr>
              <a:t>negare</a:t>
            </a:r>
            <a:r>
              <a:rPr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b="0" i="0" dirty="0" err="1">
                <a:solidFill>
                  <a:srgbClr val="2F3338"/>
                </a:solidFill>
                <a:latin typeface="Segoe UI"/>
              </a:rPr>
              <a:t>unara</a:t>
            </a:r>
            <a:endParaRPr b="0" i="0" dirty="0">
              <a:solidFill>
                <a:srgbClr val="2F3338"/>
              </a:solidFill>
              <a:latin typeface="Segoe UI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1325880" y="3944620"/>
            <a:ext cx="9601200" cy="1325880"/>
          </a:xfrm>
          <a:prstGeom prst="roundRect">
            <a:avLst/>
          </a:prstGeom>
          <a:solidFill>
            <a:srgbClr val="1E1E1E"/>
          </a:solidFill>
          <a:ln w="13970">
            <a:solidFill>
              <a:srgbClr val="2D2D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6" name="TextBox 5"/>
          <p:cNvSpPr txBox="1"/>
          <p:nvPr/>
        </p:nvSpPr>
        <p:spPr>
          <a:xfrm>
            <a:off x="1490472" y="4036059"/>
            <a:ext cx="927201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9CDCFE"/>
                </a:solidFill>
                <a:latin typeface="Consolas"/>
              </a:rPr>
              <a:t>Proprietate validata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90472" y="4310380"/>
            <a:ext cx="927201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D4D4D4"/>
                </a:solidFill>
                <a:latin typeface="Consolas"/>
              </a:rPr>
              <a:t>eval env (parse(pretty(expr))) == eval env expr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dirty="0" err="1">
                <a:solidFill>
                  <a:schemeClr val="tx1"/>
                </a:solidFill>
              </a:rPr>
              <a:t>Generatoarele</a:t>
            </a:r>
            <a:r>
              <a:rPr sz="3200" dirty="0">
                <a:solidFill>
                  <a:schemeClr val="tx1"/>
                </a:solidFill>
              </a:rPr>
              <a:t> </a:t>
            </a:r>
            <a:r>
              <a:rPr sz="3200" dirty="0" err="1">
                <a:solidFill>
                  <a:schemeClr val="tx1"/>
                </a:solidFill>
              </a:rPr>
              <a:t>proprii</a:t>
            </a:r>
            <a:r>
              <a:rPr sz="3200" dirty="0">
                <a:solidFill>
                  <a:schemeClr val="tx1"/>
                </a:solidFill>
              </a:rPr>
              <a:t> (de </a:t>
            </a:r>
            <a:r>
              <a:rPr sz="3200" dirty="0" err="1">
                <a:solidFill>
                  <a:schemeClr val="tx1"/>
                </a:solidFill>
              </a:rPr>
              <a:t>ce</a:t>
            </a:r>
            <a:r>
              <a:rPr sz="3200" dirty="0">
                <a:solidFill>
                  <a:schemeClr val="tx1"/>
                </a:solidFill>
              </a:rPr>
              <a:t> </a:t>
            </a:r>
            <a:r>
              <a:rPr sz="3200" dirty="0" err="1" smtClean="0">
                <a:solidFill>
                  <a:schemeClr val="tx1"/>
                </a:solidFill>
              </a:rPr>
              <a:t>conteaz</a:t>
            </a:r>
            <a:r>
              <a:rPr lang="ro-RO" sz="3200" dirty="0" smtClean="0">
                <a:solidFill>
                  <a:schemeClr val="tx1"/>
                </a:solidFill>
              </a:rPr>
              <a:t>ă</a:t>
            </a:r>
            <a:r>
              <a:rPr sz="3200" dirty="0" smtClean="0">
                <a:solidFill>
                  <a:schemeClr val="tx1"/>
                </a:solidFill>
              </a:rPr>
              <a:t>)</a:t>
            </a:r>
            <a:endParaRPr sz="3200" dirty="0">
              <a:solidFill>
                <a:schemeClr val="tx1"/>
              </a:solidFill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097280" y="2014173"/>
            <a:ext cx="101473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600" b="0" i="0" dirty="0" err="1">
                <a:solidFill>
                  <a:srgbClr val="2F2F2F"/>
                </a:solidFill>
                <a:latin typeface="Calibri"/>
              </a:rPr>
              <a:t>Generatoarele</a:t>
            </a:r>
            <a:r>
              <a:rPr sz="1600" b="0" i="0" dirty="0">
                <a:solidFill>
                  <a:srgbClr val="2F2F2F"/>
                </a:solidFill>
                <a:latin typeface="Calibri"/>
              </a:rPr>
              <a:t> sunt </a:t>
            </a:r>
            <a:r>
              <a:rPr sz="1600" b="0" i="0" dirty="0" err="1">
                <a:solidFill>
                  <a:srgbClr val="2F2F2F"/>
                </a:solidFill>
                <a:latin typeface="Calibri"/>
              </a:rPr>
              <a:t>scrise</a:t>
            </a:r>
            <a:r>
              <a:rPr sz="1600" b="0" i="0" dirty="0">
                <a:solidFill>
                  <a:srgbClr val="2F2F2F"/>
                </a:solidFill>
                <a:latin typeface="Calibri"/>
              </a:rPr>
              <a:t> </a:t>
            </a:r>
            <a:r>
              <a:rPr sz="1600" b="1" i="0" dirty="0">
                <a:solidFill>
                  <a:srgbClr val="2F2F2F"/>
                </a:solidFill>
                <a:latin typeface="Calibri"/>
              </a:rPr>
              <a:t>manual</a:t>
            </a:r>
            <a:r>
              <a:rPr sz="1600" b="0" i="0" dirty="0">
                <a:solidFill>
                  <a:srgbClr val="2F2F2F"/>
                </a:solidFill>
                <a:latin typeface="Calibri"/>
              </a:rPr>
              <a:t>, nu derivate automat. Un generator automat (</a:t>
            </a:r>
            <a:r>
              <a:rPr sz="1600" b="1" i="0" dirty="0" err="1">
                <a:solidFill>
                  <a:srgbClr val="2F2F2F"/>
                </a:solidFill>
                <a:latin typeface="Consolas"/>
              </a:rPr>
              <a:t>genericArbitrary</a:t>
            </a:r>
            <a:r>
              <a:rPr sz="1600" b="0" i="0" dirty="0">
                <a:solidFill>
                  <a:srgbClr val="2F2F2F"/>
                </a:solidFill>
                <a:latin typeface="Calibri"/>
              </a:rPr>
              <a:t>) nu </a:t>
            </a:r>
            <a:r>
              <a:rPr sz="1600" b="0" i="0" dirty="0" err="1" smtClean="0">
                <a:solidFill>
                  <a:srgbClr val="2F2F2F"/>
                </a:solidFill>
                <a:latin typeface="Calibri"/>
              </a:rPr>
              <a:t>cunoa</a:t>
            </a:r>
            <a:r>
              <a:rPr lang="ro-RO" sz="1600" b="0" i="0" dirty="0" smtClean="0">
                <a:solidFill>
                  <a:srgbClr val="2F2F2F"/>
                </a:solidFill>
                <a:latin typeface="Calibri"/>
              </a:rPr>
              <a:t>ș</a:t>
            </a:r>
            <a:r>
              <a:rPr sz="1600" b="0" i="0" dirty="0" err="1" smtClean="0">
                <a:solidFill>
                  <a:srgbClr val="2F2F2F"/>
                </a:solidFill>
                <a:latin typeface="Calibri"/>
              </a:rPr>
              <a:t>te</a:t>
            </a:r>
            <a:r>
              <a:rPr sz="1600" b="0" i="0" dirty="0" smtClean="0">
                <a:solidFill>
                  <a:srgbClr val="2F2F2F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2F2F2F"/>
                </a:solidFill>
                <a:latin typeface="Calibri"/>
              </a:rPr>
              <a:t>domeniul</a:t>
            </a:r>
            <a:r>
              <a:rPr sz="1600" b="0" i="0" dirty="0">
                <a:solidFill>
                  <a:srgbClr val="2F2F2F"/>
                </a:solidFill>
                <a:latin typeface="Calibri"/>
              </a:rPr>
              <a:t> </a:t>
            </a:r>
            <a:r>
              <a:rPr lang="ro-RO" sz="1600" dirty="0" err="1">
                <a:solidFill>
                  <a:srgbClr val="2F2F2F"/>
                </a:solidFill>
                <a:latin typeface="Calibri"/>
              </a:rPr>
              <a:t>ș</a:t>
            </a:r>
            <a:r>
              <a:rPr sz="1600" b="0" i="0" dirty="0" smtClean="0">
                <a:solidFill>
                  <a:srgbClr val="2F2F2F"/>
                </a:solidFill>
                <a:latin typeface="Calibri"/>
              </a:rPr>
              <a:t>i </a:t>
            </a:r>
            <a:r>
              <a:rPr sz="1600" b="0" i="0" dirty="0" err="1">
                <a:solidFill>
                  <a:srgbClr val="2F2F2F"/>
                </a:solidFill>
                <a:latin typeface="Calibri"/>
              </a:rPr>
              <a:t>poate</a:t>
            </a:r>
            <a:r>
              <a:rPr sz="1600" b="0" i="0" dirty="0">
                <a:solidFill>
                  <a:srgbClr val="2F2F2F"/>
                </a:solidFill>
                <a:latin typeface="Calibri"/>
              </a:rPr>
              <a:t> produce </a:t>
            </a:r>
            <a:r>
              <a:rPr sz="1600" b="0" i="0" dirty="0" err="1">
                <a:solidFill>
                  <a:srgbClr val="2F2F2F"/>
                </a:solidFill>
                <a:latin typeface="Calibri"/>
              </a:rPr>
              <a:t>expresii</a:t>
            </a:r>
            <a:r>
              <a:rPr sz="1600" b="0" i="0" dirty="0">
                <a:solidFill>
                  <a:srgbClr val="2F2F2F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2F2F2F"/>
                </a:solidFill>
                <a:latin typeface="Calibri"/>
              </a:rPr>
              <a:t>dezechilibrate</a:t>
            </a:r>
            <a:r>
              <a:rPr sz="1600" b="0" i="0" dirty="0">
                <a:solidFill>
                  <a:srgbClr val="2F2F2F"/>
                </a:solidFill>
                <a:latin typeface="Calibri"/>
              </a:rPr>
              <a:t>.</a:t>
            </a:r>
          </a:p>
        </p:txBody>
      </p:sp>
      <p:sp>
        <p:nvSpPr>
          <p:cNvPr id="4" name="Rectangle 3"/>
          <p:cNvSpPr/>
          <p:nvPr/>
        </p:nvSpPr>
        <p:spPr>
          <a:xfrm>
            <a:off x="1186180" y="2759395"/>
            <a:ext cx="4864608" cy="1965960"/>
          </a:xfrm>
          <a:prstGeom prst="rect">
            <a:avLst/>
          </a:prstGeom>
          <a:solidFill>
            <a:srgbClr val="1E1E1E"/>
          </a:solidFill>
          <a:ln w="15240">
            <a:solidFill>
              <a:srgbClr val="2D2D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350772" y="2809748"/>
            <a:ext cx="4535424" cy="1746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1" i="0" dirty="0" err="1">
                <a:solidFill>
                  <a:srgbClr val="4EC9B0"/>
                </a:solidFill>
                <a:latin typeface="Consolas"/>
              </a:rPr>
              <a:t>genSmallInt</a:t>
            </a:r>
            <a:r>
              <a:rPr sz="1400" b="0" i="0" dirty="0">
                <a:solidFill>
                  <a:srgbClr val="D4D4D4"/>
                </a:solidFill>
                <a:latin typeface="Consolas"/>
              </a:rPr>
              <a:t> - </a:t>
            </a:r>
            <a:r>
              <a:rPr sz="1400" b="0" i="0" dirty="0" err="1">
                <a:solidFill>
                  <a:srgbClr val="D4D4D4"/>
                </a:solidFill>
                <a:latin typeface="Consolas"/>
              </a:rPr>
              <a:t>ponderi</a:t>
            </a:r>
            <a:r>
              <a:rPr sz="1400" b="0" i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400" b="0" i="0" dirty="0" err="1">
                <a:solidFill>
                  <a:srgbClr val="D4D4D4"/>
                </a:solidFill>
                <a:latin typeface="Consolas"/>
              </a:rPr>
              <a:t>explicite</a:t>
            </a:r>
            <a:r>
              <a:rPr sz="1400" b="0" i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400" b="0" i="0" dirty="0" err="1">
                <a:solidFill>
                  <a:srgbClr val="D4D4D4"/>
                </a:solidFill>
                <a:latin typeface="Consolas"/>
              </a:rPr>
              <a:t>pentru</a:t>
            </a:r>
            <a:r>
              <a:rPr sz="1400" b="0" i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400" b="0" i="0" dirty="0" err="1">
                <a:solidFill>
                  <a:srgbClr val="D4D4D4"/>
                </a:solidFill>
                <a:latin typeface="Consolas"/>
              </a:rPr>
              <a:t>constante</a:t>
            </a:r>
            <a:endParaRPr sz="1400" b="0" i="0" dirty="0">
              <a:solidFill>
                <a:srgbClr val="D4D4D4"/>
              </a:solidFill>
              <a:latin typeface="Consolas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600" b="0" i="0" dirty="0">
                <a:solidFill>
                  <a:srgbClr val="D4D4D4"/>
                </a:solidFill>
                <a:latin typeface="Consolas"/>
              </a:rPr>
              <a:t>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0" i="0" dirty="0">
                <a:solidFill>
                  <a:srgbClr val="DCDCAA"/>
                </a:solidFill>
                <a:latin typeface="Consolas"/>
              </a:rPr>
              <a:t>frequency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0" i="0" dirty="0">
                <a:solidFill>
                  <a:srgbClr val="D4D4D4"/>
                </a:solidFill>
                <a:latin typeface="Consolas"/>
              </a:rPr>
              <a:t>  [ (</a:t>
            </a:r>
            <a:r>
              <a:rPr sz="1300" b="0" i="0" dirty="0">
                <a:solidFill>
                  <a:srgbClr val="B5CEA8"/>
                </a:solidFill>
                <a:latin typeface="Consolas"/>
              </a:rPr>
              <a:t>5</a:t>
            </a:r>
            <a:r>
              <a:rPr sz="1300" b="0" i="0" dirty="0">
                <a:solidFill>
                  <a:srgbClr val="D4D4D4"/>
                </a:solidFill>
                <a:latin typeface="Consolas"/>
              </a:rPr>
              <a:t>, </a:t>
            </a:r>
            <a:r>
              <a:rPr sz="1300" b="0" i="0" dirty="0" err="1">
                <a:solidFill>
                  <a:srgbClr val="9CDCFE"/>
                </a:solidFill>
                <a:latin typeface="Consolas"/>
              </a:rPr>
              <a:t>chooseInt</a:t>
            </a:r>
            <a:r>
              <a:rPr sz="1300" b="0" i="0" dirty="0">
                <a:solidFill>
                  <a:srgbClr val="D4D4D4"/>
                </a:solidFill>
                <a:latin typeface="Consolas"/>
              </a:rPr>
              <a:t> (-4, 4))</a:t>
            </a:r>
            <a:r>
              <a:rPr sz="1300" b="0" i="0" dirty="0">
                <a:solidFill>
                  <a:srgbClr val="6A9955"/>
                </a:solidFill>
                <a:latin typeface="Consolas"/>
              </a:rPr>
              <a:t>   -- 83%: </a:t>
            </a:r>
            <a:r>
              <a:rPr sz="1300" b="0" i="0" dirty="0" err="1">
                <a:solidFill>
                  <a:srgbClr val="6A9955"/>
                </a:solidFill>
                <a:latin typeface="Consolas"/>
              </a:rPr>
              <a:t>numere</a:t>
            </a:r>
            <a:r>
              <a:rPr sz="1300" b="0" i="0" dirty="0">
                <a:solidFill>
                  <a:srgbClr val="6A9955"/>
                </a:solidFill>
                <a:latin typeface="Consolas"/>
              </a:rPr>
              <a:t> </a:t>
            </a:r>
            <a:r>
              <a:rPr sz="1300" b="0" i="0" dirty="0" err="1">
                <a:solidFill>
                  <a:srgbClr val="6A9955"/>
                </a:solidFill>
                <a:latin typeface="Consolas"/>
              </a:rPr>
              <a:t>mici</a:t>
            </a:r>
            <a:r>
              <a:rPr sz="1300" b="0" i="0" dirty="0">
                <a:solidFill>
                  <a:srgbClr val="6A9955"/>
                </a:solidFill>
                <a:latin typeface="Consolas"/>
              </a:rPr>
              <a:t>, </a:t>
            </a:r>
            <a:r>
              <a:rPr sz="1300" b="0" i="0" dirty="0" err="1">
                <a:solidFill>
                  <a:srgbClr val="6A9955"/>
                </a:solidFill>
                <a:latin typeface="Consolas"/>
              </a:rPr>
              <a:t>usor</a:t>
            </a:r>
            <a:r>
              <a:rPr sz="1300" b="0" i="0" dirty="0">
                <a:solidFill>
                  <a:srgbClr val="6A9955"/>
                </a:solidFill>
                <a:latin typeface="Consolas"/>
              </a:rPr>
              <a:t> de </a:t>
            </a:r>
            <a:r>
              <a:rPr sz="1300" b="0" i="0" dirty="0" err="1">
                <a:solidFill>
                  <a:srgbClr val="6A9955"/>
                </a:solidFill>
                <a:latin typeface="Consolas"/>
              </a:rPr>
              <a:t>citit</a:t>
            </a:r>
            <a:endParaRPr sz="1300" b="0" i="0" dirty="0">
              <a:solidFill>
                <a:srgbClr val="6A9955"/>
              </a:solidFill>
              <a:latin typeface="Consolas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0" i="0" dirty="0">
                <a:solidFill>
                  <a:srgbClr val="D4D4D4"/>
                </a:solidFill>
                <a:latin typeface="Consolas"/>
              </a:rPr>
              <a:t>  , (</a:t>
            </a:r>
            <a:r>
              <a:rPr sz="1300" b="0" i="0" dirty="0">
                <a:solidFill>
                  <a:srgbClr val="B5CEA8"/>
                </a:solidFill>
                <a:latin typeface="Consolas"/>
              </a:rPr>
              <a:t>1</a:t>
            </a:r>
            <a:r>
              <a:rPr sz="1300" b="0" i="0" dirty="0">
                <a:solidFill>
                  <a:srgbClr val="D4D4D4"/>
                </a:solidFill>
                <a:latin typeface="Consolas"/>
              </a:rPr>
              <a:t>, </a:t>
            </a:r>
            <a:r>
              <a:rPr sz="1300" b="0" i="0" dirty="0" err="1">
                <a:solidFill>
                  <a:srgbClr val="9CDCFE"/>
                </a:solidFill>
                <a:latin typeface="Consolas"/>
              </a:rPr>
              <a:t>chooseInt</a:t>
            </a:r>
            <a:r>
              <a:rPr sz="1300" b="0" i="0" dirty="0">
                <a:solidFill>
                  <a:srgbClr val="D4D4D4"/>
                </a:solidFill>
                <a:latin typeface="Consolas"/>
              </a:rPr>
              <a:t> (-12, 12))</a:t>
            </a:r>
            <a:r>
              <a:rPr sz="1300" b="0" i="0" dirty="0">
                <a:solidFill>
                  <a:srgbClr val="6A9955"/>
                </a:solidFill>
                <a:latin typeface="Consolas"/>
              </a:rPr>
              <a:t> -- 17%: </a:t>
            </a:r>
            <a:r>
              <a:rPr sz="1300" b="0" i="0" dirty="0" err="1">
                <a:solidFill>
                  <a:srgbClr val="6A9955"/>
                </a:solidFill>
                <a:latin typeface="Consolas"/>
              </a:rPr>
              <a:t>numere</a:t>
            </a:r>
            <a:r>
              <a:rPr sz="1300" b="0" i="0" dirty="0">
                <a:solidFill>
                  <a:srgbClr val="6A9955"/>
                </a:solidFill>
                <a:latin typeface="Consolas"/>
              </a:rPr>
              <a:t> </a:t>
            </a:r>
            <a:r>
              <a:rPr sz="1300" b="0" i="0" dirty="0" err="1">
                <a:solidFill>
                  <a:srgbClr val="6A9955"/>
                </a:solidFill>
                <a:latin typeface="Consolas"/>
              </a:rPr>
              <a:t>mai</a:t>
            </a:r>
            <a:r>
              <a:rPr sz="1300" b="0" i="0" dirty="0">
                <a:solidFill>
                  <a:srgbClr val="6A9955"/>
                </a:solidFill>
                <a:latin typeface="Consolas"/>
              </a:rPr>
              <a:t> </a:t>
            </a:r>
            <a:r>
              <a:rPr sz="1300" b="0" i="0" dirty="0" err="1">
                <a:solidFill>
                  <a:srgbClr val="6A9955"/>
                </a:solidFill>
                <a:latin typeface="Consolas"/>
              </a:rPr>
              <a:t>mari</a:t>
            </a:r>
            <a:endParaRPr sz="1300" b="0" i="0" dirty="0">
              <a:solidFill>
                <a:srgbClr val="6A9955"/>
              </a:solidFill>
              <a:latin typeface="Consolas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0" i="0" dirty="0">
                <a:solidFill>
                  <a:srgbClr val="D4D4D4"/>
                </a:solidFill>
                <a:latin typeface="Consolas"/>
              </a:rPr>
              <a:t>  ]</a:t>
            </a:r>
          </a:p>
        </p:txBody>
      </p:sp>
      <p:sp>
        <p:nvSpPr>
          <p:cNvPr id="6" name="Rectangle 5"/>
          <p:cNvSpPr/>
          <p:nvPr/>
        </p:nvSpPr>
        <p:spPr>
          <a:xfrm>
            <a:off x="6379972" y="2759395"/>
            <a:ext cx="4864608" cy="2331720"/>
          </a:xfrm>
          <a:prstGeom prst="rect">
            <a:avLst/>
          </a:prstGeom>
          <a:solidFill>
            <a:srgbClr val="1E1E1E"/>
          </a:solidFill>
          <a:ln w="15240">
            <a:solidFill>
              <a:srgbClr val="2D2D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544564" y="2809748"/>
            <a:ext cx="4535424" cy="21122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4EC9B0"/>
                </a:solidFill>
                <a:latin typeface="Consolas"/>
              </a:rPr>
              <a:t>genExpr</a:t>
            </a:r>
            <a:r>
              <a:rPr sz="1400" b="0" i="0">
                <a:solidFill>
                  <a:srgbClr val="D4D4D4"/>
                </a:solidFill>
                <a:latin typeface="Consolas"/>
              </a:rPr>
              <a:t> cu </a:t>
            </a:r>
            <a:r>
              <a:rPr sz="1400" b="1" i="0">
                <a:solidFill>
                  <a:srgbClr val="569CD6"/>
                </a:solidFill>
                <a:latin typeface="Consolas"/>
              </a:rPr>
              <a:t>sized</a:t>
            </a:r>
            <a:r>
              <a:rPr sz="1400" b="0" i="0">
                <a:solidFill>
                  <a:srgbClr val="D4D4D4"/>
                </a:solidFill>
                <a:latin typeface="Consolas"/>
              </a:rPr>
              <a:t> + </a:t>
            </a:r>
            <a:r>
              <a:rPr sz="1400" b="0" i="0">
                <a:solidFill>
                  <a:srgbClr val="DCDCAA"/>
                </a:solidFill>
                <a:latin typeface="Consolas"/>
              </a:rPr>
              <a:t>frequency</a:t>
            </a:r>
            <a:r>
              <a:rPr sz="1400" b="0" i="0">
                <a:solidFill>
                  <a:srgbClr val="D4D4D4"/>
                </a:solidFill>
                <a:latin typeface="Consolas"/>
              </a:rPr>
              <a:t>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D4D4D4"/>
                </a:solidFill>
                <a:latin typeface="Consolas"/>
              </a:rPr>
              <a:t>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DCDCAA"/>
                </a:solidFill>
                <a:latin typeface="Consolas"/>
              </a:rPr>
              <a:t>frequency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D4D4D4"/>
                </a:solidFill>
                <a:latin typeface="Consolas"/>
              </a:rPr>
              <a:t>  [ (</a:t>
            </a:r>
            <a:r>
              <a:rPr sz="1300" b="0" i="0">
                <a:solidFill>
                  <a:srgbClr val="B5CEA8"/>
                </a:solidFill>
                <a:latin typeface="Consolas"/>
              </a:rPr>
              <a:t>5</a:t>
            </a:r>
            <a:r>
              <a:rPr sz="1300" b="0" i="0">
                <a:solidFill>
                  <a:srgbClr val="D4D4D4"/>
                </a:solidFill>
                <a:latin typeface="Consolas"/>
              </a:rPr>
              <a:t>, terminal)</a:t>
            </a:r>
            <a:r>
              <a:rPr sz="1300" b="0" i="0">
                <a:solidFill>
                  <a:srgbClr val="6A9955"/>
                </a:solidFill>
                <a:latin typeface="Consolas"/>
              </a:rPr>
              <a:t>    -- 26%: Const sau Var (opreste recursivitatea)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D4D4D4"/>
                </a:solidFill>
                <a:latin typeface="Consolas"/>
              </a:rPr>
              <a:t>  , (</a:t>
            </a:r>
            <a:r>
              <a:rPr sz="1300" b="0" i="0">
                <a:solidFill>
                  <a:srgbClr val="B5CEA8"/>
                </a:solidFill>
                <a:latin typeface="Consolas"/>
              </a:rPr>
              <a:t>2</a:t>
            </a:r>
            <a:r>
              <a:rPr sz="1300" b="0" i="0">
                <a:solidFill>
                  <a:srgbClr val="D4D4D4"/>
                </a:solidFill>
                <a:latin typeface="Consolas"/>
              </a:rPr>
              <a:t>, </a:t>
            </a:r>
            <a:r>
              <a:rPr sz="1300" b="1" i="0">
                <a:solidFill>
                  <a:srgbClr val="569CD6"/>
                </a:solidFill>
                <a:latin typeface="Consolas"/>
              </a:rPr>
              <a:t>Neg</a:t>
            </a:r>
            <a:r>
              <a:rPr sz="1300" b="0" i="0">
                <a:solidFill>
                  <a:srgbClr val="D4D4D4"/>
                </a:solidFill>
                <a:latin typeface="Consolas"/>
              </a:rPr>
              <a:t> ...)</a:t>
            </a:r>
            <a:r>
              <a:rPr sz="1300" b="0" i="0">
                <a:solidFill>
                  <a:srgbClr val="6A9955"/>
                </a:solidFill>
                <a:latin typeface="Consolas"/>
              </a:rPr>
              <a:t>     -- 11%: negatie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D4D4D4"/>
                </a:solidFill>
                <a:latin typeface="Consolas"/>
              </a:rPr>
              <a:t>  , (</a:t>
            </a:r>
            <a:r>
              <a:rPr sz="1300" b="0" i="0">
                <a:solidFill>
                  <a:srgbClr val="B5CEA8"/>
                </a:solidFill>
                <a:latin typeface="Consolas"/>
              </a:rPr>
              <a:t>4</a:t>
            </a:r>
            <a:r>
              <a:rPr sz="1300" b="0" i="0">
                <a:solidFill>
                  <a:srgbClr val="D4D4D4"/>
                </a:solidFill>
                <a:latin typeface="Consolas"/>
              </a:rPr>
              <a:t>, bin </a:t>
            </a:r>
            <a:r>
              <a:rPr sz="1300" b="1" i="0">
                <a:solidFill>
                  <a:srgbClr val="569CD6"/>
                </a:solidFill>
                <a:latin typeface="Consolas"/>
              </a:rPr>
              <a:t>Add</a:t>
            </a:r>
            <a:r>
              <a:rPr sz="1300" b="0" i="0">
                <a:solidFill>
                  <a:srgbClr val="D4D4D4"/>
                </a:solidFill>
                <a:latin typeface="Consolas"/>
              </a:rPr>
              <a:t> ...)</a:t>
            </a:r>
            <a:r>
              <a:rPr sz="1300" b="0" i="0">
                <a:solidFill>
                  <a:srgbClr val="6A9955"/>
                </a:solidFill>
                <a:latin typeface="Consolas"/>
              </a:rPr>
              <a:t> -- 21%: adunare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D4D4D4"/>
                </a:solidFill>
                <a:latin typeface="Consolas"/>
              </a:rPr>
              <a:t>  , (</a:t>
            </a:r>
            <a:r>
              <a:rPr sz="1300" b="0" i="0">
                <a:solidFill>
                  <a:srgbClr val="B5CEA8"/>
                </a:solidFill>
                <a:latin typeface="Consolas"/>
              </a:rPr>
              <a:t>4</a:t>
            </a:r>
            <a:r>
              <a:rPr sz="1300" b="0" i="0">
                <a:solidFill>
                  <a:srgbClr val="D4D4D4"/>
                </a:solidFill>
                <a:latin typeface="Consolas"/>
              </a:rPr>
              <a:t>, bin </a:t>
            </a:r>
            <a:r>
              <a:rPr sz="1300" b="1" i="0">
                <a:solidFill>
                  <a:srgbClr val="569CD6"/>
                </a:solidFill>
                <a:latin typeface="Consolas"/>
              </a:rPr>
              <a:t>Sub</a:t>
            </a:r>
            <a:r>
              <a:rPr sz="1300" b="0" i="0">
                <a:solidFill>
                  <a:srgbClr val="D4D4D4"/>
                </a:solidFill>
                <a:latin typeface="Consolas"/>
              </a:rPr>
              <a:t> ...)</a:t>
            </a:r>
            <a:r>
              <a:rPr sz="1300" b="0" i="0">
                <a:solidFill>
                  <a:srgbClr val="6A9955"/>
                </a:solidFill>
                <a:latin typeface="Consolas"/>
              </a:rPr>
              <a:t> -- 21%: scadere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D4D4D4"/>
                </a:solidFill>
                <a:latin typeface="Consolas"/>
              </a:rPr>
              <a:t>  , (</a:t>
            </a:r>
            <a:r>
              <a:rPr sz="1300" b="0" i="0">
                <a:solidFill>
                  <a:srgbClr val="B5CEA8"/>
                </a:solidFill>
                <a:latin typeface="Consolas"/>
              </a:rPr>
              <a:t>4</a:t>
            </a:r>
            <a:r>
              <a:rPr sz="1300" b="0" i="0">
                <a:solidFill>
                  <a:srgbClr val="D4D4D4"/>
                </a:solidFill>
                <a:latin typeface="Consolas"/>
              </a:rPr>
              <a:t>, bin </a:t>
            </a:r>
            <a:r>
              <a:rPr sz="1300" b="1" i="0">
                <a:solidFill>
                  <a:srgbClr val="569CD6"/>
                </a:solidFill>
                <a:latin typeface="Consolas"/>
              </a:rPr>
              <a:t>Mul</a:t>
            </a:r>
            <a:r>
              <a:rPr sz="1300" b="0" i="0">
                <a:solidFill>
                  <a:srgbClr val="D4D4D4"/>
                </a:solidFill>
                <a:latin typeface="Consolas"/>
              </a:rPr>
              <a:t> ...)</a:t>
            </a:r>
            <a:r>
              <a:rPr sz="1300" b="0" i="0">
                <a:solidFill>
                  <a:srgbClr val="6A9955"/>
                </a:solidFill>
                <a:latin typeface="Consolas"/>
              </a:rPr>
              <a:t> -- 21%: inmultire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D4D4D4"/>
                </a:solidFill>
                <a:latin typeface="Consolas"/>
              </a:rPr>
              <a:t>  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6800" y="4972364"/>
            <a:ext cx="1005840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 dirty="0">
                <a:solidFill>
                  <a:srgbClr val="2F2F2F"/>
                </a:solidFill>
                <a:latin typeface="Calibri"/>
              </a:rPr>
              <a:t>De </a:t>
            </a:r>
            <a:r>
              <a:rPr sz="1800" b="1" i="0" dirty="0" err="1">
                <a:solidFill>
                  <a:srgbClr val="2F2F2F"/>
                </a:solidFill>
                <a:latin typeface="Calibri"/>
              </a:rPr>
              <a:t>ce</a:t>
            </a:r>
            <a:r>
              <a:rPr sz="1800" b="1" i="0" dirty="0">
                <a:solidFill>
                  <a:srgbClr val="2F2F2F"/>
                </a:solidFill>
                <a:latin typeface="Calibri"/>
              </a:rPr>
              <a:t> </a:t>
            </a:r>
            <a:r>
              <a:rPr sz="1800" b="1" i="0" dirty="0" err="1">
                <a:solidFill>
                  <a:srgbClr val="2F2F2F"/>
                </a:solidFill>
                <a:latin typeface="Calibri"/>
              </a:rPr>
              <a:t>aceste</a:t>
            </a:r>
            <a:r>
              <a:rPr sz="1800" b="1" i="0" dirty="0">
                <a:solidFill>
                  <a:srgbClr val="2F2F2F"/>
                </a:solidFill>
                <a:latin typeface="Calibri"/>
              </a:rPr>
              <a:t> </a:t>
            </a:r>
            <a:r>
              <a:rPr sz="1800" b="1" i="0" dirty="0" err="1">
                <a:solidFill>
                  <a:srgbClr val="2F2F2F"/>
                </a:solidFill>
                <a:latin typeface="Calibri"/>
              </a:rPr>
              <a:t>ponderi</a:t>
            </a:r>
            <a:r>
              <a:rPr sz="1800" b="1" i="0" dirty="0">
                <a:solidFill>
                  <a:srgbClr val="2F2F2F"/>
                </a:solidFill>
                <a:latin typeface="Calibri"/>
              </a:rPr>
              <a:t>:</a:t>
            </a:r>
          </a:p>
          <a:p>
            <a:r>
              <a:rPr lang="it-IT" sz="1600" dirty="0">
                <a:solidFill>
                  <a:srgbClr val="2F3338"/>
                </a:solidFill>
                <a:latin typeface="Segoe UI"/>
              </a:rPr>
              <a:t>- </a:t>
            </a:r>
            <a:r>
              <a:rPr lang="it-IT" sz="1600" b="1" dirty="0">
                <a:solidFill>
                  <a:srgbClr val="2F3338"/>
                </a:solidFill>
                <a:latin typeface="Segoe UI"/>
              </a:rPr>
              <a:t>terminalele</a:t>
            </a:r>
            <a:r>
              <a:rPr lang="it-IT" sz="1600" dirty="0">
                <a:solidFill>
                  <a:srgbClr val="2F3338"/>
                </a:solidFill>
                <a:latin typeface="Segoe UI"/>
              </a:rPr>
              <a:t> au pondere mai mare pentru a opri recursivitatea</a:t>
            </a:r>
          </a:p>
          <a:p>
            <a:r>
              <a:rPr lang="it-IT" sz="1600" dirty="0">
                <a:solidFill>
                  <a:srgbClr val="2F3338"/>
                </a:solidFill>
                <a:latin typeface="Segoe UI"/>
              </a:rPr>
              <a:t>- </a:t>
            </a:r>
            <a:r>
              <a:rPr lang="it-IT" sz="1600" b="1" dirty="0">
                <a:solidFill>
                  <a:srgbClr val="2F3338"/>
                </a:solidFill>
                <a:latin typeface="Segoe UI"/>
              </a:rPr>
              <a:t>Neg</a:t>
            </a:r>
            <a:r>
              <a:rPr lang="it-IT" sz="1600" dirty="0">
                <a:solidFill>
                  <a:srgbClr val="2F3338"/>
                </a:solidFill>
                <a:latin typeface="Segoe UI"/>
              </a:rPr>
              <a:t> are pondere mai </a:t>
            </a:r>
            <a:r>
              <a:rPr lang="it-IT" sz="1600" dirty="0" smtClean="0">
                <a:solidFill>
                  <a:srgbClr val="2F3338"/>
                </a:solidFill>
                <a:latin typeface="Segoe UI"/>
              </a:rPr>
              <a:t>mic</a:t>
            </a:r>
            <a:r>
              <a:rPr lang="ro-RO" sz="1600" dirty="0" smtClean="0">
                <a:solidFill>
                  <a:srgbClr val="2F3338"/>
                </a:solidFill>
                <a:latin typeface="Segoe UI"/>
              </a:rPr>
              <a:t>ă</a:t>
            </a:r>
            <a:r>
              <a:rPr lang="it-IT" sz="1600" dirty="0" smtClean="0">
                <a:solidFill>
                  <a:srgbClr val="2F3338"/>
                </a:solidFill>
                <a:latin typeface="Segoe UI"/>
              </a:rPr>
              <a:t> </a:t>
            </a:r>
            <a:r>
              <a:rPr lang="it-IT" sz="1600" dirty="0">
                <a:solidFill>
                  <a:srgbClr val="2F3338"/>
                </a:solidFill>
                <a:latin typeface="Segoe UI"/>
              </a:rPr>
              <a:t>(un singur subarbore)</a:t>
            </a:r>
          </a:p>
          <a:p>
            <a:r>
              <a:rPr lang="it-IT" sz="1600" dirty="0">
                <a:solidFill>
                  <a:srgbClr val="2F3338"/>
                </a:solidFill>
                <a:latin typeface="Segoe UI"/>
              </a:rPr>
              <a:t>- </a:t>
            </a:r>
            <a:r>
              <a:rPr lang="it-IT" sz="1600" b="1" dirty="0">
                <a:solidFill>
                  <a:srgbClr val="2F3338"/>
                </a:solidFill>
                <a:latin typeface="Segoe UI"/>
              </a:rPr>
              <a:t>operatorii</a:t>
            </a:r>
            <a:r>
              <a:rPr lang="it-IT" sz="1600" dirty="0">
                <a:solidFill>
                  <a:srgbClr val="2F3338"/>
                </a:solidFill>
                <a:latin typeface="Segoe UI"/>
              </a:rPr>
              <a:t> binari sunt egali, nu </a:t>
            </a:r>
            <a:r>
              <a:rPr lang="it-IT" sz="1600" dirty="0" smtClean="0">
                <a:solidFill>
                  <a:srgbClr val="2F3338"/>
                </a:solidFill>
                <a:latin typeface="Segoe UI"/>
              </a:rPr>
              <a:t>favoriz</a:t>
            </a:r>
            <a:r>
              <a:rPr lang="ro-RO" sz="1600" dirty="0" smtClean="0">
                <a:solidFill>
                  <a:srgbClr val="2F3338"/>
                </a:solidFill>
                <a:latin typeface="Segoe UI"/>
              </a:rPr>
              <a:t>ă</a:t>
            </a:r>
            <a:r>
              <a:rPr lang="it-IT" sz="1600" dirty="0" smtClean="0">
                <a:solidFill>
                  <a:srgbClr val="2F3338"/>
                </a:solidFill>
                <a:latin typeface="Segoe UI"/>
              </a:rPr>
              <a:t>m </a:t>
            </a:r>
            <a:r>
              <a:rPr lang="it-IT" sz="1600" dirty="0">
                <a:solidFill>
                  <a:srgbClr val="2F3338"/>
                </a:solidFill>
                <a:latin typeface="Segoe UI"/>
              </a:rPr>
              <a:t>niciun operator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500" dirty="0" err="1">
                <a:solidFill>
                  <a:srgbClr val="2F3338"/>
                </a:solidFill>
              </a:rPr>
              <a:t>genExpr</a:t>
            </a:r>
            <a:r>
              <a:rPr sz="3500" dirty="0">
                <a:solidFill>
                  <a:srgbClr val="2F3338"/>
                </a:solidFill>
              </a:rPr>
              <a:t>, </a:t>
            </a:r>
            <a:r>
              <a:rPr sz="3500" dirty="0" err="1">
                <a:solidFill>
                  <a:srgbClr val="2F3338"/>
                </a:solidFill>
              </a:rPr>
              <a:t>genClosedExpr</a:t>
            </a:r>
            <a:r>
              <a:rPr sz="3500" dirty="0">
                <a:solidFill>
                  <a:srgbClr val="2F3338"/>
                </a:solidFill>
              </a:rPr>
              <a:t>, </a:t>
            </a:r>
            <a:r>
              <a:rPr sz="3500" dirty="0" err="1">
                <a:solidFill>
                  <a:srgbClr val="2F3338"/>
                </a:solidFill>
              </a:rPr>
              <a:t>genEnvFor</a:t>
            </a:r>
            <a:endParaRPr sz="3500" dirty="0">
              <a:solidFill>
                <a:srgbClr val="2F3338"/>
              </a:solidFill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1097280" y="2138680"/>
            <a:ext cx="9773920" cy="4008120"/>
          </a:xfrm>
          <a:prstGeom prst="roundRect">
            <a:avLst/>
          </a:prstGeom>
          <a:solidFill>
            <a:srgbClr val="EEF4FF"/>
          </a:solidFill>
          <a:ln w="14604">
            <a:solidFill>
              <a:srgbClr val="D5DF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4" name="TextBox 3"/>
          <p:cNvSpPr txBox="1"/>
          <p:nvPr/>
        </p:nvSpPr>
        <p:spPr>
          <a:xfrm>
            <a:off x="1325880" y="2321559"/>
            <a:ext cx="9329651" cy="6104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0" i="0" dirty="0">
                <a:solidFill>
                  <a:srgbClr val="2F3338"/>
                </a:solidFill>
                <a:latin typeface="Segoe UI"/>
              </a:rPr>
              <a:t>-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genExpr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600" b="0" i="0" dirty="0" err="1" smtClean="0">
                <a:solidFill>
                  <a:srgbClr val="2F3338"/>
                </a:solidFill>
                <a:latin typeface="Segoe UI"/>
              </a:rPr>
              <a:t>folose</a:t>
            </a:r>
            <a:r>
              <a:rPr lang="ro-RO" sz="1600" b="0" i="0" dirty="0" smtClean="0">
                <a:solidFill>
                  <a:srgbClr val="2F3338"/>
                </a:solidFill>
                <a:latin typeface="Segoe UI"/>
              </a:rPr>
              <a:t>ș</a:t>
            </a:r>
            <a:r>
              <a:rPr sz="1600" b="0" i="0" dirty="0" err="1" smtClean="0">
                <a:solidFill>
                  <a:srgbClr val="2F3338"/>
                </a:solidFill>
                <a:latin typeface="Segoe UI"/>
              </a:rPr>
              <a:t>te</a:t>
            </a:r>
            <a:r>
              <a:rPr sz="1600" b="0" i="0" dirty="0" smtClean="0">
                <a:solidFill>
                  <a:srgbClr val="2F3338"/>
                </a:solidFill>
                <a:latin typeface="Segoe UI"/>
              </a:rPr>
              <a:t> 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sized + frequency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pentru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controlul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600" b="0" i="0" dirty="0" err="1" smtClean="0">
                <a:solidFill>
                  <a:srgbClr val="2F3338"/>
                </a:solidFill>
                <a:latin typeface="Segoe UI"/>
              </a:rPr>
              <a:t>recursivita</a:t>
            </a:r>
            <a:r>
              <a:rPr lang="ro-RO" sz="1600" b="0" i="0" dirty="0" smtClean="0">
                <a:solidFill>
                  <a:srgbClr val="2F3338"/>
                </a:solidFill>
                <a:latin typeface="Segoe UI"/>
              </a:rPr>
              <a:t>ț</a:t>
            </a:r>
            <a:r>
              <a:rPr sz="1600" b="0" i="0" dirty="0" smtClean="0">
                <a:solidFill>
                  <a:srgbClr val="2F3338"/>
                </a:solidFill>
                <a:latin typeface="Segoe UI"/>
              </a:rPr>
              <a:t>ii </a:t>
            </a:r>
            <a:r>
              <a:rPr lang="ro-RO" sz="1600" dirty="0" err="1">
                <a:solidFill>
                  <a:srgbClr val="2F3338"/>
                </a:solidFill>
                <a:latin typeface="Segoe UI"/>
              </a:rPr>
              <a:t>ș</a:t>
            </a:r>
            <a:r>
              <a:rPr sz="1600" b="0" i="0" dirty="0" smtClean="0">
                <a:solidFill>
                  <a:srgbClr val="2F3338"/>
                </a:solidFill>
                <a:latin typeface="Segoe UI"/>
              </a:rPr>
              <a:t>i </a:t>
            </a:r>
            <a:r>
              <a:rPr sz="1600" b="0" i="0" dirty="0" err="1" smtClean="0">
                <a:solidFill>
                  <a:srgbClr val="2F3338"/>
                </a:solidFill>
                <a:latin typeface="Segoe UI"/>
              </a:rPr>
              <a:t>distribu</a:t>
            </a:r>
            <a:r>
              <a:rPr lang="ro-RO" sz="1600" b="0" i="0" dirty="0" smtClean="0">
                <a:solidFill>
                  <a:srgbClr val="2F3338"/>
                </a:solidFill>
                <a:latin typeface="Segoe UI"/>
              </a:rPr>
              <a:t>ț</a:t>
            </a:r>
            <a:r>
              <a:rPr sz="1600" b="0" i="0" dirty="0" err="1" smtClean="0">
                <a:solidFill>
                  <a:srgbClr val="2F3338"/>
                </a:solidFill>
                <a:latin typeface="Segoe UI"/>
              </a:rPr>
              <a:t>iei</a:t>
            </a:r>
            <a:r>
              <a:rPr sz="1600" b="0" i="0" dirty="0" smtClean="0">
                <a:solidFill>
                  <a:srgbClr val="2F3338"/>
                </a:solidFill>
                <a:latin typeface="Segoe UI"/>
              </a:rPr>
              <a:t>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constructorilor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0" i="0" dirty="0">
                <a:solidFill>
                  <a:srgbClr val="2F3338"/>
                </a:solidFill>
                <a:latin typeface="Segoe UI"/>
              </a:rPr>
              <a:t>-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genClosedExpr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 produce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expresii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600" b="0" i="0" dirty="0" smtClean="0">
                <a:solidFill>
                  <a:srgbClr val="2F3338"/>
                </a:solidFill>
                <a:latin typeface="Segoe UI"/>
              </a:rPr>
              <a:t>f</a:t>
            </a:r>
            <a:r>
              <a:rPr lang="ro-RO" sz="1600" b="0" i="0" dirty="0" smtClean="0">
                <a:solidFill>
                  <a:srgbClr val="2F3338"/>
                </a:solidFill>
                <a:latin typeface="Segoe UI"/>
              </a:rPr>
              <a:t>ă</a:t>
            </a:r>
            <a:r>
              <a:rPr sz="1600" b="0" i="0" dirty="0" smtClean="0">
                <a:solidFill>
                  <a:srgbClr val="2F3338"/>
                </a:solidFill>
                <a:latin typeface="Segoe UI"/>
              </a:rPr>
              <a:t>r</a:t>
            </a:r>
            <a:r>
              <a:rPr lang="ro-RO" sz="1600" b="0" i="0" dirty="0" smtClean="0">
                <a:solidFill>
                  <a:srgbClr val="2F3338"/>
                </a:solidFill>
                <a:latin typeface="Segoe UI"/>
              </a:rPr>
              <a:t>ă</a:t>
            </a:r>
            <a:r>
              <a:rPr sz="1600" b="0" i="0" dirty="0" smtClean="0">
                <a:solidFill>
                  <a:srgbClr val="2F3338"/>
                </a:solidFill>
                <a:latin typeface="Segoe UI"/>
              </a:rPr>
              <a:t>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variabile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 (utile in </a:t>
            </a:r>
            <a:r>
              <a:rPr sz="1600" b="0" i="0" dirty="0" err="1" smtClean="0">
                <a:solidFill>
                  <a:srgbClr val="2F3338"/>
                </a:solidFill>
                <a:latin typeface="Segoe UI"/>
              </a:rPr>
              <a:t>propriet</a:t>
            </a:r>
            <a:r>
              <a:rPr lang="ro-RO" sz="1600" b="0" i="0" dirty="0" smtClean="0">
                <a:solidFill>
                  <a:srgbClr val="2F3338"/>
                </a:solidFill>
                <a:latin typeface="Segoe UI"/>
              </a:rPr>
              <a:t>ăț</a:t>
            </a:r>
            <a:r>
              <a:rPr sz="1600" b="0" i="0" dirty="0" err="1" smtClean="0">
                <a:solidFill>
                  <a:srgbClr val="2F3338"/>
                </a:solidFill>
                <a:latin typeface="Segoe UI"/>
              </a:rPr>
              <a:t>ile</a:t>
            </a:r>
            <a:r>
              <a:rPr sz="1600" b="0" i="0" dirty="0" smtClean="0">
                <a:solidFill>
                  <a:srgbClr val="2F3338"/>
                </a:solidFill>
                <a:latin typeface="Segoe UI"/>
              </a:rPr>
              <a:t> 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de </a:t>
            </a:r>
            <a:r>
              <a:rPr sz="1600" b="0" i="0" dirty="0" err="1" smtClean="0">
                <a:solidFill>
                  <a:srgbClr val="2F3338"/>
                </a:solidFill>
                <a:latin typeface="Segoe UI"/>
              </a:rPr>
              <a:t>substitu</a:t>
            </a:r>
            <a:r>
              <a:rPr lang="ro-RO" sz="1600" b="0" i="0" dirty="0" smtClean="0">
                <a:solidFill>
                  <a:srgbClr val="2F3338"/>
                </a:solidFill>
                <a:latin typeface="Segoe UI"/>
              </a:rPr>
              <a:t>ț</a:t>
            </a:r>
            <a:r>
              <a:rPr sz="1600" b="0" i="0" dirty="0" err="1" smtClean="0">
                <a:solidFill>
                  <a:srgbClr val="2F3338"/>
                </a:solidFill>
                <a:latin typeface="Segoe UI"/>
              </a:rPr>
              <a:t>ie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25880" y="3235960"/>
            <a:ext cx="9329651" cy="1676866"/>
          </a:xfrm>
          <a:prstGeom prst="roundRect">
            <a:avLst/>
          </a:prstGeom>
          <a:solidFill>
            <a:srgbClr val="1E1E1E"/>
          </a:solidFill>
          <a:ln w="13970">
            <a:solidFill>
              <a:srgbClr val="2D2D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6" name="TextBox 5"/>
          <p:cNvSpPr txBox="1"/>
          <p:nvPr/>
        </p:nvSpPr>
        <p:spPr>
          <a:xfrm>
            <a:off x="1490471" y="3327400"/>
            <a:ext cx="900977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9CDCFE"/>
                </a:solidFill>
                <a:latin typeface="Consolas"/>
              </a:rPr>
              <a:t>genEnvFor (mediu complet pentru variabilele libere)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90471" y="3601720"/>
            <a:ext cx="9009777" cy="789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D4D4D4"/>
                </a:solidFill>
                <a:latin typeface="Consolas"/>
              </a:rPr>
              <a:t>let names = Set.toList (freeVars expr)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D4D4D4"/>
                </a:solidFill>
                <a:latin typeface="Consolas"/>
              </a:rPr>
              <a:t>values &lt;- vectorOf (length names) genSmallInt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D4D4D4"/>
                </a:solidFill>
                <a:latin typeface="Consolas"/>
              </a:rPr>
              <a:t>pure (Map.fromList (zip names values))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5247640"/>
            <a:ext cx="932965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0" i="0" dirty="0">
                <a:solidFill>
                  <a:srgbClr val="2F3338"/>
                </a:solidFill>
                <a:latin typeface="Segoe UI"/>
              </a:rPr>
              <a:t>-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Controlul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generatorului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 +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medii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 complete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reduc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fals-pozitivele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si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cresc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600" b="0" i="0" dirty="0" err="1" smtClean="0">
                <a:solidFill>
                  <a:srgbClr val="2F3338"/>
                </a:solidFill>
                <a:latin typeface="Segoe UI"/>
              </a:rPr>
              <a:t>relevan</a:t>
            </a:r>
            <a:r>
              <a:rPr lang="ro-RO" sz="1600" b="0" i="0" dirty="0" smtClean="0">
                <a:solidFill>
                  <a:srgbClr val="2F3338"/>
                </a:solidFill>
                <a:latin typeface="Segoe UI"/>
              </a:rPr>
              <a:t>ț</a:t>
            </a:r>
            <a:r>
              <a:rPr sz="1600" b="0" i="0" dirty="0" smtClean="0">
                <a:solidFill>
                  <a:srgbClr val="2F3338"/>
                </a:solidFill>
                <a:latin typeface="Segoe UI"/>
              </a:rPr>
              <a:t>a </a:t>
            </a:r>
            <a:r>
              <a:rPr sz="1600" b="0" i="0" dirty="0" err="1">
                <a:solidFill>
                  <a:srgbClr val="2F3338"/>
                </a:solidFill>
                <a:latin typeface="Segoe UI"/>
              </a:rPr>
              <a:t>testelor</a:t>
            </a:r>
            <a:r>
              <a:rPr sz="1600" b="0" i="0" dirty="0">
                <a:solidFill>
                  <a:srgbClr val="2F3338"/>
                </a:solidFill>
                <a:latin typeface="Segoe UI"/>
              </a:rPr>
              <a:t>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400" dirty="0" err="1"/>
              <a:t>shrinkExpr</a:t>
            </a:r>
            <a:r>
              <a:rPr sz="3400" dirty="0"/>
              <a:t>: </a:t>
            </a:r>
            <a:r>
              <a:rPr sz="3400" dirty="0" err="1"/>
              <a:t>contraexemple</a:t>
            </a:r>
            <a:r>
              <a:rPr sz="3400" dirty="0"/>
              <a:t> </a:t>
            </a:r>
            <a:r>
              <a:rPr sz="3400" dirty="0" err="1"/>
              <a:t>minimale</a:t>
            </a:r>
            <a:endParaRPr sz="3400" dirty="0"/>
          </a:p>
        </p:txBody>
      </p:sp>
      <p:sp>
        <p:nvSpPr>
          <p:cNvPr id="6" name="Rounded Rectangle 3"/>
          <p:cNvSpPr/>
          <p:nvPr/>
        </p:nvSpPr>
        <p:spPr>
          <a:xfrm>
            <a:off x="1097280" y="2267712"/>
            <a:ext cx="10058400" cy="1600200"/>
          </a:xfrm>
          <a:prstGeom prst="roundRect">
            <a:avLst/>
          </a:prstGeom>
          <a:solidFill>
            <a:srgbClr val="1E1E1E"/>
          </a:solidFill>
          <a:ln w="15240">
            <a:solidFill>
              <a:srgbClr val="2D2D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61872" y="2377440"/>
            <a:ext cx="9729216" cy="12311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b="1" i="0">
                <a:solidFill>
                  <a:srgbClr val="4EC9B0"/>
                </a:solidFill>
                <a:latin typeface="Consolas"/>
              </a:rPr>
              <a:t>shrinkExpr (Add a b)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D4D4D4"/>
                </a:solidFill>
                <a:latin typeface="Consolas"/>
              </a:rPr>
              <a:t>  = [a, b]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D4D4D4"/>
                </a:solidFill>
                <a:latin typeface="Consolas"/>
              </a:rPr>
              <a:t>  ++ [Add a' b | a' &lt;- shrinkExpr a]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D4D4D4"/>
                </a:solidFill>
                <a:latin typeface="Consolas"/>
              </a:rPr>
              <a:t>  ++ [Add a b' | b' &lt;- shrinkExpr b]</a:t>
            </a:r>
          </a:p>
        </p:txBody>
      </p:sp>
      <p:sp>
        <p:nvSpPr>
          <p:cNvPr id="8" name="Rounded Rectangle 5"/>
          <p:cNvSpPr/>
          <p:nvPr/>
        </p:nvSpPr>
        <p:spPr>
          <a:xfrm>
            <a:off x="1097280" y="4069080"/>
            <a:ext cx="4864608" cy="2011680"/>
          </a:xfrm>
          <a:prstGeom prst="roundRect">
            <a:avLst/>
          </a:prstGeom>
          <a:solidFill>
            <a:srgbClr val="FFF1F2"/>
          </a:solidFill>
          <a:ln w="15240">
            <a:solidFill>
              <a:srgbClr val="FCA5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6"/>
          <p:cNvSpPr/>
          <p:nvPr/>
        </p:nvSpPr>
        <p:spPr>
          <a:xfrm>
            <a:off x="6291072" y="4069080"/>
            <a:ext cx="4864608" cy="2011680"/>
          </a:xfrm>
          <a:prstGeom prst="roundRect">
            <a:avLst/>
          </a:prstGeom>
          <a:solidFill>
            <a:srgbClr val="ECFDF5"/>
          </a:solidFill>
          <a:ln w="15240"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298448" y="4279392"/>
            <a:ext cx="448056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 dirty="0" smtClean="0">
                <a:solidFill>
                  <a:srgbClr val="9A3412"/>
                </a:solidFill>
                <a:latin typeface="Segoe UI"/>
              </a:rPr>
              <a:t>F</a:t>
            </a:r>
            <a:r>
              <a:rPr lang="ro-RO" sz="2000" b="1" i="0" dirty="0" smtClean="0">
                <a:solidFill>
                  <a:srgbClr val="9A3412"/>
                </a:solidFill>
                <a:latin typeface="Segoe UI"/>
              </a:rPr>
              <a:t>ă</a:t>
            </a:r>
            <a:r>
              <a:rPr sz="2000" b="1" i="0" dirty="0" smtClean="0">
                <a:solidFill>
                  <a:srgbClr val="9A3412"/>
                </a:solidFill>
                <a:latin typeface="Segoe UI"/>
              </a:rPr>
              <a:t>r</a:t>
            </a:r>
            <a:r>
              <a:rPr lang="ro-RO" sz="2000" b="1" i="0" dirty="0" smtClean="0">
                <a:solidFill>
                  <a:srgbClr val="9A3412"/>
                </a:solidFill>
                <a:latin typeface="Segoe UI"/>
              </a:rPr>
              <a:t>ă</a:t>
            </a:r>
            <a:r>
              <a:rPr sz="2000" b="1" i="0" dirty="0" smtClean="0">
                <a:solidFill>
                  <a:srgbClr val="9A3412"/>
                </a:solidFill>
                <a:latin typeface="Segoe UI"/>
              </a:rPr>
              <a:t> </a:t>
            </a:r>
            <a:r>
              <a:rPr sz="2000" b="1" i="0" dirty="0">
                <a:solidFill>
                  <a:srgbClr val="9A3412"/>
                </a:solidFill>
                <a:latin typeface="Segoe UI"/>
              </a:rPr>
              <a:t>shrink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 dirty="0">
                <a:solidFill>
                  <a:srgbClr val="2F3338"/>
                </a:solidFill>
                <a:latin typeface="Consolas"/>
              </a:rPr>
              <a:t>Add (Mul (Add (Var "x") (Const 3))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 dirty="0">
                <a:solidFill>
                  <a:srgbClr val="2F3338"/>
                </a:solidFill>
                <a:latin typeface="Consolas"/>
              </a:rPr>
              <a:t>    (Const 2)) (Sub (Var "y") (Const 1))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4279392"/>
            <a:ext cx="4480560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 dirty="0">
                <a:solidFill>
                  <a:srgbClr val="166534"/>
                </a:solidFill>
                <a:latin typeface="Segoe UI"/>
              </a:rPr>
              <a:t>Cu shrink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 dirty="0">
                <a:solidFill>
                  <a:srgbClr val="2F3338"/>
                </a:solidFill>
                <a:latin typeface="Consolas"/>
              </a:rPr>
              <a:t>Add (Var "x") (Const 0)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1" dirty="0" err="1">
                <a:solidFill>
                  <a:srgbClr val="4B5563"/>
                </a:solidFill>
                <a:latin typeface="Segoe UI"/>
              </a:rPr>
              <a:t>Acelasi</a:t>
            </a:r>
            <a:r>
              <a:rPr sz="1400" b="0" i="1" dirty="0">
                <a:solidFill>
                  <a:srgbClr val="4B5563"/>
                </a:solidFill>
                <a:latin typeface="Segoe UI"/>
              </a:rPr>
              <a:t> bug, </a:t>
            </a:r>
            <a:r>
              <a:rPr sz="1400" b="0" i="1" dirty="0" err="1">
                <a:solidFill>
                  <a:srgbClr val="4B5563"/>
                </a:solidFill>
                <a:latin typeface="Segoe UI"/>
              </a:rPr>
              <a:t>dar</a:t>
            </a:r>
            <a:r>
              <a:rPr sz="1400" b="0" i="1" dirty="0">
                <a:solidFill>
                  <a:srgbClr val="4B5563"/>
                </a:solidFill>
                <a:latin typeface="Segoe UI"/>
              </a:rPr>
              <a:t> </a:t>
            </a:r>
            <a:r>
              <a:rPr sz="1400" b="0" i="1" dirty="0" err="1">
                <a:solidFill>
                  <a:srgbClr val="4B5563"/>
                </a:solidFill>
                <a:latin typeface="Segoe UI"/>
              </a:rPr>
              <a:t>exprimat</a:t>
            </a:r>
            <a:r>
              <a:rPr sz="1400" b="0" i="1" dirty="0">
                <a:solidFill>
                  <a:srgbClr val="4B5563"/>
                </a:solidFill>
                <a:latin typeface="Segoe UI"/>
              </a:rPr>
              <a:t> minimal.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400" dirty="0" err="1"/>
              <a:t>Cele</a:t>
            </a:r>
            <a:r>
              <a:rPr sz="3400" dirty="0"/>
              <a:t> 16 </a:t>
            </a:r>
            <a:r>
              <a:rPr sz="3400" dirty="0" err="1" smtClean="0"/>
              <a:t>propriet</a:t>
            </a:r>
            <a:r>
              <a:rPr lang="ro-RO" sz="3400" dirty="0" smtClean="0"/>
              <a:t>ă</a:t>
            </a:r>
            <a:r>
              <a:rPr lang="ro-RO" sz="3400" dirty="0"/>
              <a:t>ț</a:t>
            </a:r>
            <a:r>
              <a:rPr sz="3400" dirty="0" smtClean="0"/>
              <a:t>i </a:t>
            </a:r>
            <a:r>
              <a:rPr sz="3400" dirty="0"/>
              <a:t>(</a:t>
            </a:r>
            <a:r>
              <a:rPr sz="3400" dirty="0" err="1"/>
              <a:t>grupate</a:t>
            </a:r>
            <a:r>
              <a:rPr sz="3400" dirty="0"/>
              <a:t>)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="" xmlns:a16="http://schemas.microsoft.com/office/drawing/2014/main" id="{79473285-A0EB-EEFF-685E-F4C3C41121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97280" y="2120900"/>
            <a:ext cx="4998720" cy="4165600"/>
          </a:xfrm>
        </p:spPr>
        <p:txBody>
          <a:bodyPr>
            <a:normAutofit/>
          </a:bodyPr>
          <a:lstStyle/>
          <a:p>
            <a:pPr>
              <a:spcBef>
                <a:spcPts val="600"/>
              </a:spcBef>
            </a:pPr>
            <a:r>
              <a:rPr lang="en-US" sz="1400" b="1" kern="1000" spc="10" dirty="0" err="1">
                <a:solidFill>
                  <a:schemeClr val="tx1"/>
                </a:solidFill>
              </a:rPr>
              <a:t>Corectitudine</a:t>
            </a:r>
            <a:r>
              <a:rPr lang="en-US" sz="1400" b="1" kern="1000" spc="10" dirty="0">
                <a:solidFill>
                  <a:schemeClr val="tx1"/>
                </a:solidFill>
              </a:rPr>
              <a:t> </a:t>
            </a:r>
            <a:r>
              <a:rPr lang="en-US" sz="1400" b="1" kern="1000" spc="10" dirty="0" smtClean="0">
                <a:solidFill>
                  <a:schemeClr val="tx1"/>
                </a:solidFill>
              </a:rPr>
              <a:t>semantic</a:t>
            </a:r>
            <a:r>
              <a:rPr lang="ro-RO" sz="1400" b="1" kern="1000" spc="10" dirty="0" smtClean="0">
                <a:solidFill>
                  <a:schemeClr val="tx1"/>
                </a:solidFill>
              </a:rPr>
              <a:t>ă</a:t>
            </a:r>
            <a:r>
              <a:rPr lang="en-US" sz="1400" b="1" kern="1000" spc="10" dirty="0" smtClean="0">
                <a:solidFill>
                  <a:schemeClr val="tx1"/>
                </a:solidFill>
              </a:rPr>
              <a:t>:</a:t>
            </a:r>
            <a:r>
              <a:rPr lang="en-US" sz="1400" b="1" kern="1000" spc="10" dirty="0"/>
              <a:t/>
            </a:r>
            <a:br>
              <a:rPr lang="en-US" sz="1400" b="1" kern="1000" spc="10" dirty="0"/>
            </a:br>
            <a:r>
              <a:rPr lang="en-US" sz="1400" b="1" kern="1000" spc="10" dirty="0"/>
              <a:t/>
            </a:r>
            <a:br>
              <a:rPr lang="en-US" sz="1400" b="1" kern="1000" spc="10" dirty="0"/>
            </a:br>
            <a:r>
              <a:rPr lang="en-US" sz="1400" b="1" kern="1000" spc="10" dirty="0"/>
              <a:t>- </a:t>
            </a:r>
            <a:r>
              <a:rPr lang="en-US" sz="1400" kern="1000" spc="10" dirty="0" err="1"/>
              <a:t>Simplificarea</a:t>
            </a:r>
            <a:r>
              <a:rPr lang="en-US" sz="1400" kern="1000" spc="10" dirty="0"/>
              <a:t> </a:t>
            </a:r>
            <a:r>
              <a:rPr lang="en-US" sz="1400" kern="1000" spc="10" dirty="0" smtClean="0"/>
              <a:t>p</a:t>
            </a:r>
            <a:r>
              <a:rPr lang="ro-RO" sz="1400" kern="1000" spc="10" dirty="0" smtClean="0"/>
              <a:t>ăs</a:t>
            </a:r>
            <a:r>
              <a:rPr lang="en-US" sz="1400" kern="1000" spc="10" dirty="0" err="1" smtClean="0"/>
              <a:t>treaz</a:t>
            </a:r>
            <a:r>
              <a:rPr lang="ro-RO" sz="1400" kern="1000" spc="10" dirty="0" smtClean="0"/>
              <a:t>ă</a:t>
            </a:r>
            <a:r>
              <a:rPr lang="en-US" sz="1400" kern="1000" spc="10" dirty="0" smtClean="0"/>
              <a:t> </a:t>
            </a:r>
            <a:r>
              <a:rPr lang="en-US" sz="1400" kern="1000" spc="10" dirty="0" err="1"/>
              <a:t>semantica</a:t>
            </a:r>
            <a:r>
              <a:rPr lang="en-US" sz="1400" kern="1000" spc="10" dirty="0"/>
              <a:t/>
            </a:r>
            <a:br>
              <a:rPr lang="en-US" sz="1400" kern="1000" spc="10" dirty="0"/>
            </a:br>
            <a:r>
              <a:rPr lang="en-US" sz="1400" kern="1000" spc="10" dirty="0"/>
              <a:t>- Pretty-print </a:t>
            </a:r>
            <a:r>
              <a:rPr lang="en-US" sz="1400" kern="1000" spc="10" dirty="0" err="1"/>
              <a:t>urmat</a:t>
            </a:r>
            <a:r>
              <a:rPr lang="en-US" sz="1400" kern="1000" spc="10" dirty="0"/>
              <a:t> de </a:t>
            </a:r>
            <a:r>
              <a:rPr lang="en-US" sz="1400" kern="1000" spc="10" dirty="0" err="1"/>
              <a:t>parsare</a:t>
            </a:r>
            <a:r>
              <a:rPr lang="en-US" sz="1400" kern="1000" spc="10" dirty="0"/>
              <a:t> </a:t>
            </a:r>
            <a:r>
              <a:rPr lang="en-US" sz="1400" kern="1000" spc="10" dirty="0" smtClean="0"/>
              <a:t>p</a:t>
            </a:r>
            <a:r>
              <a:rPr lang="ro-RO" sz="1400" kern="1000" spc="10" dirty="0" smtClean="0"/>
              <a:t>ă</a:t>
            </a:r>
            <a:r>
              <a:rPr lang="en-US" sz="1400" kern="1000" spc="10" dirty="0" err="1" smtClean="0"/>
              <a:t>streaz</a:t>
            </a:r>
            <a:r>
              <a:rPr lang="ro-RO" sz="1400" kern="1000" spc="10" dirty="0" smtClean="0"/>
              <a:t>ă</a:t>
            </a:r>
            <a:r>
              <a:rPr lang="en-US" sz="1400" kern="1000" spc="10" dirty="0" smtClean="0"/>
              <a:t> </a:t>
            </a:r>
            <a:r>
              <a:rPr lang="en-US" sz="1400" kern="1000" spc="10" dirty="0" err="1"/>
              <a:t>semantica</a:t>
            </a:r>
            <a:endParaRPr lang="en-US" sz="1400" kern="1000" spc="10" dirty="0"/>
          </a:p>
          <a:p>
            <a:pPr>
              <a:spcBef>
                <a:spcPts val="600"/>
              </a:spcBef>
            </a:pPr>
            <a:r>
              <a:rPr lang="en-US" sz="1400" b="1" kern="1000" spc="10" dirty="0" err="1">
                <a:solidFill>
                  <a:schemeClr val="tx1"/>
                </a:solidFill>
              </a:rPr>
              <a:t>Structurale</a:t>
            </a:r>
            <a:r>
              <a:rPr lang="en-US" sz="1400" b="1" kern="1000" spc="10" dirty="0">
                <a:solidFill>
                  <a:schemeClr val="tx1"/>
                </a:solidFill>
              </a:rPr>
              <a:t>:</a:t>
            </a:r>
            <a:endParaRPr lang="en-US" sz="1400" kern="1000" spc="10" dirty="0">
              <a:solidFill>
                <a:schemeClr val="tx1"/>
              </a:solidFill>
            </a:endParaRPr>
          </a:p>
          <a:p>
            <a:pPr>
              <a:spcBef>
                <a:spcPts val="600"/>
              </a:spcBef>
            </a:pPr>
            <a:r>
              <a:rPr lang="en-US" sz="1400" kern="1000" spc="10" dirty="0"/>
              <a:t>- </a:t>
            </a:r>
            <a:r>
              <a:rPr lang="en-US" sz="1400" kern="1000" spc="10" dirty="0" err="1"/>
              <a:t>Simplificarea</a:t>
            </a:r>
            <a:r>
              <a:rPr lang="en-US" sz="1400" kern="1000" spc="10" dirty="0"/>
              <a:t> </a:t>
            </a:r>
            <a:r>
              <a:rPr lang="en-US" sz="1400" kern="1000" spc="10" dirty="0" err="1"/>
              <a:t>este</a:t>
            </a:r>
            <a:r>
              <a:rPr lang="en-US" sz="1400" kern="1000" spc="10" dirty="0"/>
              <a:t> </a:t>
            </a:r>
            <a:r>
              <a:rPr lang="en-US" sz="1400" kern="1000" spc="10" dirty="0" smtClean="0"/>
              <a:t>idempotent</a:t>
            </a:r>
            <a:r>
              <a:rPr lang="ro-RO" sz="1400" kern="1000" spc="10" dirty="0" smtClean="0"/>
              <a:t>ă</a:t>
            </a:r>
            <a:r>
              <a:rPr lang="en-US" sz="1400" kern="1000" spc="10" dirty="0" smtClean="0"/>
              <a:t>:</a:t>
            </a:r>
            <a:r>
              <a:rPr lang="en-US" sz="1400" kern="1000" spc="10" dirty="0"/>
              <a:t> simplify(simplify(e)) == simplify(e)</a:t>
            </a:r>
            <a:br>
              <a:rPr lang="en-US" sz="1400" kern="1000" spc="10" dirty="0"/>
            </a:br>
            <a:r>
              <a:rPr lang="en-US" sz="1400" kern="1000" spc="10" dirty="0"/>
              <a:t>- </a:t>
            </a:r>
            <a:r>
              <a:rPr lang="en-US" sz="1400" kern="1000" spc="10" dirty="0" err="1"/>
              <a:t>Simplificarea</a:t>
            </a:r>
            <a:r>
              <a:rPr lang="en-US" sz="1400" kern="1000" spc="10" dirty="0"/>
              <a:t> nu </a:t>
            </a:r>
            <a:r>
              <a:rPr lang="en-US" sz="1400" kern="1000" spc="10" dirty="0" smtClean="0"/>
              <a:t>m</a:t>
            </a:r>
            <a:r>
              <a:rPr lang="ro-RO" sz="1400" kern="1000" spc="10" dirty="0" smtClean="0"/>
              <a:t>ă</a:t>
            </a:r>
            <a:r>
              <a:rPr lang="en-US" sz="1400" kern="1000" spc="10" dirty="0" smtClean="0"/>
              <a:t>re</a:t>
            </a:r>
            <a:r>
              <a:rPr lang="ro-RO" sz="1400" kern="1000" spc="10" dirty="0" smtClean="0"/>
              <a:t>ș</a:t>
            </a:r>
            <a:r>
              <a:rPr lang="en-US" sz="1400" kern="1000" spc="10" dirty="0" err="1" smtClean="0"/>
              <a:t>te</a:t>
            </a:r>
            <a:r>
              <a:rPr lang="en-US" sz="1400" kern="1000" spc="10" dirty="0" smtClean="0"/>
              <a:t> </a:t>
            </a:r>
            <a:r>
              <a:rPr lang="en-US" sz="1400" kern="1000" spc="10" dirty="0" err="1"/>
              <a:t>dimensiunea</a:t>
            </a:r>
            <a:r>
              <a:rPr lang="en-US" sz="1400" kern="1000" spc="10" dirty="0"/>
              <a:t> / </a:t>
            </a:r>
            <a:r>
              <a:rPr lang="en-US" sz="1400" kern="1000" spc="10" dirty="0" smtClean="0"/>
              <a:t>ad</a:t>
            </a:r>
            <a:r>
              <a:rPr lang="ro-RO" sz="1400" kern="1000" spc="10" dirty="0" smtClean="0"/>
              <a:t>â</a:t>
            </a:r>
            <a:r>
              <a:rPr lang="en-US" sz="1400" kern="1000" spc="10" dirty="0" err="1" smtClean="0"/>
              <a:t>ncimea</a:t>
            </a:r>
            <a:r>
              <a:rPr lang="en-US" sz="1400" kern="1000" spc="10" dirty="0" smtClean="0"/>
              <a:t> </a:t>
            </a:r>
            <a:r>
              <a:rPr lang="en-US" sz="1400" kern="1000" spc="10" dirty="0"/>
              <a:t>/ </a:t>
            </a:r>
            <a:r>
              <a:rPr lang="en-US" sz="1400" kern="1000" spc="10" dirty="0" err="1" smtClean="0"/>
              <a:t>num</a:t>
            </a:r>
            <a:r>
              <a:rPr lang="ro-RO" sz="1400" kern="1000" spc="10" dirty="0" smtClean="0"/>
              <a:t>ă</a:t>
            </a:r>
            <a:r>
              <a:rPr lang="en-US" sz="1400" kern="1000" spc="10" dirty="0" err="1" smtClean="0"/>
              <a:t>rul</a:t>
            </a:r>
            <a:r>
              <a:rPr lang="en-US" sz="1400" kern="1000" spc="10" dirty="0" smtClean="0"/>
              <a:t> </a:t>
            </a:r>
            <a:r>
              <a:rPr lang="en-US" sz="1400" kern="1000" spc="10" dirty="0"/>
              <a:t>de </a:t>
            </a:r>
            <a:r>
              <a:rPr lang="en-US" sz="1400" kern="1000" spc="10" dirty="0" err="1"/>
              <a:t>operatori</a:t>
            </a:r>
            <a:endParaRPr lang="en-US" sz="1400" kern="1000" spc="10" dirty="0"/>
          </a:p>
          <a:p>
            <a:pPr>
              <a:spcBef>
                <a:spcPts val="600"/>
              </a:spcBef>
            </a:pPr>
            <a:r>
              <a:rPr lang="en-US" sz="1400" b="1" kern="1000" spc="10" dirty="0" err="1">
                <a:solidFill>
                  <a:schemeClr val="tx1"/>
                </a:solidFill>
              </a:rPr>
              <a:t>Algebrice</a:t>
            </a:r>
            <a:r>
              <a:rPr lang="en-US" sz="1400" b="1" kern="1000" spc="10" dirty="0">
                <a:solidFill>
                  <a:schemeClr val="tx1"/>
                </a:solidFill>
              </a:rPr>
              <a:t> — </a:t>
            </a:r>
            <a:r>
              <a:rPr lang="en-US" sz="1400" b="1" kern="1000" spc="10" dirty="0" err="1">
                <a:solidFill>
                  <a:schemeClr val="tx1"/>
                </a:solidFill>
              </a:rPr>
              <a:t>comutativitate</a:t>
            </a:r>
            <a:r>
              <a:rPr lang="en-US" sz="1400" b="1" kern="1000" spc="10" dirty="0">
                <a:solidFill>
                  <a:schemeClr val="tx1"/>
                </a:solidFill>
              </a:rPr>
              <a:t> </a:t>
            </a:r>
            <a:r>
              <a:rPr lang="ro-RO" sz="1400" b="1" kern="1000" spc="10" dirty="0" err="1">
                <a:solidFill>
                  <a:schemeClr val="tx1"/>
                </a:solidFill>
              </a:rPr>
              <a:t>ș</a:t>
            </a:r>
            <a:r>
              <a:rPr lang="en-US" sz="1400" b="1" kern="1000" spc="10" dirty="0" smtClean="0">
                <a:solidFill>
                  <a:schemeClr val="tx1"/>
                </a:solidFill>
              </a:rPr>
              <a:t>i </a:t>
            </a:r>
            <a:r>
              <a:rPr lang="en-US" sz="1400" b="1" kern="1000" spc="10" dirty="0" err="1">
                <a:solidFill>
                  <a:schemeClr val="tx1"/>
                </a:solidFill>
              </a:rPr>
              <a:t>asociativitate</a:t>
            </a:r>
            <a:r>
              <a:rPr lang="en-US" sz="1400" b="1" kern="1000" spc="10" dirty="0">
                <a:solidFill>
                  <a:schemeClr val="tx1"/>
                </a:solidFill>
              </a:rPr>
              <a:t>:</a:t>
            </a:r>
            <a:endParaRPr lang="en-US" sz="1400" kern="1000" spc="10" dirty="0">
              <a:solidFill>
                <a:schemeClr val="tx1"/>
              </a:solidFill>
            </a:endParaRPr>
          </a:p>
          <a:p>
            <a:pPr>
              <a:spcBef>
                <a:spcPts val="600"/>
              </a:spcBef>
            </a:pPr>
            <a:r>
              <a:rPr lang="en-US" sz="1400" kern="1000" spc="10" dirty="0"/>
              <a:t>a + b ≡ b + a</a:t>
            </a:r>
          </a:p>
          <a:p>
            <a:pPr>
              <a:spcBef>
                <a:spcPts val="600"/>
              </a:spcBef>
            </a:pPr>
            <a:r>
              <a:rPr lang="en-US" sz="1400" kern="1000" spc="10" dirty="0"/>
              <a:t>a * b ≡ b * a</a:t>
            </a:r>
          </a:p>
          <a:p>
            <a:pPr>
              <a:spcBef>
                <a:spcPts val="600"/>
              </a:spcBef>
            </a:pPr>
            <a:r>
              <a:rPr lang="en-US" sz="1400" kern="1000" spc="10" dirty="0"/>
              <a:t>(a + b) + c ≡ a + (b + c)</a:t>
            </a:r>
          </a:p>
          <a:p>
            <a:pPr>
              <a:spcBef>
                <a:spcPts val="600"/>
              </a:spcBef>
            </a:pPr>
            <a:r>
              <a:rPr lang="en-US" sz="1400" kern="1000" spc="10" dirty="0"/>
              <a:t>(a * b) * c ≡ a * (b * c)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="" xmlns:a16="http://schemas.microsoft.com/office/drawing/2014/main" id="{73C5F9BF-9E45-7174-B44C-B1278054712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it-IT" sz="1200" b="1" dirty="0">
                <a:solidFill>
                  <a:schemeClr val="tx1"/>
                </a:solidFill>
              </a:rPr>
              <a:t>Elemente neutre </a:t>
            </a:r>
            <a:r>
              <a:rPr lang="ro-RO" sz="1200" b="1" dirty="0" smtClean="0">
                <a:solidFill>
                  <a:schemeClr val="tx1"/>
                </a:solidFill>
              </a:rPr>
              <a:t>ș</a:t>
            </a:r>
            <a:r>
              <a:rPr lang="it-IT" sz="1200" b="1" dirty="0" smtClean="0">
                <a:solidFill>
                  <a:schemeClr val="tx1"/>
                </a:solidFill>
              </a:rPr>
              <a:t>i </a:t>
            </a:r>
            <a:r>
              <a:rPr lang="it-IT" sz="1200" b="1" dirty="0">
                <a:solidFill>
                  <a:schemeClr val="tx1"/>
                </a:solidFill>
              </a:rPr>
              <a:t>absorbante:</a:t>
            </a:r>
            <a:endParaRPr lang="it-IT" sz="1200" dirty="0">
              <a:solidFill>
                <a:schemeClr val="tx1"/>
              </a:solidFill>
            </a:endParaRPr>
          </a:p>
          <a:p>
            <a:r>
              <a:rPr lang="it-IT" sz="1200" dirty="0"/>
              <a:t>e + 0 ≡ e</a:t>
            </a:r>
          </a:p>
          <a:p>
            <a:r>
              <a:rPr lang="it-IT" sz="1200" dirty="0"/>
              <a:t>e * 1 ≡ e</a:t>
            </a:r>
          </a:p>
          <a:p>
            <a:r>
              <a:rPr lang="it-IT" sz="1200" dirty="0"/>
              <a:t>e * 0 ≡ 0</a:t>
            </a:r>
          </a:p>
          <a:p>
            <a:r>
              <a:rPr lang="it-IT" sz="1200" b="1" dirty="0" smtClean="0">
                <a:solidFill>
                  <a:schemeClr val="tx1"/>
                </a:solidFill>
              </a:rPr>
              <a:t>Nega</a:t>
            </a:r>
            <a:r>
              <a:rPr lang="ro-RO" sz="1200" b="1" dirty="0" smtClean="0">
                <a:solidFill>
                  <a:schemeClr val="tx1"/>
                </a:solidFill>
              </a:rPr>
              <a:t>ț</a:t>
            </a:r>
            <a:r>
              <a:rPr lang="it-IT" sz="1200" b="1" dirty="0" smtClean="0">
                <a:solidFill>
                  <a:schemeClr val="tx1"/>
                </a:solidFill>
              </a:rPr>
              <a:t>ie</a:t>
            </a:r>
            <a:r>
              <a:rPr lang="it-IT" sz="1200" b="1" dirty="0">
                <a:solidFill>
                  <a:schemeClr val="tx1"/>
                </a:solidFill>
              </a:rPr>
              <a:t>, </a:t>
            </a:r>
            <a:r>
              <a:rPr lang="it-IT" sz="1200" b="1" dirty="0" smtClean="0">
                <a:solidFill>
                  <a:schemeClr val="tx1"/>
                </a:solidFill>
              </a:rPr>
              <a:t>sc</a:t>
            </a:r>
            <a:r>
              <a:rPr lang="ro-RO" sz="1200" b="1" dirty="0" smtClean="0">
                <a:solidFill>
                  <a:schemeClr val="tx1"/>
                </a:solidFill>
              </a:rPr>
              <a:t>ă</a:t>
            </a:r>
            <a:r>
              <a:rPr lang="it-IT" sz="1200" b="1" dirty="0" smtClean="0">
                <a:solidFill>
                  <a:schemeClr val="tx1"/>
                </a:solidFill>
              </a:rPr>
              <a:t>dere</a:t>
            </a:r>
            <a:r>
              <a:rPr lang="it-IT" sz="1200" b="1" dirty="0">
                <a:solidFill>
                  <a:schemeClr val="tx1"/>
                </a:solidFill>
              </a:rPr>
              <a:t>, </a:t>
            </a:r>
            <a:r>
              <a:rPr lang="it-IT" sz="1200" b="1" dirty="0" smtClean="0">
                <a:solidFill>
                  <a:schemeClr val="tx1"/>
                </a:solidFill>
              </a:rPr>
              <a:t>substitu</a:t>
            </a:r>
            <a:r>
              <a:rPr lang="ro-RO" sz="1200" b="1" dirty="0" smtClean="0">
                <a:solidFill>
                  <a:schemeClr val="tx1"/>
                </a:solidFill>
              </a:rPr>
              <a:t>ț</a:t>
            </a:r>
            <a:r>
              <a:rPr lang="it-IT" sz="1200" b="1" dirty="0" smtClean="0">
                <a:solidFill>
                  <a:schemeClr val="tx1"/>
                </a:solidFill>
              </a:rPr>
              <a:t>ie</a:t>
            </a:r>
            <a:r>
              <a:rPr lang="it-IT" sz="1200" b="1" dirty="0">
                <a:solidFill>
                  <a:schemeClr val="tx1"/>
                </a:solidFill>
              </a:rPr>
              <a:t>:</a:t>
            </a:r>
            <a:endParaRPr lang="it-IT" sz="1200" dirty="0">
              <a:solidFill>
                <a:schemeClr val="tx1"/>
              </a:solidFill>
            </a:endParaRPr>
          </a:p>
          <a:p>
            <a:r>
              <a:rPr lang="it-IT" sz="1200" dirty="0"/>
              <a:t>e - e ≡ 0</a:t>
            </a:r>
          </a:p>
          <a:p>
            <a:r>
              <a:rPr lang="it-IT" sz="1200" dirty="0"/>
              <a:t>--e ≡ e</a:t>
            </a:r>
          </a:p>
          <a:p>
            <a:r>
              <a:rPr lang="it-IT" sz="1200" dirty="0" smtClean="0"/>
              <a:t>Substitu</a:t>
            </a:r>
            <a:r>
              <a:rPr lang="ro-RO" sz="1200" dirty="0" smtClean="0"/>
              <a:t>ț</a:t>
            </a:r>
            <a:r>
              <a:rPr lang="it-IT" sz="1200" dirty="0" smtClean="0"/>
              <a:t>ia p</a:t>
            </a:r>
            <a:r>
              <a:rPr lang="ro-RO" sz="1200" dirty="0" smtClean="0"/>
              <a:t>ă</a:t>
            </a:r>
            <a:r>
              <a:rPr lang="it-IT" sz="1200" dirty="0" smtClean="0"/>
              <a:t>streaz</a:t>
            </a:r>
            <a:r>
              <a:rPr lang="ro-RO" sz="1200" dirty="0" smtClean="0"/>
              <a:t>ă</a:t>
            </a:r>
            <a:r>
              <a:rPr lang="it-IT" sz="1200" dirty="0" smtClean="0"/>
              <a:t> </a:t>
            </a:r>
            <a:r>
              <a:rPr lang="it-IT" sz="1200" dirty="0"/>
              <a:t>semantica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400"/>
              <a:t>Output real cu classify</a:t>
            </a:r>
          </a:p>
        </p:txBody>
      </p:sp>
      <p:sp>
        <p:nvSpPr>
          <p:cNvPr id="6" name="Rounded Rectangle 2"/>
          <p:cNvSpPr/>
          <p:nvPr/>
        </p:nvSpPr>
        <p:spPr>
          <a:xfrm>
            <a:off x="1127760" y="2052229"/>
            <a:ext cx="10058400" cy="3246120"/>
          </a:xfrm>
          <a:prstGeom prst="roundRect">
            <a:avLst/>
          </a:prstGeom>
          <a:solidFill>
            <a:srgbClr val="1E1E1E"/>
          </a:solidFill>
          <a:ln w="15240">
            <a:solidFill>
              <a:srgbClr val="2D2D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92352" y="2161957"/>
            <a:ext cx="9729216" cy="22929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b="1" i="0" dirty="0">
                <a:solidFill>
                  <a:srgbClr val="4EC9B0"/>
                </a:solidFill>
                <a:latin typeface="Consolas"/>
              </a:rPr>
              <a:t>Terminal output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 dirty="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 dirty="0">
                <a:solidFill>
                  <a:srgbClr val="D4D4D4"/>
                </a:solidFill>
                <a:latin typeface="Consolas"/>
              </a:rPr>
              <a:t>+++ OK, passed 120 tests: simplify preserves meaning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 dirty="0">
                <a:solidFill>
                  <a:srgbClr val="6A9955"/>
                </a:solidFill>
                <a:latin typeface="Consolas"/>
              </a:rPr>
              <a:t>62.5% cu </a:t>
            </a:r>
            <a:r>
              <a:rPr sz="1600" b="0" i="0" dirty="0" err="1">
                <a:solidFill>
                  <a:srgbClr val="6A9955"/>
                </a:solidFill>
                <a:latin typeface="Consolas"/>
              </a:rPr>
              <a:t>variabile</a:t>
            </a:r>
            <a:r>
              <a:rPr sz="1600" b="0" i="0" dirty="0">
                <a:solidFill>
                  <a:srgbClr val="6A9955"/>
                </a:solidFill>
                <a:latin typeface="Consolas"/>
              </a:rPr>
              <a:t> | 37.5% </a:t>
            </a:r>
            <a:r>
              <a:rPr sz="1600" b="0" i="0" dirty="0" err="1">
                <a:solidFill>
                  <a:srgbClr val="6A9955"/>
                </a:solidFill>
                <a:latin typeface="Consolas"/>
              </a:rPr>
              <a:t>fara</a:t>
            </a:r>
            <a:r>
              <a:rPr sz="1600" b="0" i="0" dirty="0">
                <a:solidFill>
                  <a:srgbClr val="6A9955"/>
                </a:solidFill>
                <a:latin typeface="Consolas"/>
              </a:rPr>
              <a:t> </a:t>
            </a:r>
            <a:r>
              <a:rPr sz="1600" b="0" i="0" dirty="0" err="1">
                <a:solidFill>
                  <a:srgbClr val="6A9955"/>
                </a:solidFill>
                <a:latin typeface="Consolas"/>
              </a:rPr>
              <a:t>variabile</a:t>
            </a:r>
            <a:r>
              <a:rPr sz="1600" b="0" i="0" dirty="0">
                <a:solidFill>
                  <a:srgbClr val="6A9955"/>
                </a:solidFill>
                <a:latin typeface="Consolas"/>
              </a:rPr>
              <a:t> | 30.0% </a:t>
            </a:r>
            <a:r>
              <a:rPr sz="1600" b="0" i="0" dirty="0" err="1">
                <a:solidFill>
                  <a:srgbClr val="6A9955"/>
                </a:solidFill>
                <a:latin typeface="Consolas"/>
              </a:rPr>
              <a:t>expresii</a:t>
            </a:r>
            <a:r>
              <a:rPr sz="1600" b="0" i="0" dirty="0">
                <a:solidFill>
                  <a:srgbClr val="6A9955"/>
                </a:solidFill>
                <a:latin typeface="Consolas"/>
              </a:rPr>
              <a:t> </a:t>
            </a:r>
            <a:r>
              <a:rPr sz="1600" b="0" i="0" dirty="0" err="1">
                <a:solidFill>
                  <a:srgbClr val="6A9955"/>
                </a:solidFill>
                <a:latin typeface="Consolas"/>
              </a:rPr>
              <a:t>mari</a:t>
            </a:r>
            <a:endParaRPr sz="1600" b="0" i="0" dirty="0">
              <a:solidFill>
                <a:srgbClr val="6A9955"/>
              </a:solidFill>
              <a:latin typeface="Consolas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 dirty="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 dirty="0">
                <a:solidFill>
                  <a:srgbClr val="D4D4D4"/>
                </a:solidFill>
                <a:latin typeface="Consolas"/>
              </a:rPr>
              <a:t>+++ OK, passed 120 tests: add commutative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 dirty="0">
                <a:solidFill>
                  <a:srgbClr val="6A9955"/>
                </a:solidFill>
                <a:latin typeface="Consolas"/>
              </a:rPr>
              <a:t>57.5% </a:t>
            </a:r>
            <a:r>
              <a:rPr sz="1600" b="0" i="0" dirty="0" err="1">
                <a:solidFill>
                  <a:srgbClr val="6A9955"/>
                </a:solidFill>
                <a:latin typeface="Consolas"/>
              </a:rPr>
              <a:t>expresii</a:t>
            </a:r>
            <a:r>
              <a:rPr sz="1600" b="0" i="0" dirty="0">
                <a:solidFill>
                  <a:srgbClr val="6A9955"/>
                </a:solidFill>
                <a:latin typeface="Consolas"/>
              </a:rPr>
              <a:t> </a:t>
            </a:r>
            <a:r>
              <a:rPr sz="1600" b="0" i="0" dirty="0" err="1">
                <a:solidFill>
                  <a:srgbClr val="6A9955"/>
                </a:solidFill>
                <a:latin typeface="Consolas"/>
              </a:rPr>
              <a:t>mari</a:t>
            </a:r>
            <a:r>
              <a:rPr sz="1600" b="0" i="0" dirty="0">
                <a:solidFill>
                  <a:srgbClr val="6A9955"/>
                </a:solidFill>
                <a:latin typeface="Consolas"/>
              </a:rPr>
              <a:t> | 17.5% </a:t>
            </a:r>
            <a:r>
              <a:rPr sz="1600" b="0" i="0" dirty="0" err="1">
                <a:solidFill>
                  <a:srgbClr val="6A9955"/>
                </a:solidFill>
                <a:latin typeface="Consolas"/>
              </a:rPr>
              <a:t>expresii</a:t>
            </a:r>
            <a:r>
              <a:rPr sz="1600" b="0" i="0" dirty="0">
                <a:solidFill>
                  <a:srgbClr val="6A9955"/>
                </a:solidFill>
                <a:latin typeface="Consolas"/>
              </a:rPr>
              <a:t> </a:t>
            </a:r>
            <a:r>
              <a:rPr sz="1600" b="0" i="0" dirty="0" err="1">
                <a:solidFill>
                  <a:srgbClr val="6A9955"/>
                </a:solidFill>
                <a:latin typeface="Consolas"/>
              </a:rPr>
              <a:t>mici</a:t>
            </a:r>
            <a:endParaRPr sz="1600" b="0" i="0" dirty="0">
              <a:solidFill>
                <a:srgbClr val="6A9955"/>
              </a:solidFill>
              <a:latin typeface="Consolas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 dirty="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 dirty="0">
                <a:solidFill>
                  <a:srgbClr val="D4D4D4"/>
                </a:solidFill>
                <a:latin typeface="Consolas"/>
              </a:rPr>
              <a:t>+++ OK, passed 120 tests: </a:t>
            </a:r>
            <a:r>
              <a:rPr sz="1600" b="0" i="0" dirty="0" err="1">
                <a:solidFill>
                  <a:srgbClr val="D4D4D4"/>
                </a:solidFill>
                <a:latin typeface="Consolas"/>
              </a:rPr>
              <a:t>mul</a:t>
            </a:r>
            <a:r>
              <a:rPr sz="1600" b="0" i="0" dirty="0">
                <a:solidFill>
                  <a:srgbClr val="D4D4D4"/>
                </a:solidFill>
                <a:latin typeface="Consolas"/>
              </a:rPr>
              <a:t> zero absorbing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 dirty="0">
                <a:solidFill>
                  <a:srgbClr val="6A9955"/>
                </a:solidFill>
                <a:latin typeface="Consolas"/>
              </a:rPr>
              <a:t>65.8% cu </a:t>
            </a:r>
            <a:r>
              <a:rPr sz="1600" b="0" i="0" dirty="0" err="1">
                <a:solidFill>
                  <a:srgbClr val="6A9955"/>
                </a:solidFill>
                <a:latin typeface="Consolas"/>
              </a:rPr>
              <a:t>variabile</a:t>
            </a:r>
            <a:r>
              <a:rPr sz="1600" b="0" i="0" dirty="0">
                <a:solidFill>
                  <a:srgbClr val="6A9955"/>
                </a:solidFill>
                <a:latin typeface="Consolas"/>
              </a:rPr>
              <a:t> | 34.2% </a:t>
            </a:r>
            <a:r>
              <a:rPr sz="1600" b="0" i="0" dirty="0" err="1">
                <a:solidFill>
                  <a:srgbClr val="6A9955"/>
                </a:solidFill>
                <a:latin typeface="Consolas"/>
              </a:rPr>
              <a:t>fara</a:t>
            </a:r>
            <a:r>
              <a:rPr sz="1600" b="0" i="0" dirty="0">
                <a:solidFill>
                  <a:srgbClr val="6A9955"/>
                </a:solidFill>
                <a:latin typeface="Consolas"/>
              </a:rPr>
              <a:t> </a:t>
            </a:r>
            <a:r>
              <a:rPr sz="1600" b="0" i="0" dirty="0" err="1">
                <a:solidFill>
                  <a:srgbClr val="6A9955"/>
                </a:solidFill>
                <a:latin typeface="Consolas"/>
              </a:rPr>
              <a:t>variabile</a:t>
            </a:r>
            <a:endParaRPr sz="1600" b="0" i="0" dirty="0">
              <a:solidFill>
                <a:srgbClr val="6A9955"/>
              </a:solidFill>
              <a:latin typeface="Consola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097280" y="5408077"/>
            <a:ext cx="10058400" cy="815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i="0" dirty="0">
                <a:solidFill>
                  <a:srgbClr val="2F3338"/>
                </a:solidFill>
                <a:latin typeface="Segoe UI"/>
              </a:rPr>
              <a:t>classify </a:t>
            </a:r>
            <a:r>
              <a:rPr sz="1700" b="1" i="0" dirty="0" err="1">
                <a:solidFill>
                  <a:srgbClr val="2F3338"/>
                </a:solidFill>
                <a:latin typeface="Segoe UI"/>
              </a:rPr>
              <a:t>confirma</a:t>
            </a:r>
            <a:r>
              <a:rPr sz="1700" b="1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700" b="1" i="0" dirty="0" err="1" smtClean="0">
                <a:solidFill>
                  <a:srgbClr val="2F3338"/>
                </a:solidFill>
                <a:latin typeface="Segoe UI"/>
              </a:rPr>
              <a:t>distribu</a:t>
            </a:r>
            <a:r>
              <a:rPr lang="ro-RO" sz="1700" b="1" i="0" dirty="0" smtClean="0">
                <a:solidFill>
                  <a:srgbClr val="2F3338"/>
                </a:solidFill>
                <a:latin typeface="Segoe UI"/>
              </a:rPr>
              <a:t>ț</a:t>
            </a:r>
            <a:r>
              <a:rPr sz="1700" b="1" i="0" dirty="0" err="1" smtClean="0">
                <a:solidFill>
                  <a:srgbClr val="2F3338"/>
                </a:solidFill>
                <a:latin typeface="Segoe UI"/>
              </a:rPr>
              <a:t>ie</a:t>
            </a:r>
            <a:r>
              <a:rPr sz="1700" b="1" i="0" dirty="0" smtClean="0">
                <a:solidFill>
                  <a:srgbClr val="2F3338"/>
                </a:solidFill>
                <a:latin typeface="Segoe UI"/>
              </a:rPr>
              <a:t> </a:t>
            </a:r>
            <a:r>
              <a:rPr sz="1700" b="1" i="0" dirty="0" err="1" smtClean="0">
                <a:solidFill>
                  <a:srgbClr val="2F3338"/>
                </a:solidFill>
                <a:latin typeface="Segoe UI"/>
              </a:rPr>
              <a:t>echilibrat</a:t>
            </a:r>
            <a:r>
              <a:rPr lang="ro-RO" sz="1700" b="1" i="0" dirty="0" smtClean="0">
                <a:solidFill>
                  <a:srgbClr val="2F3338"/>
                </a:solidFill>
                <a:latin typeface="Segoe UI"/>
              </a:rPr>
              <a:t>ă</a:t>
            </a:r>
            <a:r>
              <a:rPr sz="1700" b="1" i="0" dirty="0" smtClean="0">
                <a:solidFill>
                  <a:srgbClr val="2F3338"/>
                </a:solidFill>
                <a:latin typeface="Segoe UI"/>
              </a:rPr>
              <a:t>:</a:t>
            </a:r>
            <a:endParaRPr sz="1700" b="1" i="0" dirty="0">
              <a:solidFill>
                <a:srgbClr val="2F3338"/>
              </a:solidFill>
              <a:latin typeface="Segoe UI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 dirty="0">
                <a:solidFill>
                  <a:srgbClr val="2F3338"/>
                </a:solidFill>
                <a:latin typeface="Segoe UI"/>
              </a:rPr>
              <a:t>- 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avem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expresii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mici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lang="ro-RO" sz="1500" dirty="0" err="1">
                <a:solidFill>
                  <a:srgbClr val="2F3338"/>
                </a:solidFill>
                <a:latin typeface="Segoe UI"/>
              </a:rPr>
              <a:t>ș</a:t>
            </a:r>
            <a:r>
              <a:rPr sz="1500" b="0" i="0" dirty="0" smtClean="0">
                <a:solidFill>
                  <a:srgbClr val="2F3338"/>
                </a:solidFill>
                <a:latin typeface="Segoe UI"/>
              </a:rPr>
              <a:t>i 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mari</a:t>
            </a:r>
            <a:endParaRPr sz="1500" b="0" i="0" dirty="0">
              <a:solidFill>
                <a:srgbClr val="2F3338"/>
              </a:solidFill>
              <a:latin typeface="Segoe UI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 dirty="0">
                <a:solidFill>
                  <a:srgbClr val="2F3338"/>
                </a:solidFill>
                <a:latin typeface="Segoe UI"/>
              </a:rPr>
              <a:t>- 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avem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expresii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 cu 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variabile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si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500" b="0" i="0" dirty="0" smtClean="0">
                <a:solidFill>
                  <a:srgbClr val="2F3338"/>
                </a:solidFill>
                <a:latin typeface="Segoe UI"/>
              </a:rPr>
              <a:t>f</a:t>
            </a:r>
            <a:r>
              <a:rPr lang="ro-RO" sz="1500" b="0" i="0" dirty="0" smtClean="0">
                <a:solidFill>
                  <a:srgbClr val="2F3338"/>
                </a:solidFill>
                <a:latin typeface="Segoe UI"/>
              </a:rPr>
              <a:t>ă</a:t>
            </a:r>
            <a:r>
              <a:rPr sz="1500" b="0" i="0" dirty="0" smtClean="0">
                <a:solidFill>
                  <a:srgbClr val="2F3338"/>
                </a:solidFill>
                <a:latin typeface="Segoe UI"/>
              </a:rPr>
              <a:t>r</a:t>
            </a:r>
            <a:r>
              <a:rPr lang="ro-RO" sz="1500" b="0" i="0" dirty="0" smtClean="0">
                <a:solidFill>
                  <a:srgbClr val="2F3338"/>
                </a:solidFill>
                <a:latin typeface="Segoe UI"/>
              </a:rPr>
              <a:t>ă</a:t>
            </a:r>
            <a:r>
              <a:rPr sz="1500" b="0" i="0" dirty="0" smtClean="0">
                <a:solidFill>
                  <a:srgbClr val="2F3338"/>
                </a:solidFill>
                <a:latin typeface="Segoe UI"/>
              </a:rPr>
              <a:t> 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variabile</a:t>
            </a:r>
            <a:endParaRPr sz="1500" b="0" i="0" dirty="0">
              <a:solidFill>
                <a:srgbClr val="2F3338"/>
              </a:solidFill>
              <a:latin typeface="Segoe U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400" dirty="0" err="1"/>
              <a:t>Analiza</a:t>
            </a:r>
            <a:r>
              <a:rPr sz="3400" dirty="0"/>
              <a:t>: </a:t>
            </a:r>
            <a:r>
              <a:rPr sz="3400" dirty="0" err="1" smtClean="0"/>
              <a:t>eficien</a:t>
            </a:r>
            <a:r>
              <a:rPr lang="ro-RO" sz="3400" dirty="0" smtClean="0"/>
              <a:t>ț</a:t>
            </a:r>
            <a:r>
              <a:rPr sz="3400" dirty="0" smtClean="0"/>
              <a:t>a </a:t>
            </a:r>
            <a:r>
              <a:rPr sz="3400" dirty="0" err="1"/>
              <a:t>metodei</a:t>
            </a:r>
            <a:endParaRPr sz="34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2400" dirty="0" err="1"/>
              <a:t>Avantaje</a:t>
            </a:r>
            <a:r>
              <a:rPr sz="2400" dirty="0"/>
              <a:t> </a:t>
            </a:r>
            <a:r>
              <a:rPr sz="2400" dirty="0" err="1"/>
              <a:t>observate</a:t>
            </a:r>
            <a:endParaRPr sz="2400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sz="1800" dirty="0"/>
              <a:t>120 de </a:t>
            </a:r>
            <a:r>
              <a:rPr sz="1800" dirty="0" err="1"/>
              <a:t>cazuri</a:t>
            </a:r>
            <a:r>
              <a:rPr sz="1800" dirty="0"/>
              <a:t> per </a:t>
            </a:r>
            <a:r>
              <a:rPr sz="1800" dirty="0" err="1"/>
              <a:t>proprietate</a:t>
            </a:r>
            <a:r>
              <a:rPr sz="1800" dirty="0"/>
              <a:t>, generate automat</a:t>
            </a:r>
          </a:p>
          <a:p>
            <a:r>
              <a:rPr sz="1800" dirty="0" err="1"/>
              <a:t>Contraexemplele</a:t>
            </a:r>
            <a:r>
              <a:rPr sz="1800" dirty="0"/>
              <a:t> </a:t>
            </a:r>
            <a:r>
              <a:rPr sz="1800" dirty="0" err="1"/>
              <a:t>sunt</a:t>
            </a:r>
            <a:r>
              <a:rPr sz="1800" dirty="0"/>
              <a:t> </a:t>
            </a:r>
            <a:r>
              <a:rPr sz="1800" dirty="0" err="1"/>
              <a:t>reduse</a:t>
            </a:r>
            <a:r>
              <a:rPr sz="1800" dirty="0"/>
              <a:t> la forma </a:t>
            </a:r>
            <a:r>
              <a:rPr sz="1800" dirty="0" smtClean="0"/>
              <a:t>minim</a:t>
            </a:r>
            <a:r>
              <a:rPr lang="ro-RO" sz="1800" dirty="0" smtClean="0"/>
              <a:t>ă</a:t>
            </a:r>
            <a:endParaRPr sz="1800" dirty="0"/>
          </a:p>
          <a:p>
            <a:r>
              <a:rPr sz="1800" dirty="0" err="1" smtClean="0"/>
              <a:t>Propriet</a:t>
            </a:r>
            <a:r>
              <a:rPr lang="ro-RO" sz="1800" dirty="0" smtClean="0"/>
              <a:t>ăț</a:t>
            </a:r>
            <a:r>
              <a:rPr sz="1800" dirty="0" err="1" smtClean="0"/>
              <a:t>ile</a:t>
            </a:r>
            <a:r>
              <a:rPr sz="1800" dirty="0" smtClean="0"/>
              <a:t> </a:t>
            </a:r>
            <a:r>
              <a:rPr sz="1800" dirty="0" err="1"/>
              <a:t>servesc</a:t>
            </a:r>
            <a:r>
              <a:rPr sz="1800" dirty="0"/>
              <a:t> </a:t>
            </a:r>
            <a:r>
              <a:rPr sz="1800" dirty="0" err="1"/>
              <a:t>drept</a:t>
            </a:r>
            <a:r>
              <a:rPr sz="1800" dirty="0"/>
              <a:t> </a:t>
            </a:r>
            <a:r>
              <a:rPr sz="1800" dirty="0" err="1" smtClean="0"/>
              <a:t>documenta</a:t>
            </a:r>
            <a:r>
              <a:rPr lang="ro-RO" sz="1800" dirty="0" smtClean="0"/>
              <a:t>ț</a:t>
            </a:r>
            <a:r>
              <a:rPr sz="1800" dirty="0" err="1" smtClean="0"/>
              <a:t>ie</a:t>
            </a:r>
            <a:r>
              <a:rPr sz="1800" dirty="0" smtClean="0"/>
              <a:t> </a:t>
            </a:r>
            <a:r>
              <a:rPr sz="1800" dirty="0" err="1" smtClean="0"/>
              <a:t>executabil</a:t>
            </a:r>
            <a:r>
              <a:rPr lang="ro-RO" sz="1800" dirty="0" smtClean="0"/>
              <a:t>ă</a:t>
            </a:r>
            <a:endParaRPr sz="1800" dirty="0"/>
          </a:p>
          <a:p>
            <a:r>
              <a:rPr sz="1800" dirty="0"/>
              <a:t>classify </a:t>
            </a:r>
            <a:r>
              <a:rPr sz="1800" dirty="0" err="1" smtClean="0"/>
              <a:t>ofer</a:t>
            </a:r>
            <a:r>
              <a:rPr lang="ro-RO" sz="1800" dirty="0" smtClean="0"/>
              <a:t>ă</a:t>
            </a:r>
            <a:r>
              <a:rPr sz="1800" dirty="0" smtClean="0"/>
              <a:t> </a:t>
            </a:r>
            <a:r>
              <a:rPr sz="1800" dirty="0" err="1"/>
              <a:t>vizibilitate</a:t>
            </a:r>
            <a:r>
              <a:rPr sz="1800" dirty="0"/>
              <a:t> </a:t>
            </a:r>
            <a:r>
              <a:rPr sz="1800" dirty="0" err="1"/>
              <a:t>asupra</a:t>
            </a:r>
            <a:r>
              <a:rPr sz="1800" dirty="0"/>
              <a:t> </a:t>
            </a:r>
            <a:r>
              <a:rPr sz="1800" dirty="0" err="1" smtClean="0"/>
              <a:t>distribu</a:t>
            </a:r>
            <a:r>
              <a:rPr lang="ro-RO" sz="1800" dirty="0" smtClean="0"/>
              <a:t>ț</a:t>
            </a:r>
            <a:r>
              <a:rPr sz="1800" dirty="0" err="1" smtClean="0"/>
              <a:t>iei</a:t>
            </a:r>
            <a:r>
              <a:rPr sz="1800" dirty="0" smtClean="0"/>
              <a:t> </a:t>
            </a:r>
            <a:r>
              <a:rPr sz="1800" dirty="0" err="1"/>
              <a:t>testelor</a:t>
            </a:r>
            <a:endParaRPr sz="1800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2400" dirty="0" smtClean="0"/>
              <a:t>Limit</a:t>
            </a:r>
            <a:r>
              <a:rPr lang="ro-RO" sz="2400" dirty="0" smtClean="0"/>
              <a:t>ă</a:t>
            </a:r>
            <a:r>
              <a:rPr sz="2400" dirty="0" err="1" smtClean="0"/>
              <a:t>ri</a:t>
            </a:r>
            <a:r>
              <a:rPr sz="2400" dirty="0" smtClean="0"/>
              <a:t> </a:t>
            </a:r>
            <a:r>
              <a:rPr sz="2400" dirty="0" err="1"/>
              <a:t>observate</a:t>
            </a:r>
            <a:endParaRPr sz="2400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sz="1800" dirty="0" err="1" smtClean="0"/>
              <a:t>Propriet</a:t>
            </a:r>
            <a:r>
              <a:rPr lang="ro-RO" sz="1800" dirty="0" smtClean="0"/>
              <a:t>ăț</a:t>
            </a:r>
            <a:r>
              <a:rPr sz="1800" dirty="0" err="1" smtClean="0"/>
              <a:t>ile</a:t>
            </a:r>
            <a:r>
              <a:rPr sz="1800" dirty="0" smtClean="0"/>
              <a:t> </a:t>
            </a:r>
            <a:r>
              <a:rPr sz="1800" dirty="0" err="1"/>
              <a:t>trebuie</a:t>
            </a:r>
            <a:r>
              <a:rPr sz="1800" dirty="0"/>
              <a:t> formulate </a:t>
            </a:r>
            <a:r>
              <a:rPr sz="1800" dirty="0" err="1"/>
              <a:t>corect</a:t>
            </a:r>
            <a:endParaRPr sz="1800" dirty="0"/>
          </a:p>
          <a:p>
            <a:r>
              <a:rPr sz="1800" dirty="0"/>
              <a:t>Un generator prost </a:t>
            </a:r>
            <a:r>
              <a:rPr sz="1800" dirty="0" err="1" smtClean="0"/>
              <a:t>acoper</a:t>
            </a:r>
            <a:r>
              <a:rPr lang="ro-RO" sz="1800" dirty="0" smtClean="0"/>
              <a:t>ă</a:t>
            </a:r>
            <a:r>
              <a:rPr sz="1800" dirty="0" smtClean="0"/>
              <a:t> </a:t>
            </a:r>
            <a:r>
              <a:rPr sz="1800" dirty="0" err="1"/>
              <a:t>doar</a:t>
            </a:r>
            <a:r>
              <a:rPr sz="1800" dirty="0"/>
              <a:t> </a:t>
            </a:r>
            <a:r>
              <a:rPr sz="1800" dirty="0" err="1"/>
              <a:t>cazuri</a:t>
            </a:r>
            <a:r>
              <a:rPr sz="1800" dirty="0"/>
              <a:t> </a:t>
            </a:r>
            <a:r>
              <a:rPr sz="1800" dirty="0" err="1"/>
              <a:t>banale</a:t>
            </a:r>
            <a:endParaRPr sz="1800" dirty="0"/>
          </a:p>
          <a:p>
            <a:r>
              <a:rPr sz="1800" dirty="0"/>
              <a:t>Maybe introduce </a:t>
            </a:r>
            <a:r>
              <a:rPr sz="1800" dirty="0" err="1" smtClean="0"/>
              <a:t>evalu</a:t>
            </a:r>
            <a:r>
              <a:rPr lang="ro-RO" sz="1800" dirty="0" smtClean="0"/>
              <a:t>ă</a:t>
            </a:r>
            <a:r>
              <a:rPr sz="1800" dirty="0" err="1" smtClean="0"/>
              <a:t>ri</a:t>
            </a:r>
            <a:r>
              <a:rPr sz="1800" dirty="0" smtClean="0"/>
              <a:t> par</a:t>
            </a:r>
            <a:r>
              <a:rPr lang="ro-RO" sz="1800" dirty="0" smtClean="0"/>
              <a:t>ț</a:t>
            </a:r>
            <a:r>
              <a:rPr sz="1800" dirty="0" err="1" smtClean="0"/>
              <a:t>iale</a:t>
            </a:r>
            <a:r>
              <a:rPr sz="1800" dirty="0" smtClean="0"/>
              <a:t> </a:t>
            </a:r>
            <a:r>
              <a:rPr sz="1800" dirty="0"/>
              <a:t>(</a:t>
            </a:r>
            <a:r>
              <a:rPr sz="1800" dirty="0" err="1"/>
              <a:t>rezolvat</a:t>
            </a:r>
            <a:r>
              <a:rPr sz="1800" dirty="0"/>
              <a:t> cu </a:t>
            </a:r>
            <a:r>
              <a:rPr sz="1800" dirty="0" err="1"/>
              <a:t>genEnvFor</a:t>
            </a:r>
            <a:r>
              <a:rPr sz="1800" dirty="0"/>
              <a:t>)</a:t>
            </a:r>
          </a:p>
          <a:p>
            <a:r>
              <a:rPr sz="1800" dirty="0" err="1"/>
              <a:t>QuickCheck</a:t>
            </a:r>
            <a:r>
              <a:rPr sz="1800" dirty="0"/>
              <a:t> </a:t>
            </a:r>
            <a:r>
              <a:rPr sz="1800" dirty="0" err="1" smtClean="0"/>
              <a:t>completea</a:t>
            </a:r>
            <a:r>
              <a:rPr lang="ro-RO" sz="1800" dirty="0" smtClean="0"/>
              <a:t>ză</a:t>
            </a:r>
            <a:r>
              <a:rPr sz="1800" dirty="0" smtClean="0"/>
              <a:t>, </a:t>
            </a:r>
            <a:r>
              <a:rPr sz="1800" dirty="0"/>
              <a:t>nu </a:t>
            </a:r>
            <a:r>
              <a:rPr lang="ro-RO" sz="1800" dirty="0"/>
              <a:t>î</a:t>
            </a:r>
            <a:r>
              <a:rPr sz="1800" dirty="0" err="1" smtClean="0"/>
              <a:t>nlocuie</a:t>
            </a:r>
            <a:r>
              <a:rPr lang="ro-RO" sz="1800" dirty="0" smtClean="0"/>
              <a:t>ș</a:t>
            </a:r>
            <a:r>
              <a:rPr sz="1800" dirty="0" err="1" smtClean="0"/>
              <a:t>te</a:t>
            </a:r>
            <a:r>
              <a:rPr sz="1800" dirty="0" smtClean="0"/>
              <a:t> </a:t>
            </a:r>
            <a:r>
              <a:rPr sz="1800" dirty="0" err="1" smtClean="0"/>
              <a:t>demonstra</a:t>
            </a:r>
            <a:r>
              <a:rPr lang="ro-RO" sz="1800" dirty="0" smtClean="0"/>
              <a:t>ț</a:t>
            </a:r>
            <a:r>
              <a:rPr sz="1800" dirty="0" err="1" smtClean="0"/>
              <a:t>ia</a:t>
            </a:r>
            <a:r>
              <a:rPr sz="1800" dirty="0" smtClean="0"/>
              <a:t> formal</a:t>
            </a:r>
            <a:r>
              <a:rPr lang="ro-RO" sz="1800" dirty="0" smtClean="0"/>
              <a:t>ă</a:t>
            </a:r>
            <a:endParaRPr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500" b="1" dirty="0" err="1">
                <a:solidFill>
                  <a:srgbClr val="2F3338"/>
                </a:solidFill>
                <a:latin typeface="Segoe UI Semibold"/>
              </a:rPr>
              <a:t>Detalii</a:t>
            </a:r>
            <a:r>
              <a:rPr sz="3500" b="1" dirty="0">
                <a:solidFill>
                  <a:srgbClr val="2F3338"/>
                </a:solidFill>
                <a:latin typeface="Segoe UI Semibold"/>
              </a:rPr>
              <a:t> </a:t>
            </a:r>
            <a:r>
              <a:rPr sz="3500" b="1" dirty="0" err="1">
                <a:solidFill>
                  <a:srgbClr val="2F3338"/>
                </a:solidFill>
                <a:latin typeface="Segoe UI Semibold"/>
              </a:rPr>
              <a:t>suplimentare</a:t>
            </a:r>
            <a:r>
              <a:rPr sz="3500" b="1" dirty="0">
                <a:solidFill>
                  <a:srgbClr val="2F3338"/>
                </a:solidFill>
                <a:latin typeface="Segoe UI Semibold"/>
              </a:rPr>
              <a:t> din </a:t>
            </a:r>
            <a:r>
              <a:rPr sz="3500" b="1" dirty="0" err="1">
                <a:solidFill>
                  <a:srgbClr val="2F3338"/>
                </a:solidFill>
                <a:latin typeface="Segoe UI Semibold"/>
              </a:rPr>
              <a:t>proiect</a:t>
            </a:r>
            <a:r>
              <a:rPr sz="3500" b="1" dirty="0">
                <a:solidFill>
                  <a:srgbClr val="2F3338"/>
                </a:solidFill>
                <a:latin typeface="Segoe UI Semibold"/>
              </a:rPr>
              <a:t> (</a:t>
            </a:r>
            <a:r>
              <a:rPr sz="3500" b="1" dirty="0" err="1">
                <a:solidFill>
                  <a:srgbClr val="2F3338"/>
                </a:solidFill>
                <a:latin typeface="Segoe UI Semibold"/>
              </a:rPr>
              <a:t>implementare</a:t>
            </a:r>
            <a:r>
              <a:rPr sz="3500" b="1" dirty="0">
                <a:solidFill>
                  <a:srgbClr val="2F3338"/>
                </a:solidFill>
                <a:latin typeface="Segoe UI Semibold"/>
              </a:rPr>
              <a:t>/</a:t>
            </a:r>
            <a:r>
              <a:rPr sz="3500" b="1" dirty="0" err="1">
                <a:solidFill>
                  <a:srgbClr val="2F3338"/>
                </a:solidFill>
                <a:latin typeface="Segoe UI Semibold"/>
              </a:rPr>
              <a:t>rulare</a:t>
            </a:r>
            <a:r>
              <a:rPr sz="3500" b="1" dirty="0">
                <a:solidFill>
                  <a:srgbClr val="2F3338"/>
                </a:solidFill>
                <a:latin typeface="Segoe UI Semibold"/>
              </a:rPr>
              <a:t>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97280" y="2079425"/>
            <a:ext cx="4846320" cy="3440842"/>
          </a:xfrm>
          <a:prstGeom prst="roundRect">
            <a:avLst/>
          </a:prstGeom>
          <a:solidFill>
            <a:srgbClr val="F5F8FC"/>
          </a:solidFill>
          <a:ln w="14604">
            <a:solidFill>
              <a:srgbClr val="D5DF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309360" y="2079425"/>
            <a:ext cx="4846320" cy="3440842"/>
          </a:xfrm>
          <a:prstGeom prst="roundRect">
            <a:avLst/>
          </a:prstGeom>
          <a:solidFill>
            <a:srgbClr val="EEF4FF"/>
          </a:solidFill>
          <a:ln w="14604">
            <a:solidFill>
              <a:srgbClr val="D5DF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325880" y="2262305"/>
            <a:ext cx="4389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1F4E79"/>
                </a:solidFill>
                <a:latin typeface="Segoe UI"/>
              </a:rPr>
              <a:t>Flux de rulare recomandat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25880" y="2584033"/>
            <a:ext cx="4389120" cy="1772555"/>
          </a:xfrm>
          <a:prstGeom prst="roundRect">
            <a:avLst/>
          </a:prstGeom>
          <a:solidFill>
            <a:srgbClr val="1E1E1E"/>
          </a:solidFill>
          <a:ln w="13970">
            <a:solidFill>
              <a:srgbClr val="2D2D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490472" y="2514600"/>
            <a:ext cx="405993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9CDCFE"/>
                </a:solidFill>
                <a:latin typeface="Consolas"/>
              </a:rPr>
              <a:t>Comenzi utile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90472" y="3085265"/>
            <a:ext cx="4059935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4D4D4"/>
                </a:solidFill>
                <a:latin typeface="Consolas"/>
              </a:rPr>
              <a:t>cabal build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4D4D4"/>
                </a:solidFill>
                <a:latin typeface="Consolas"/>
              </a:rPr>
              <a:t>cabal run mfis-quickcheck-expr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4D4D4"/>
                </a:solidFill>
                <a:latin typeface="Consolas"/>
              </a:rPr>
              <a:t>cabal test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4D4D4"/>
                </a:solidFill>
                <a:latin typeface="Consolas"/>
              </a:rPr>
              <a:t>cabal test spec --test-show-details=direct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7960" y="2262305"/>
            <a:ext cx="4389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1F4E79"/>
                </a:solidFill>
                <a:latin typeface="Segoe UI"/>
              </a:rPr>
              <a:t>Detalii tehnice extra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2719505"/>
            <a:ext cx="43891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 i="0" dirty="0">
                <a:solidFill>
                  <a:srgbClr val="2F3338"/>
                </a:solidFill>
                <a:latin typeface="Segoe UI"/>
              </a:rPr>
              <a:t>- </a:t>
            </a:r>
            <a:r>
              <a:rPr sz="1400" b="0" i="0" dirty="0" err="1">
                <a:solidFill>
                  <a:srgbClr val="2F3338"/>
                </a:solidFill>
                <a:latin typeface="Segoe UI"/>
              </a:rPr>
              <a:t>maxSuccess</a:t>
            </a:r>
            <a:r>
              <a:rPr sz="1400" b="0" i="0" dirty="0">
                <a:solidFill>
                  <a:srgbClr val="2F3338"/>
                </a:solidFill>
                <a:latin typeface="Segoe UI"/>
              </a:rPr>
              <a:t>=120 </a:t>
            </a:r>
            <a:r>
              <a:rPr sz="1400" b="0" i="0" dirty="0" err="1">
                <a:solidFill>
                  <a:srgbClr val="2F3338"/>
                </a:solidFill>
                <a:latin typeface="Segoe UI"/>
              </a:rPr>
              <a:t>si</a:t>
            </a:r>
            <a:r>
              <a:rPr sz="14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400" b="0" i="0" dirty="0" err="1">
                <a:solidFill>
                  <a:srgbClr val="2F3338"/>
                </a:solidFill>
                <a:latin typeface="Segoe UI"/>
              </a:rPr>
              <a:t>maxSize</a:t>
            </a:r>
            <a:r>
              <a:rPr sz="1400" b="0" i="0" dirty="0">
                <a:solidFill>
                  <a:srgbClr val="2F3338"/>
                </a:solidFill>
                <a:latin typeface="Segoe UI"/>
              </a:rPr>
              <a:t>=12 </a:t>
            </a:r>
            <a:r>
              <a:rPr sz="1400" b="0" i="0" dirty="0" err="1">
                <a:solidFill>
                  <a:srgbClr val="2F3338"/>
                </a:solidFill>
                <a:latin typeface="Segoe UI"/>
              </a:rPr>
              <a:t>pentru</a:t>
            </a:r>
            <a:r>
              <a:rPr sz="14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400" b="0" i="0" dirty="0" err="1">
                <a:solidFill>
                  <a:srgbClr val="2F3338"/>
                </a:solidFill>
                <a:latin typeface="Segoe UI"/>
              </a:rPr>
              <a:t>comparabilitate</a:t>
            </a:r>
            <a:r>
              <a:rPr sz="14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400" b="0" i="0" dirty="0" err="1">
                <a:solidFill>
                  <a:srgbClr val="2F3338"/>
                </a:solidFill>
                <a:latin typeface="Segoe UI"/>
              </a:rPr>
              <a:t>intre</a:t>
            </a:r>
            <a:r>
              <a:rPr sz="14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400" b="0" i="0" dirty="0" err="1">
                <a:solidFill>
                  <a:srgbClr val="2F3338"/>
                </a:solidFill>
                <a:latin typeface="Segoe UI"/>
              </a:rPr>
              <a:t>proprietati</a:t>
            </a:r>
            <a:endParaRPr sz="1400" b="0" i="0" dirty="0">
              <a:solidFill>
                <a:srgbClr val="2F3338"/>
              </a:solidFill>
              <a:latin typeface="Segoe UI"/>
            </a:endParaRP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 i="0" dirty="0">
                <a:solidFill>
                  <a:srgbClr val="2F3338"/>
                </a:solidFill>
                <a:latin typeface="Segoe UI"/>
              </a:rPr>
              <a:t>- </a:t>
            </a:r>
            <a:r>
              <a:rPr sz="1400" b="0" i="0" dirty="0" err="1">
                <a:solidFill>
                  <a:srgbClr val="2F3338"/>
                </a:solidFill>
                <a:latin typeface="Segoe UI"/>
              </a:rPr>
              <a:t>variablePool</a:t>
            </a:r>
            <a:r>
              <a:rPr sz="1400" b="0" i="0" dirty="0">
                <a:solidFill>
                  <a:srgbClr val="2F3338"/>
                </a:solidFill>
                <a:latin typeface="Segoe UI"/>
              </a:rPr>
              <a:t> fix </a:t>
            </a:r>
            <a:r>
              <a:rPr sz="1400" b="0" i="0" dirty="0" err="1">
                <a:solidFill>
                  <a:srgbClr val="2F3338"/>
                </a:solidFill>
                <a:latin typeface="Segoe UI"/>
              </a:rPr>
              <a:t>pentru</a:t>
            </a:r>
            <a:r>
              <a:rPr sz="14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400" b="0" i="0" dirty="0" err="1">
                <a:solidFill>
                  <a:srgbClr val="2F3338"/>
                </a:solidFill>
                <a:latin typeface="Segoe UI"/>
              </a:rPr>
              <a:t>generarea</a:t>
            </a:r>
            <a:r>
              <a:rPr sz="14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400" b="0" i="0" dirty="0" err="1">
                <a:solidFill>
                  <a:srgbClr val="2F3338"/>
                </a:solidFill>
                <a:latin typeface="Segoe UI"/>
              </a:rPr>
              <a:t>variabilelor</a:t>
            </a:r>
            <a:r>
              <a:rPr sz="1400" b="0" i="0" dirty="0">
                <a:solidFill>
                  <a:srgbClr val="2F3338"/>
                </a:solidFill>
                <a:latin typeface="Segoe UI"/>
              </a:rPr>
              <a:t>: </a:t>
            </a:r>
            <a:r>
              <a:rPr sz="1400" b="0" i="0" dirty="0" err="1">
                <a:solidFill>
                  <a:srgbClr val="2F3338"/>
                </a:solidFill>
                <a:latin typeface="Segoe UI"/>
              </a:rPr>
              <a:t>x,y,z,u,v,w,a,b,c</a:t>
            </a:r>
            <a:endParaRPr sz="1400" b="0" i="0" dirty="0">
              <a:solidFill>
                <a:srgbClr val="2F3338"/>
              </a:solidFill>
              <a:latin typeface="Segoe UI"/>
            </a:endParaRP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 i="0" dirty="0">
                <a:solidFill>
                  <a:srgbClr val="2F3338"/>
                </a:solidFill>
                <a:latin typeface="Segoe UI"/>
              </a:rPr>
              <a:t>- </a:t>
            </a:r>
            <a:r>
              <a:rPr sz="1400" b="0" i="0" dirty="0" err="1">
                <a:solidFill>
                  <a:srgbClr val="2F3338"/>
                </a:solidFill>
                <a:latin typeface="Segoe UI"/>
              </a:rPr>
              <a:t>withEnv</a:t>
            </a:r>
            <a:r>
              <a:rPr sz="1400" b="0" i="0" dirty="0">
                <a:solidFill>
                  <a:srgbClr val="2F3338"/>
                </a:solidFill>
                <a:latin typeface="Segoe UI"/>
              </a:rPr>
              <a:t>/</a:t>
            </a:r>
            <a:r>
              <a:rPr sz="1400" b="0" i="0" dirty="0" err="1">
                <a:solidFill>
                  <a:srgbClr val="2F3338"/>
                </a:solidFill>
                <a:latin typeface="Segoe UI"/>
              </a:rPr>
              <a:t>genEnvFor</a:t>
            </a:r>
            <a:r>
              <a:rPr sz="14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400" b="0" i="0" dirty="0" err="1">
                <a:solidFill>
                  <a:srgbClr val="2F3338"/>
                </a:solidFill>
                <a:latin typeface="Segoe UI"/>
              </a:rPr>
              <a:t>elimina</a:t>
            </a:r>
            <a:r>
              <a:rPr sz="14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400" b="0" i="0" dirty="0" err="1">
                <a:solidFill>
                  <a:srgbClr val="2F3338"/>
                </a:solidFill>
                <a:latin typeface="Segoe UI"/>
              </a:rPr>
              <a:t>majoritatea</a:t>
            </a:r>
            <a:r>
              <a:rPr sz="14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400" b="0" i="0" dirty="0" err="1">
                <a:solidFill>
                  <a:srgbClr val="2F3338"/>
                </a:solidFill>
                <a:latin typeface="Segoe UI"/>
              </a:rPr>
              <a:t>evaluarilor</a:t>
            </a:r>
            <a:r>
              <a:rPr sz="14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400" b="0" i="0" dirty="0" err="1">
                <a:solidFill>
                  <a:srgbClr val="2F3338"/>
                </a:solidFill>
                <a:latin typeface="Segoe UI"/>
              </a:rPr>
              <a:t>partiale</a:t>
            </a:r>
            <a:r>
              <a:rPr sz="1400" b="0" i="0" dirty="0">
                <a:solidFill>
                  <a:srgbClr val="2F3338"/>
                </a:solidFill>
                <a:latin typeface="Segoe UI"/>
              </a:rPr>
              <a:t> in </a:t>
            </a:r>
            <a:r>
              <a:rPr sz="1400" b="0" i="0" dirty="0" err="1">
                <a:solidFill>
                  <a:srgbClr val="2F3338"/>
                </a:solidFill>
                <a:latin typeface="Segoe UI"/>
              </a:rPr>
              <a:t>testele</a:t>
            </a:r>
            <a:r>
              <a:rPr sz="14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400" b="0" i="0" dirty="0" err="1">
                <a:solidFill>
                  <a:srgbClr val="2F3338"/>
                </a:solidFill>
                <a:latin typeface="Segoe UI"/>
              </a:rPr>
              <a:t>semantice</a:t>
            </a:r>
            <a:endParaRPr sz="1400" b="0" i="0" dirty="0">
              <a:solidFill>
                <a:srgbClr val="2F3338"/>
              </a:solidFill>
              <a:latin typeface="Segoe UI"/>
            </a:endParaRP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 i="0" dirty="0">
                <a:solidFill>
                  <a:srgbClr val="2F3338"/>
                </a:solidFill>
                <a:latin typeface="Segoe UI"/>
              </a:rPr>
              <a:t>- substitute </a:t>
            </a:r>
            <a:r>
              <a:rPr sz="1400" b="0" i="0" dirty="0" err="1">
                <a:solidFill>
                  <a:srgbClr val="2F3338"/>
                </a:solidFill>
                <a:latin typeface="Segoe UI"/>
              </a:rPr>
              <a:t>este</a:t>
            </a:r>
            <a:r>
              <a:rPr sz="14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400" b="0" i="0" dirty="0" err="1">
                <a:solidFill>
                  <a:srgbClr val="2F3338"/>
                </a:solidFill>
                <a:latin typeface="Segoe UI"/>
              </a:rPr>
              <a:t>verificat</a:t>
            </a:r>
            <a:r>
              <a:rPr sz="1400" b="0" i="0" dirty="0">
                <a:solidFill>
                  <a:srgbClr val="2F3338"/>
                </a:solidFill>
                <a:latin typeface="Segoe UI"/>
              </a:rPr>
              <a:t> cu </a:t>
            </a:r>
            <a:r>
              <a:rPr sz="1400" b="0" i="0" dirty="0" err="1">
                <a:solidFill>
                  <a:srgbClr val="2F3338"/>
                </a:solidFill>
                <a:latin typeface="Segoe UI"/>
              </a:rPr>
              <a:t>inlocuire</a:t>
            </a:r>
            <a:r>
              <a:rPr sz="1400" b="0" i="0" dirty="0">
                <a:solidFill>
                  <a:srgbClr val="2F3338"/>
                </a:solidFill>
                <a:latin typeface="Segoe UI"/>
              </a:rPr>
              <a:t> closed-expression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500" b="1">
                <a:solidFill>
                  <a:srgbClr val="2F3338"/>
                </a:solidFill>
                <a:latin typeface="Segoe UI Semibold"/>
              </a:rPr>
              <a:t>Walkthrough demo din app/Main.hs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97280" y="2092974"/>
            <a:ext cx="4846320" cy="3994573"/>
          </a:xfrm>
          <a:prstGeom prst="roundRect">
            <a:avLst/>
          </a:prstGeom>
          <a:solidFill>
            <a:srgbClr val="F5F8FC"/>
          </a:solidFill>
          <a:ln w="13970">
            <a:solidFill>
              <a:srgbClr val="D5DF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309360" y="2092974"/>
            <a:ext cx="4846320" cy="3994573"/>
          </a:xfrm>
          <a:prstGeom prst="roundRect">
            <a:avLst/>
          </a:prstGeom>
          <a:solidFill>
            <a:srgbClr val="EEF4FF"/>
          </a:solidFill>
          <a:ln w="13970">
            <a:solidFill>
              <a:srgbClr val="D5DF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325880" y="2275854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1F4E79"/>
                </a:solidFill>
                <a:latin typeface="Segoe UI"/>
              </a:rPr>
              <a:t>Cod demo (expresie + mediu)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25880" y="2687334"/>
            <a:ext cx="4389120" cy="2392680"/>
          </a:xfrm>
          <a:prstGeom prst="roundRect">
            <a:avLst/>
          </a:prstGeom>
          <a:solidFill>
            <a:srgbClr val="1E1E1E"/>
          </a:solidFill>
          <a:ln w="13970">
            <a:solidFill>
              <a:srgbClr val="2D2D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490472" y="2778774"/>
            <a:ext cx="40599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9CDCFE"/>
                </a:solidFill>
                <a:latin typeface="Consolas"/>
              </a:rPr>
              <a:t>Main.hs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90472" y="3071382"/>
            <a:ext cx="4059935" cy="31363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D4D4D4"/>
                </a:solidFill>
                <a:latin typeface="Consolas"/>
              </a:rPr>
              <a:t>demoExpr = Add (Mul (Const 1) (Var "x"))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D4D4D4"/>
                </a:solidFill>
                <a:latin typeface="Consolas"/>
              </a:rPr>
              <a:t>               (Neg (Neg (Var "y")))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endParaRPr sz="1150" b="0" i="0">
              <a:solidFill>
                <a:srgbClr val="D4D4D4"/>
              </a:solidFill>
              <a:latin typeface="Consolas"/>
            </a:endParaRP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D4D4D4"/>
                </a:solidFill>
                <a:latin typeface="Consolas"/>
              </a:rPr>
              <a:t>demoEnv = Map.fromList [("x", 4), ("y", 7)]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endParaRPr sz="1150" b="0" i="0">
              <a:solidFill>
                <a:srgbClr val="D4D4D4"/>
              </a:solidFill>
              <a:latin typeface="Consolas"/>
            </a:endParaRP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D4D4D4"/>
                </a:solidFill>
                <a:latin typeface="Consolas"/>
              </a:rPr>
              <a:t>pretty demoExpr      =&gt; "1 * x + -(-y)"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D4D4D4"/>
                </a:solidFill>
                <a:latin typeface="Consolas"/>
              </a:rPr>
              <a:t>simplify demoExpr    =&gt; "x + y"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7960" y="2275854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1F4E79"/>
                </a:solidFill>
                <a:latin typeface="Segoe UI"/>
              </a:rPr>
              <a:t>Output real din executabil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37960" y="2687334"/>
            <a:ext cx="4389120" cy="2392680"/>
          </a:xfrm>
          <a:prstGeom prst="roundRect">
            <a:avLst/>
          </a:prstGeom>
          <a:solidFill>
            <a:srgbClr val="1E1E1E"/>
          </a:solidFill>
          <a:ln w="13970">
            <a:solidFill>
              <a:srgbClr val="2D2D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702552" y="2778774"/>
            <a:ext cx="40599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9CDCFE"/>
                </a:solidFill>
                <a:latin typeface="Consolas"/>
              </a:rPr>
              <a:t>mfis-quickcheck-expr.exe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02552" y="3071382"/>
            <a:ext cx="4059935" cy="31363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D4D4D4"/>
                </a:solidFill>
                <a:latin typeface="Consolas"/>
              </a:rPr>
              <a:t>Dimensiune: 7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D4D4D4"/>
                </a:solidFill>
                <a:latin typeface="Consolas"/>
              </a:rPr>
              <a:t>Adancime: 4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D4D4D4"/>
                </a:solidFill>
                <a:latin typeface="Consolas"/>
              </a:rPr>
              <a:t>Numar operatori: 4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D4D4D4"/>
                </a:solidFill>
                <a:latin typeface="Consolas"/>
              </a:rPr>
              <a:t>Variabile libere: ["x","y"]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D4D4D4"/>
                </a:solidFill>
                <a:latin typeface="Consolas"/>
              </a:rPr>
              <a:t>Valoare in mediu: Just 11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D4D4D4"/>
                </a:solidFill>
                <a:latin typeface="Consolas"/>
              </a:rPr>
              <a:t>Valoare simplificata: Just 11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D4D4D4"/>
                </a:solidFill>
                <a:latin typeface="Consolas"/>
              </a:rPr>
              <a:t>Semantica pastrata: True</a:t>
            </a:r>
          </a:p>
        </p:txBody>
      </p:sp>
    </p:spTree>
    <p:extLst>
      <p:ext uri="{BB962C8B-B14F-4D97-AF65-F5344CB8AC3E}">
        <p14:creationId xmlns:p14="http://schemas.microsoft.com/office/powerpoint/2010/main" val="340247252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500" b="1">
                <a:solidFill>
                  <a:srgbClr val="2F3338"/>
                </a:solidFill>
                <a:latin typeface="Segoe UI Semibold"/>
              </a:rPr>
              <a:t>Expr.hs: functii structurale folosite in teste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97280" y="2302932"/>
            <a:ext cx="10058400" cy="3960707"/>
          </a:xfrm>
          <a:prstGeom prst="roundRect">
            <a:avLst/>
          </a:prstGeom>
          <a:solidFill>
            <a:srgbClr val="F5F8FC"/>
          </a:solidFill>
          <a:ln w="13970">
            <a:solidFill>
              <a:srgbClr val="D5DF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25880" y="2436727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0" i="1">
                <a:solidFill>
                  <a:srgbClr val="4B5563"/>
                </a:solidFill>
                <a:latin typeface="Segoe UI"/>
              </a:rPr>
              <a:t>Functii care masoara si manipuleaza structura AST-ului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2848207"/>
            <a:ext cx="96012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F3338"/>
                </a:solidFill>
                <a:latin typeface="Segoe UI"/>
              </a:rPr>
              <a:t>- size expr: numarul total de noduri din arbore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F3338"/>
                </a:solidFill>
                <a:latin typeface="Segoe UI"/>
              </a:rPr>
              <a:t>- depth expr: adancimea maxima a arborelui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F3338"/>
                </a:solidFill>
                <a:latin typeface="Segoe UI"/>
              </a:rPr>
              <a:t>- operatorCount expr: numarul de operatori (Add/Sub/Mul/Neg)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F3338"/>
                </a:solidFill>
                <a:latin typeface="Segoe UI"/>
              </a:rPr>
              <a:t>- freeVars expr: multimea variabilelor libere (fara duplicate)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F3338"/>
                </a:solidFill>
                <a:latin typeface="Segoe UI"/>
              </a:rPr>
              <a:t>- substitute name replacement expr: inlocuire recursiva in AST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25880" y="4314605"/>
            <a:ext cx="9601200" cy="1600200"/>
          </a:xfrm>
          <a:prstGeom prst="roundRect">
            <a:avLst/>
          </a:prstGeom>
          <a:solidFill>
            <a:srgbClr val="1E1E1E"/>
          </a:solidFill>
          <a:ln w="13970">
            <a:solidFill>
              <a:srgbClr val="2D2D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490472" y="4406045"/>
            <a:ext cx="927201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 dirty="0" err="1">
                <a:solidFill>
                  <a:srgbClr val="9CDCFE"/>
                </a:solidFill>
                <a:latin typeface="Consolas"/>
              </a:rPr>
              <a:t>Exemple</a:t>
            </a:r>
            <a:r>
              <a:rPr sz="1200" b="1" i="0" dirty="0">
                <a:solidFill>
                  <a:srgbClr val="9CDCFE"/>
                </a:solidFill>
                <a:latin typeface="Consolas"/>
              </a:rPr>
              <a:t> concrete in </a:t>
            </a:r>
            <a:r>
              <a:rPr sz="1200" b="1" i="0" dirty="0" err="1">
                <a:solidFill>
                  <a:srgbClr val="9CDCFE"/>
                </a:solidFill>
                <a:latin typeface="Consolas"/>
              </a:rPr>
              <a:t>proiect</a:t>
            </a:r>
            <a:endParaRPr sz="1200" b="1" i="0" dirty="0">
              <a:solidFill>
                <a:srgbClr val="9CDCFE"/>
              </a:solidFill>
              <a:latin typeface="Consola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490472" y="4698653"/>
            <a:ext cx="9272016" cy="11247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 dirty="0" err="1">
                <a:solidFill>
                  <a:srgbClr val="D4D4D4"/>
                </a:solidFill>
                <a:latin typeface="Consolas"/>
              </a:rPr>
              <a:t>prop_simplifyDoesNotIncreaseSize</a:t>
            </a:r>
            <a:r>
              <a:rPr sz="1150" b="0" i="0" dirty="0">
                <a:solidFill>
                  <a:srgbClr val="D4D4D4"/>
                </a:solidFill>
                <a:latin typeface="Consolas"/>
              </a:rPr>
              <a:t>      =&gt; size (simplify e) &lt;= size 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 dirty="0" err="1">
                <a:solidFill>
                  <a:srgbClr val="D4D4D4"/>
                </a:solidFill>
                <a:latin typeface="Consolas"/>
              </a:rPr>
              <a:t>prop_simplifyDoesNotIncreaseDepth</a:t>
            </a:r>
            <a:r>
              <a:rPr sz="1150" b="0" i="0" dirty="0">
                <a:solidFill>
                  <a:srgbClr val="D4D4D4"/>
                </a:solidFill>
                <a:latin typeface="Consolas"/>
              </a:rPr>
              <a:t>     =&gt; depth (simplify e) &lt;= depth 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 dirty="0" err="1">
                <a:solidFill>
                  <a:srgbClr val="D4D4D4"/>
                </a:solidFill>
                <a:latin typeface="Consolas"/>
              </a:rPr>
              <a:t>prop_simplifyDoesNotIncreaseOperators</a:t>
            </a:r>
            <a:r>
              <a:rPr sz="1150" b="0" i="0" dirty="0">
                <a:solidFill>
                  <a:srgbClr val="D4D4D4"/>
                </a:solidFill>
                <a:latin typeface="Consolas"/>
              </a:rPr>
              <a:t> =&gt; </a:t>
            </a:r>
            <a:r>
              <a:rPr sz="1150" b="0" i="0" dirty="0" err="1">
                <a:solidFill>
                  <a:srgbClr val="D4D4D4"/>
                </a:solidFill>
                <a:latin typeface="Consolas"/>
              </a:rPr>
              <a:t>operatorCount</a:t>
            </a:r>
            <a:r>
              <a:rPr sz="1150" b="0" i="0" dirty="0">
                <a:solidFill>
                  <a:srgbClr val="D4D4D4"/>
                </a:solidFill>
                <a:latin typeface="Consolas"/>
              </a:rPr>
              <a:t> (simplify e) &lt;= </a:t>
            </a:r>
            <a:r>
              <a:rPr sz="1150" b="0" i="0" dirty="0" err="1">
                <a:solidFill>
                  <a:srgbClr val="D4D4D4"/>
                </a:solidFill>
                <a:latin typeface="Consolas"/>
              </a:rPr>
              <a:t>operatorCount</a:t>
            </a:r>
            <a:r>
              <a:rPr sz="1150" b="0" i="0" dirty="0">
                <a:solidFill>
                  <a:srgbClr val="D4D4D4"/>
                </a:solidFill>
                <a:latin typeface="Consolas"/>
              </a:rPr>
              <a:t> e</a:t>
            </a:r>
          </a:p>
        </p:txBody>
      </p:sp>
    </p:spTree>
    <p:extLst>
      <p:ext uri="{BB962C8B-B14F-4D97-AF65-F5344CB8AC3E}">
        <p14:creationId xmlns:p14="http://schemas.microsoft.com/office/powerpoint/2010/main" val="191490722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500" b="1" dirty="0" err="1">
                <a:solidFill>
                  <a:srgbClr val="2F3338"/>
                </a:solidFill>
                <a:latin typeface="Segoe UI Semibold"/>
              </a:rPr>
              <a:t>Parser.hs</a:t>
            </a:r>
            <a:r>
              <a:rPr sz="3500" b="1" dirty="0">
                <a:solidFill>
                  <a:srgbClr val="2F3338"/>
                </a:solidFill>
                <a:latin typeface="Segoe UI Semibold"/>
              </a:rPr>
              <a:t>: </a:t>
            </a:r>
            <a:r>
              <a:rPr sz="3500" b="1" dirty="0" err="1">
                <a:solidFill>
                  <a:srgbClr val="2F3338"/>
                </a:solidFill>
                <a:latin typeface="Segoe UI Semibold"/>
              </a:rPr>
              <a:t>gramatica</a:t>
            </a:r>
            <a:r>
              <a:rPr sz="3500" b="1" dirty="0">
                <a:solidFill>
                  <a:srgbClr val="2F3338"/>
                </a:solidFill>
                <a:latin typeface="Segoe UI Semibold"/>
              </a:rPr>
              <a:t> </a:t>
            </a:r>
            <a:r>
              <a:rPr lang="ro-RO" sz="3500" b="1" dirty="0">
                <a:solidFill>
                  <a:srgbClr val="2F3338"/>
                </a:solidFill>
                <a:latin typeface="Segoe UI Semibold"/>
              </a:rPr>
              <a:t>ș</a:t>
            </a:r>
            <a:r>
              <a:rPr sz="3500" b="1" dirty="0" smtClean="0">
                <a:solidFill>
                  <a:srgbClr val="2F3338"/>
                </a:solidFill>
                <a:latin typeface="Segoe UI Semibold"/>
              </a:rPr>
              <a:t>i </a:t>
            </a:r>
            <a:r>
              <a:rPr sz="3500" b="1" dirty="0" err="1" smtClean="0">
                <a:solidFill>
                  <a:srgbClr val="2F3338"/>
                </a:solidFill>
                <a:latin typeface="Segoe UI Semibold"/>
              </a:rPr>
              <a:t>preceden</a:t>
            </a:r>
            <a:r>
              <a:rPr lang="ro-RO" sz="3500" b="1" dirty="0" smtClean="0">
                <a:solidFill>
                  <a:srgbClr val="2F3338"/>
                </a:solidFill>
                <a:latin typeface="Segoe UI Semibold"/>
              </a:rPr>
              <a:t>ț</a:t>
            </a:r>
            <a:r>
              <a:rPr sz="3500" b="1" dirty="0" smtClean="0">
                <a:solidFill>
                  <a:srgbClr val="2F3338"/>
                </a:solidFill>
                <a:latin typeface="Segoe UI Semibold"/>
              </a:rPr>
              <a:t>a </a:t>
            </a:r>
            <a:r>
              <a:rPr sz="3500" b="1" dirty="0" err="1">
                <a:solidFill>
                  <a:srgbClr val="2F3338"/>
                </a:solidFill>
                <a:latin typeface="Segoe UI Semibold"/>
              </a:rPr>
              <a:t>operatorilor</a:t>
            </a:r>
            <a:endParaRPr sz="3500" b="1" dirty="0">
              <a:solidFill>
                <a:srgbClr val="2F3338"/>
              </a:solidFill>
              <a:latin typeface="Segoe UI Semibold"/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1097280" y="2236913"/>
            <a:ext cx="4846320" cy="3638973"/>
          </a:xfrm>
          <a:prstGeom prst="roundRect">
            <a:avLst/>
          </a:prstGeom>
          <a:solidFill>
            <a:srgbClr val="F5F8FC"/>
          </a:solidFill>
          <a:ln w="13970">
            <a:solidFill>
              <a:srgbClr val="D5DF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309360" y="2236913"/>
            <a:ext cx="4846320" cy="3638973"/>
          </a:xfrm>
          <a:prstGeom prst="roundRect">
            <a:avLst/>
          </a:prstGeom>
          <a:solidFill>
            <a:srgbClr val="EEF4FF"/>
          </a:solidFill>
          <a:ln w="13970">
            <a:solidFill>
              <a:srgbClr val="D5DF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325880" y="2419793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1F4E79"/>
                </a:solidFill>
                <a:latin typeface="Segoe UI"/>
              </a:rPr>
              <a:t>Structura parserului (ReadP)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25880" y="2831273"/>
            <a:ext cx="4389120" cy="2113280"/>
          </a:xfrm>
          <a:prstGeom prst="roundRect">
            <a:avLst/>
          </a:prstGeom>
          <a:solidFill>
            <a:srgbClr val="1E1E1E"/>
          </a:solidFill>
          <a:ln w="13970">
            <a:solidFill>
              <a:srgbClr val="2D2D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490472" y="2922713"/>
            <a:ext cx="40599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9CDCFE"/>
                </a:solidFill>
                <a:latin typeface="Consolas"/>
              </a:rPr>
              <a:t>Parser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90472" y="3147585"/>
            <a:ext cx="4059935" cy="31363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D4D4D4"/>
                </a:solidFill>
                <a:latin typeface="Consolas"/>
              </a:rPr>
              <a:t>exprP  = chainl1 termP addOp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D4D4D4"/>
                </a:solidFill>
                <a:latin typeface="Consolas"/>
              </a:rPr>
              <a:t>termP  = chainl1 factorP mulOp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D4D4D4"/>
                </a:solidFill>
                <a:latin typeface="Consolas"/>
              </a:rPr>
              <a:t>factorP = negP +++ atomP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D4D4D4"/>
                </a:solidFill>
                <a:latin typeface="Consolas"/>
              </a:rPr>
              <a:t>atomP  = negConstP +++ parens exprP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D4D4D4"/>
                </a:solidFill>
                <a:latin typeface="Consolas"/>
              </a:rPr>
              <a:t>         +++ integerP +++ variableP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7960" y="2419793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1F4E79"/>
                </a:solidFill>
                <a:latin typeface="Segoe UI"/>
              </a:rPr>
              <a:t>Detalii suportate in proiect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2831273"/>
            <a:ext cx="4389120" cy="3611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F3338"/>
                </a:solidFill>
                <a:latin typeface="Segoe UI"/>
              </a:rPr>
              <a:t>- spatii ignorate prin token/skipSpaces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F3338"/>
                </a:solidFill>
                <a:latin typeface="Segoe UI"/>
              </a:rPr>
              <a:t>- variabile: litera + alfanumeric/underscore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F3338"/>
                </a:solidFill>
                <a:latin typeface="Segoe UI"/>
              </a:rPr>
              <a:t>- constante negative explicite: (-3)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F3338"/>
                </a:solidFill>
                <a:latin typeface="Segoe UI"/>
              </a:rPr>
              <a:t>- negare unara: -x, -(a+b)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F3338"/>
                </a:solidFill>
                <a:latin typeface="Segoe UI"/>
              </a:rPr>
              <a:t>- parseExpr valideaza input complet (eof)</a:t>
            </a:r>
          </a:p>
        </p:txBody>
      </p:sp>
    </p:spTree>
    <p:extLst>
      <p:ext uri="{BB962C8B-B14F-4D97-AF65-F5344CB8AC3E}">
        <p14:creationId xmlns:p14="http://schemas.microsoft.com/office/powerpoint/2010/main" val="271307279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500" b="1" dirty="0" err="1">
                <a:solidFill>
                  <a:srgbClr val="2F3338"/>
                </a:solidFill>
                <a:latin typeface="Segoe UI Semibold"/>
              </a:rPr>
              <a:t>Pretty.hs</a:t>
            </a:r>
            <a:r>
              <a:rPr sz="3500" b="1" dirty="0">
                <a:solidFill>
                  <a:srgbClr val="2F3338"/>
                </a:solidFill>
                <a:latin typeface="Segoe UI Semibold"/>
              </a:rPr>
              <a:t>: </a:t>
            </a:r>
            <a:r>
              <a:rPr sz="3500" b="1" dirty="0" err="1">
                <a:solidFill>
                  <a:srgbClr val="2F3338"/>
                </a:solidFill>
                <a:latin typeface="Segoe UI Semibold"/>
              </a:rPr>
              <a:t>reguli</a:t>
            </a:r>
            <a:r>
              <a:rPr sz="3500" b="1" dirty="0">
                <a:solidFill>
                  <a:srgbClr val="2F3338"/>
                </a:solidFill>
                <a:latin typeface="Segoe UI Semibold"/>
              </a:rPr>
              <a:t> de </a:t>
            </a:r>
            <a:r>
              <a:rPr sz="3500" b="1" dirty="0" err="1">
                <a:solidFill>
                  <a:srgbClr val="2F3338"/>
                </a:solidFill>
                <a:latin typeface="Segoe UI Semibold"/>
              </a:rPr>
              <a:t>parantezare</a:t>
            </a:r>
            <a:r>
              <a:rPr sz="3500" b="1" dirty="0">
                <a:solidFill>
                  <a:srgbClr val="2F3338"/>
                </a:solidFill>
                <a:latin typeface="Segoe UI Semibold"/>
              </a:rPr>
              <a:t> </a:t>
            </a:r>
            <a:r>
              <a:rPr lang="ro-RO" sz="3500" b="1" dirty="0" err="1">
                <a:solidFill>
                  <a:srgbClr val="2F3338"/>
                </a:solidFill>
                <a:latin typeface="Segoe UI Semibold"/>
              </a:rPr>
              <a:t>ș</a:t>
            </a:r>
            <a:r>
              <a:rPr sz="3500" b="1" dirty="0" smtClean="0">
                <a:solidFill>
                  <a:srgbClr val="2F3338"/>
                </a:solidFill>
                <a:latin typeface="Segoe UI Semibold"/>
              </a:rPr>
              <a:t>i </a:t>
            </a:r>
            <a:r>
              <a:rPr sz="3500" b="1" dirty="0" err="1" smtClean="0">
                <a:solidFill>
                  <a:srgbClr val="2F3338"/>
                </a:solidFill>
                <a:latin typeface="Segoe UI Semibold"/>
              </a:rPr>
              <a:t>preceden</a:t>
            </a:r>
            <a:r>
              <a:rPr lang="ro-RO" sz="3500" b="1" dirty="0" smtClean="0">
                <a:solidFill>
                  <a:srgbClr val="2F3338"/>
                </a:solidFill>
                <a:latin typeface="Segoe UI Semibold"/>
              </a:rPr>
              <a:t>ță</a:t>
            </a:r>
            <a:endParaRPr sz="3500" b="1" dirty="0">
              <a:solidFill>
                <a:srgbClr val="2F3338"/>
              </a:solidFill>
              <a:latin typeface="Segoe UI Semibold"/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1097280" y="2126842"/>
            <a:ext cx="10058400" cy="2148840"/>
          </a:xfrm>
          <a:prstGeom prst="roundRect">
            <a:avLst/>
          </a:prstGeom>
          <a:solidFill>
            <a:srgbClr val="F5F8FC"/>
          </a:solidFill>
          <a:ln w="13970">
            <a:solidFill>
              <a:srgbClr val="D5DF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25880" y="2355442"/>
            <a:ext cx="9601200" cy="8361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0" dirty="0">
                <a:solidFill>
                  <a:srgbClr val="2F3338"/>
                </a:solidFill>
                <a:latin typeface="Segoe UI"/>
              </a:rPr>
              <a:t>- pretty </a:t>
            </a:r>
            <a:r>
              <a:rPr sz="1500" b="0" i="0" dirty="0" err="1" smtClean="0">
                <a:solidFill>
                  <a:srgbClr val="2F3338"/>
                </a:solidFill>
                <a:latin typeface="Segoe UI"/>
              </a:rPr>
              <a:t>porne</a:t>
            </a:r>
            <a:r>
              <a:rPr lang="ro-RO" sz="1500" b="0" i="0" dirty="0" smtClean="0">
                <a:solidFill>
                  <a:srgbClr val="2F3338"/>
                </a:solidFill>
                <a:latin typeface="Segoe UI"/>
              </a:rPr>
              <a:t>ș</a:t>
            </a:r>
            <a:r>
              <a:rPr sz="1500" b="0" i="0" dirty="0" err="1" smtClean="0">
                <a:solidFill>
                  <a:srgbClr val="2F3338"/>
                </a:solidFill>
                <a:latin typeface="Segoe UI"/>
              </a:rPr>
              <a:t>te</a:t>
            </a:r>
            <a:r>
              <a:rPr sz="1500" b="0" i="0" dirty="0" smtClean="0">
                <a:solidFill>
                  <a:srgbClr val="2F3338"/>
                </a:solidFill>
                <a:latin typeface="Segoe UI"/>
              </a:rPr>
              <a:t> 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cu context 0 </a:t>
            </a:r>
            <a:r>
              <a:rPr lang="ro-RO" sz="1500" dirty="0" err="1">
                <a:solidFill>
                  <a:srgbClr val="2F3338"/>
                </a:solidFill>
                <a:latin typeface="Segoe UI"/>
              </a:rPr>
              <a:t>ș</a:t>
            </a:r>
            <a:r>
              <a:rPr sz="1500" b="0" i="0" dirty="0" smtClean="0">
                <a:solidFill>
                  <a:srgbClr val="2F3338"/>
                </a:solidFill>
                <a:latin typeface="Segoe UI"/>
              </a:rPr>
              <a:t>i </a:t>
            </a:r>
            <a:r>
              <a:rPr sz="1500" b="0" i="0" dirty="0" err="1" smtClean="0">
                <a:solidFill>
                  <a:srgbClr val="2F3338"/>
                </a:solidFill>
                <a:latin typeface="Segoe UI"/>
              </a:rPr>
              <a:t>deleg</a:t>
            </a:r>
            <a:r>
              <a:rPr lang="ro-RO" sz="1500" b="0" i="0" dirty="0" smtClean="0">
                <a:solidFill>
                  <a:srgbClr val="2F3338"/>
                </a:solidFill>
                <a:latin typeface="Segoe UI"/>
              </a:rPr>
              <a:t>ă</a:t>
            </a:r>
            <a:r>
              <a:rPr sz="1500" b="0" i="0" dirty="0" smtClean="0">
                <a:solidFill>
                  <a:srgbClr val="2F3338"/>
                </a:solidFill>
                <a:latin typeface="Segoe UI"/>
              </a:rPr>
              <a:t> </a:t>
            </a:r>
            <a:r>
              <a:rPr lang="ro-RO" sz="1500" dirty="0">
                <a:solidFill>
                  <a:srgbClr val="2F3338"/>
                </a:solidFill>
                <a:latin typeface="Segoe UI"/>
              </a:rPr>
              <a:t>î</a:t>
            </a:r>
            <a:r>
              <a:rPr sz="1500" b="0" i="0" dirty="0" smtClean="0">
                <a:solidFill>
                  <a:srgbClr val="2F3338"/>
                </a:solidFill>
                <a:latin typeface="Segoe UI"/>
              </a:rPr>
              <a:t>n 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prettyPrec</a:t>
            </a:r>
            <a:endParaRPr sz="1500" b="0" i="0" dirty="0">
              <a:solidFill>
                <a:srgbClr val="2F3338"/>
              </a:solidFill>
              <a:latin typeface="Segoe UI"/>
            </a:endParaRP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0" dirty="0">
                <a:solidFill>
                  <a:srgbClr val="2F3338"/>
                </a:solidFill>
                <a:latin typeface="Segoe UI"/>
              </a:rPr>
              <a:t>- 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atomPrec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=11, 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negPrec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=9, 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mulPrec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=7, 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addPrec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=6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0" dirty="0">
                <a:solidFill>
                  <a:srgbClr val="2F3338"/>
                </a:solidFill>
                <a:latin typeface="Segoe UI"/>
              </a:rPr>
              <a:t>- 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wrapIf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500" b="0" i="0" dirty="0" err="1" smtClean="0">
                <a:solidFill>
                  <a:srgbClr val="2F3338"/>
                </a:solidFill>
                <a:latin typeface="Segoe UI"/>
              </a:rPr>
              <a:t>adaug</a:t>
            </a:r>
            <a:r>
              <a:rPr lang="ro-RO" sz="1500" b="0" i="0" dirty="0" smtClean="0">
                <a:solidFill>
                  <a:srgbClr val="2F3338"/>
                </a:solidFill>
                <a:latin typeface="Segoe UI"/>
              </a:rPr>
              <a:t>ă</a:t>
            </a:r>
            <a:r>
              <a:rPr sz="1500" b="0" i="0" dirty="0" smtClean="0">
                <a:solidFill>
                  <a:srgbClr val="2F3338"/>
                </a:solidFill>
                <a:latin typeface="Segoe UI"/>
              </a:rPr>
              <a:t> 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paranteze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doar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500" b="0" i="0" dirty="0" smtClean="0">
                <a:solidFill>
                  <a:srgbClr val="2F3338"/>
                </a:solidFill>
                <a:latin typeface="Segoe UI"/>
              </a:rPr>
              <a:t>c</a:t>
            </a:r>
            <a:r>
              <a:rPr lang="ro-RO" sz="1500" b="0" i="0" dirty="0" smtClean="0">
                <a:solidFill>
                  <a:srgbClr val="2F3338"/>
                </a:solidFill>
                <a:latin typeface="Segoe UI"/>
              </a:rPr>
              <a:t>â</a:t>
            </a:r>
            <a:r>
              <a:rPr sz="1500" b="0" i="0" dirty="0" err="1" smtClean="0">
                <a:solidFill>
                  <a:srgbClr val="2F3338"/>
                </a:solidFill>
                <a:latin typeface="Segoe UI"/>
              </a:rPr>
              <a:t>nd</a:t>
            </a:r>
            <a:r>
              <a:rPr sz="1500" b="0" i="0" dirty="0" smtClean="0">
                <a:solidFill>
                  <a:srgbClr val="2F3338"/>
                </a:solidFill>
                <a:latin typeface="Segoe UI"/>
              </a:rPr>
              <a:t> 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contextul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 o 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cere</a:t>
            </a:r>
            <a:endParaRPr sz="1500" b="0" i="0" dirty="0">
              <a:solidFill>
                <a:srgbClr val="2F3338"/>
              </a:solidFill>
              <a:latin typeface="Segoe UI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1097280" y="4367121"/>
            <a:ext cx="10058400" cy="1737360"/>
          </a:xfrm>
          <a:prstGeom prst="roundRect">
            <a:avLst/>
          </a:prstGeom>
          <a:solidFill>
            <a:srgbClr val="1E1E1E"/>
          </a:solidFill>
          <a:ln w="13970">
            <a:solidFill>
              <a:srgbClr val="2D2D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261872" y="4458561"/>
            <a:ext cx="972921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9CDCFE"/>
                </a:solidFill>
                <a:latin typeface="Consolas"/>
              </a:rPr>
              <a:t>Detaliu important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61872" y="4751170"/>
            <a:ext cx="9729216" cy="1261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D4D4D4"/>
                </a:solidFill>
                <a:latin typeface="Consolas"/>
              </a:rPr>
              <a:t>prettyConst n | n &lt; 0 = "(" ++ show n ++ ")"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D4D4D4"/>
                </a:solidFill>
                <a:latin typeface="Consolas"/>
              </a:rPr>
              <a:t>-- constantele negative sunt parenthezate pentru a evita confuzia cu Sub</a:t>
            </a:r>
          </a:p>
        </p:txBody>
      </p:sp>
    </p:spTree>
    <p:extLst>
      <p:ext uri="{BB962C8B-B14F-4D97-AF65-F5344CB8AC3E}">
        <p14:creationId xmlns:p14="http://schemas.microsoft.com/office/powerpoint/2010/main" val="70042012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500" b="1" dirty="0" err="1">
                <a:solidFill>
                  <a:srgbClr val="2F3338"/>
                </a:solidFill>
                <a:latin typeface="Segoe UI Semibold"/>
              </a:rPr>
              <a:t>Spec.hs</a:t>
            </a:r>
            <a:r>
              <a:rPr sz="3500" b="1" dirty="0">
                <a:solidFill>
                  <a:srgbClr val="2F3338"/>
                </a:solidFill>
                <a:latin typeface="Segoe UI Semibold"/>
              </a:rPr>
              <a:t>: </a:t>
            </a:r>
            <a:r>
              <a:rPr sz="3500" b="1" dirty="0" err="1">
                <a:solidFill>
                  <a:srgbClr val="2F3338"/>
                </a:solidFill>
                <a:latin typeface="Segoe UI Semibold"/>
              </a:rPr>
              <a:t>infrastructura</a:t>
            </a:r>
            <a:r>
              <a:rPr sz="3500" b="1" dirty="0">
                <a:solidFill>
                  <a:srgbClr val="2F3338"/>
                </a:solidFill>
                <a:latin typeface="Segoe UI Semibold"/>
              </a:rPr>
              <a:t> de </a:t>
            </a:r>
            <a:r>
              <a:rPr sz="3500" b="1" dirty="0" err="1">
                <a:solidFill>
                  <a:srgbClr val="2F3338"/>
                </a:solidFill>
                <a:latin typeface="Segoe UI Semibold"/>
              </a:rPr>
              <a:t>rulare</a:t>
            </a:r>
            <a:r>
              <a:rPr sz="3500" b="1" dirty="0">
                <a:solidFill>
                  <a:srgbClr val="2F3338"/>
                </a:solidFill>
                <a:latin typeface="Segoe UI Semibold"/>
              </a:rPr>
              <a:t> a </a:t>
            </a:r>
            <a:r>
              <a:rPr sz="3500" b="1" dirty="0" err="1" smtClean="0">
                <a:solidFill>
                  <a:srgbClr val="2F3338"/>
                </a:solidFill>
                <a:latin typeface="Segoe UI Semibold"/>
              </a:rPr>
              <a:t>propriet</a:t>
            </a:r>
            <a:r>
              <a:rPr lang="ro-RO" sz="3500" b="1" dirty="0" smtClean="0">
                <a:solidFill>
                  <a:srgbClr val="2F3338"/>
                </a:solidFill>
                <a:latin typeface="Segoe UI Semibold"/>
              </a:rPr>
              <a:t>ăț</a:t>
            </a:r>
            <a:r>
              <a:rPr sz="3500" b="1" dirty="0" err="1" smtClean="0">
                <a:solidFill>
                  <a:srgbClr val="2F3338"/>
                </a:solidFill>
                <a:latin typeface="Segoe UI Semibold"/>
              </a:rPr>
              <a:t>ilor</a:t>
            </a:r>
            <a:endParaRPr sz="3500" b="1" dirty="0">
              <a:solidFill>
                <a:srgbClr val="2F3338"/>
              </a:solidFill>
              <a:latin typeface="Segoe UI Semibold"/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1097280" y="2253847"/>
            <a:ext cx="4846320" cy="3232573"/>
          </a:xfrm>
          <a:prstGeom prst="roundRect">
            <a:avLst/>
          </a:prstGeom>
          <a:solidFill>
            <a:srgbClr val="F5F8FC"/>
          </a:solidFill>
          <a:ln w="13970">
            <a:solidFill>
              <a:srgbClr val="D5DF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309360" y="2253847"/>
            <a:ext cx="4846320" cy="3232573"/>
          </a:xfrm>
          <a:prstGeom prst="roundRect">
            <a:avLst/>
          </a:prstGeom>
          <a:solidFill>
            <a:srgbClr val="EEF4FF"/>
          </a:solidFill>
          <a:ln w="13970">
            <a:solidFill>
              <a:srgbClr val="D5DF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325880" y="2436727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00" b="1" i="0" dirty="0" smtClean="0">
                <a:solidFill>
                  <a:srgbClr val="1F4E79"/>
                </a:solidFill>
                <a:latin typeface="Segoe UI"/>
              </a:rPr>
              <a:t>Set</a:t>
            </a:r>
            <a:r>
              <a:rPr lang="ro-RO" sz="1700" b="1" i="0" dirty="0" smtClean="0">
                <a:solidFill>
                  <a:srgbClr val="1F4E79"/>
                </a:solidFill>
                <a:latin typeface="Segoe UI"/>
              </a:rPr>
              <a:t>ă</a:t>
            </a:r>
            <a:r>
              <a:rPr sz="1700" b="1" i="0" dirty="0" err="1" smtClean="0">
                <a:solidFill>
                  <a:srgbClr val="1F4E79"/>
                </a:solidFill>
                <a:latin typeface="Segoe UI"/>
              </a:rPr>
              <a:t>ri</a:t>
            </a:r>
            <a:r>
              <a:rPr sz="1700" b="1" i="0" dirty="0" smtClean="0">
                <a:solidFill>
                  <a:srgbClr val="1F4E79"/>
                </a:solidFill>
                <a:latin typeface="Segoe UI"/>
              </a:rPr>
              <a:t> </a:t>
            </a:r>
            <a:r>
              <a:rPr sz="1700" b="1" i="0" dirty="0">
                <a:solidFill>
                  <a:srgbClr val="1F4E79"/>
                </a:solidFill>
                <a:latin typeface="Segoe UI"/>
              </a:rPr>
              <a:t>de </a:t>
            </a:r>
            <a:r>
              <a:rPr sz="1700" b="1" i="0" dirty="0" err="1" smtClean="0">
                <a:solidFill>
                  <a:srgbClr val="1F4E79"/>
                </a:solidFill>
                <a:latin typeface="Segoe UI"/>
              </a:rPr>
              <a:t>execu</a:t>
            </a:r>
            <a:r>
              <a:rPr lang="ro-RO" sz="1700" b="1" i="0" dirty="0" smtClean="0">
                <a:solidFill>
                  <a:srgbClr val="1F4E79"/>
                </a:solidFill>
                <a:latin typeface="Segoe UI"/>
              </a:rPr>
              <a:t>ț</a:t>
            </a:r>
            <a:r>
              <a:rPr sz="1700" b="1" i="0" dirty="0" err="1" smtClean="0">
                <a:solidFill>
                  <a:srgbClr val="1F4E79"/>
                </a:solidFill>
                <a:latin typeface="Segoe UI"/>
              </a:rPr>
              <a:t>ie</a:t>
            </a:r>
            <a:endParaRPr sz="1700" b="1" i="0" dirty="0">
              <a:solidFill>
                <a:srgbClr val="1F4E79"/>
              </a:solidFill>
              <a:latin typeface="Segoe UI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1325880" y="2848207"/>
            <a:ext cx="4389120" cy="2240280"/>
          </a:xfrm>
          <a:prstGeom prst="roundRect">
            <a:avLst/>
          </a:prstGeom>
          <a:solidFill>
            <a:srgbClr val="1E1E1E"/>
          </a:solidFill>
          <a:ln w="13970">
            <a:solidFill>
              <a:srgbClr val="2D2D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490472" y="2939647"/>
            <a:ext cx="40599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9CDCFE"/>
                </a:solidFill>
                <a:latin typeface="Consolas"/>
              </a:rPr>
              <a:t>runProperty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90472" y="3232255"/>
            <a:ext cx="4059935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D4D4D4"/>
                </a:solidFill>
                <a:latin typeface="Consolas"/>
              </a:rPr>
              <a:t>runProperty descr prop = do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D4D4D4"/>
                </a:solidFill>
                <a:latin typeface="Consolas"/>
              </a:rPr>
              <a:t>  putStrLn ("-- " ++ descr)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D4D4D4"/>
                </a:solidFill>
                <a:latin typeface="Consolas"/>
              </a:rPr>
              <a:t>  quickCheckWith stdArgs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D4D4D4"/>
                </a:solidFill>
                <a:latin typeface="Consolas"/>
              </a:rPr>
              <a:t>    { maxSuccess = 120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D4D4D4"/>
                </a:solidFill>
                <a:latin typeface="Consolas"/>
              </a:rPr>
              <a:t>    , maxSize = 12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D4D4D4"/>
                </a:solidFill>
                <a:latin typeface="Consolas"/>
              </a:rPr>
              <a:t>    } prop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7960" y="2436727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700" b="1" i="0" dirty="0" err="1">
                <a:solidFill>
                  <a:srgbClr val="1F4E79"/>
                </a:solidFill>
                <a:latin typeface="Segoe UI"/>
              </a:rPr>
              <a:t>Ordinea</a:t>
            </a:r>
            <a:r>
              <a:rPr sz="1700" b="1" i="0" dirty="0">
                <a:solidFill>
                  <a:srgbClr val="1F4E79"/>
                </a:solidFill>
                <a:latin typeface="Segoe UI"/>
              </a:rPr>
              <a:t> </a:t>
            </a:r>
            <a:r>
              <a:rPr sz="1700" b="1" i="0" dirty="0" err="1" smtClean="0">
                <a:solidFill>
                  <a:srgbClr val="1F4E79"/>
                </a:solidFill>
                <a:latin typeface="Segoe UI"/>
              </a:rPr>
              <a:t>rulat</a:t>
            </a:r>
            <a:r>
              <a:rPr lang="ro-RO" sz="1700" b="1" i="0" dirty="0" smtClean="0">
                <a:solidFill>
                  <a:srgbClr val="1F4E79"/>
                </a:solidFill>
                <a:latin typeface="Segoe UI"/>
              </a:rPr>
              <a:t>ă</a:t>
            </a:r>
            <a:r>
              <a:rPr sz="1700" b="1" i="0" dirty="0" smtClean="0">
                <a:solidFill>
                  <a:srgbClr val="1F4E79"/>
                </a:solidFill>
                <a:latin typeface="Segoe UI"/>
              </a:rPr>
              <a:t> </a:t>
            </a:r>
            <a:r>
              <a:rPr lang="ro-RO" sz="1700" b="1" dirty="0">
                <a:solidFill>
                  <a:srgbClr val="1F4E79"/>
                </a:solidFill>
                <a:latin typeface="Segoe UI"/>
              </a:rPr>
              <a:t>î</a:t>
            </a:r>
            <a:r>
              <a:rPr sz="1700" b="1" i="0" dirty="0" smtClean="0">
                <a:solidFill>
                  <a:srgbClr val="1F4E79"/>
                </a:solidFill>
                <a:latin typeface="Segoe UI"/>
              </a:rPr>
              <a:t>n </a:t>
            </a:r>
            <a:r>
              <a:rPr sz="1700" b="1" i="0" dirty="0">
                <a:solidFill>
                  <a:srgbClr val="1F4E79"/>
                </a:solidFill>
                <a:latin typeface="Segoe UI"/>
              </a:rPr>
              <a:t>main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2848207"/>
            <a:ext cx="4389120" cy="3611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F3338"/>
                </a:solidFill>
                <a:latin typeface="Segoe UI"/>
              </a:rPr>
              <a:t>- 2 proprietati semantice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F3338"/>
                </a:solidFill>
                <a:latin typeface="Segoe UI"/>
              </a:rPr>
              <a:t>- 4 proprietati structurale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F3338"/>
                </a:solidFill>
                <a:latin typeface="Segoe UI"/>
              </a:rPr>
              <a:t>- 4 proprietati algebrice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F3338"/>
                </a:solidFill>
                <a:latin typeface="Segoe UI"/>
              </a:rPr>
              <a:t>- 3 neutre/absorbante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F3338"/>
                </a:solidFill>
                <a:latin typeface="Segoe UI"/>
              </a:rPr>
              <a:t>- 2 negatie/scadere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F3338"/>
                </a:solidFill>
                <a:latin typeface="Segoe UI"/>
              </a:rPr>
              <a:t>- 1 substitutie (total: 16)</a:t>
            </a:r>
          </a:p>
        </p:txBody>
      </p:sp>
    </p:spTree>
    <p:extLst>
      <p:ext uri="{BB962C8B-B14F-4D97-AF65-F5344CB8AC3E}">
        <p14:creationId xmlns:p14="http://schemas.microsoft.com/office/powerpoint/2010/main" val="279470907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500" b="1" dirty="0" err="1">
                <a:solidFill>
                  <a:srgbClr val="2F3338"/>
                </a:solidFill>
                <a:latin typeface="Segoe UI Semibold"/>
              </a:rPr>
              <a:t>Rezultate</a:t>
            </a:r>
            <a:r>
              <a:rPr sz="3500" b="1" dirty="0">
                <a:solidFill>
                  <a:srgbClr val="2F3338"/>
                </a:solidFill>
                <a:latin typeface="Segoe UI Semibold"/>
              </a:rPr>
              <a:t> </a:t>
            </a:r>
            <a:r>
              <a:rPr sz="3500" b="1" dirty="0" err="1">
                <a:solidFill>
                  <a:srgbClr val="2F3338"/>
                </a:solidFill>
                <a:latin typeface="Segoe UI Semibold"/>
              </a:rPr>
              <a:t>reale</a:t>
            </a:r>
            <a:r>
              <a:rPr sz="3500" b="1" dirty="0">
                <a:solidFill>
                  <a:srgbClr val="2F3338"/>
                </a:solidFill>
                <a:latin typeface="Segoe UI Semibold"/>
              </a:rPr>
              <a:t> din spec.exe (</a:t>
            </a:r>
            <a:r>
              <a:rPr sz="3500" b="1" dirty="0" err="1">
                <a:solidFill>
                  <a:srgbClr val="2F3338"/>
                </a:solidFill>
                <a:latin typeface="Segoe UI Semibold"/>
              </a:rPr>
              <a:t>rulare</a:t>
            </a:r>
            <a:r>
              <a:rPr sz="3500" b="1" dirty="0">
                <a:solidFill>
                  <a:srgbClr val="2F3338"/>
                </a:solidFill>
                <a:latin typeface="Segoe UI Semibold"/>
              </a:rPr>
              <a:t> </a:t>
            </a:r>
            <a:r>
              <a:rPr sz="3500" b="1" dirty="0" err="1" smtClean="0">
                <a:solidFill>
                  <a:srgbClr val="2F3338"/>
                </a:solidFill>
                <a:latin typeface="Segoe UI Semibold"/>
              </a:rPr>
              <a:t>curent</a:t>
            </a:r>
            <a:r>
              <a:rPr lang="ro-RO" sz="3500" b="1" dirty="0" smtClean="0">
                <a:solidFill>
                  <a:srgbClr val="2F3338"/>
                </a:solidFill>
                <a:latin typeface="Segoe UI Semibold"/>
              </a:rPr>
              <a:t>ă</a:t>
            </a:r>
            <a:r>
              <a:rPr sz="3500" b="1" dirty="0" smtClean="0">
                <a:solidFill>
                  <a:srgbClr val="2F3338"/>
                </a:solidFill>
                <a:latin typeface="Segoe UI Semibold"/>
              </a:rPr>
              <a:t>)</a:t>
            </a:r>
            <a:endParaRPr sz="3500" b="1" dirty="0">
              <a:solidFill>
                <a:srgbClr val="2F3338"/>
              </a:solidFill>
              <a:latin typeface="Segoe UI Semibold"/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1097280" y="2524791"/>
            <a:ext cx="10058400" cy="2707640"/>
          </a:xfrm>
          <a:prstGeom prst="roundRect">
            <a:avLst/>
          </a:prstGeom>
          <a:solidFill>
            <a:srgbClr val="1E1E1E"/>
          </a:solidFill>
          <a:ln w="13970">
            <a:solidFill>
              <a:srgbClr val="2D2D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261872" y="2616231"/>
            <a:ext cx="972921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9CDCFE"/>
                </a:solidFill>
                <a:latin typeface="Consolas"/>
              </a:rPr>
              <a:t>Output observat local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61872" y="2908839"/>
            <a:ext cx="9729216" cy="40507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D4D4D4"/>
                </a:solidFill>
                <a:latin typeface="Consolas"/>
              </a:rPr>
              <a:t>+++ OK, passed 120 tests: simplify preserves meaning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D4D4D4"/>
                </a:solidFill>
                <a:latin typeface="Consolas"/>
              </a:rPr>
              <a:t>68.3% cu variabile | 31.7% fara variabile | 20.8% expr mare (&gt;8)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endParaRPr sz="1150" b="0" i="0">
              <a:solidFill>
                <a:srgbClr val="D4D4D4"/>
              </a:solidFill>
              <a:latin typeface="Consolas"/>
            </a:endParaRP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D4D4D4"/>
                </a:solidFill>
                <a:latin typeface="Consolas"/>
              </a:rPr>
              <a:t>+++ OK, passed 120 tests: pretty-parse preserves meaning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D4D4D4"/>
                </a:solidFill>
                <a:latin typeface="Consolas"/>
              </a:rPr>
              <a:t>28.3% expresie terminala | 24.2% adancime &gt; 4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endParaRPr sz="1150" b="0" i="0">
              <a:solidFill>
                <a:srgbClr val="D4D4D4"/>
              </a:solidFill>
              <a:latin typeface="Consolas"/>
            </a:endParaRP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D4D4D4"/>
                </a:solidFill>
                <a:latin typeface="Consolas"/>
              </a:rPr>
              <a:t>+++ OK, passed 120 tests: add commutative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D4D4D4"/>
                </a:solidFill>
                <a:latin typeface="Consolas"/>
              </a:rPr>
              <a:t>52.5% expresii mari | 16.7% expresii mici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endParaRPr sz="1150" b="0" i="0">
              <a:solidFill>
                <a:srgbClr val="D4D4D4"/>
              </a:solidFill>
              <a:latin typeface="Consolas"/>
            </a:endParaRP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D4D4D4"/>
                </a:solidFill>
                <a:latin typeface="Consolas"/>
              </a:rPr>
              <a:t>[... toate cele 16 proprietati: PASS ...]</a:t>
            </a:r>
          </a:p>
        </p:txBody>
      </p:sp>
    </p:spTree>
    <p:extLst>
      <p:ext uri="{BB962C8B-B14F-4D97-AF65-F5344CB8AC3E}">
        <p14:creationId xmlns:p14="http://schemas.microsoft.com/office/powerpoint/2010/main" val="302502517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500" b="1" dirty="0" err="1">
                <a:solidFill>
                  <a:srgbClr val="2F3338"/>
                </a:solidFill>
                <a:latin typeface="Segoe UI Semibold"/>
              </a:rPr>
              <a:t>Configurare</a:t>
            </a:r>
            <a:r>
              <a:rPr sz="3500" b="1" dirty="0">
                <a:solidFill>
                  <a:srgbClr val="2F3338"/>
                </a:solidFill>
                <a:latin typeface="Segoe UI Semibold"/>
              </a:rPr>
              <a:t> </a:t>
            </a:r>
            <a:r>
              <a:rPr sz="3500" b="1" dirty="0" err="1">
                <a:solidFill>
                  <a:srgbClr val="2F3338"/>
                </a:solidFill>
                <a:latin typeface="Segoe UI Semibold"/>
              </a:rPr>
              <a:t>proiect</a:t>
            </a:r>
            <a:r>
              <a:rPr sz="3500" b="1" dirty="0">
                <a:solidFill>
                  <a:srgbClr val="2F3338"/>
                </a:solidFill>
                <a:latin typeface="Segoe UI Semibold"/>
              </a:rPr>
              <a:t> din </a:t>
            </a:r>
            <a:r>
              <a:rPr sz="3500" b="1" dirty="0" smtClean="0">
                <a:solidFill>
                  <a:srgbClr val="2F3338"/>
                </a:solidFill>
                <a:latin typeface="Segoe UI Semibold"/>
              </a:rPr>
              <a:t>fi</a:t>
            </a:r>
            <a:r>
              <a:rPr lang="ro-RO" sz="3500" b="1" dirty="0" smtClean="0">
                <a:solidFill>
                  <a:srgbClr val="2F3338"/>
                </a:solidFill>
                <a:latin typeface="Segoe UI Semibold"/>
              </a:rPr>
              <a:t>ș</a:t>
            </a:r>
            <a:r>
              <a:rPr sz="3500" b="1" dirty="0" err="1" smtClean="0">
                <a:solidFill>
                  <a:srgbClr val="2F3338"/>
                </a:solidFill>
                <a:latin typeface="Segoe UI Semibold"/>
              </a:rPr>
              <a:t>ierul</a:t>
            </a:r>
            <a:r>
              <a:rPr sz="3500" b="1" dirty="0" smtClean="0">
                <a:solidFill>
                  <a:srgbClr val="2F3338"/>
                </a:solidFill>
                <a:latin typeface="Segoe UI Semibold"/>
              </a:rPr>
              <a:t> </a:t>
            </a:r>
            <a:r>
              <a:rPr sz="3500" b="1" dirty="0">
                <a:solidFill>
                  <a:srgbClr val="2F3338"/>
                </a:solidFill>
                <a:latin typeface="Segoe UI Semibold"/>
              </a:rPr>
              <a:t>.cabal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97280" y="2252132"/>
            <a:ext cx="10058400" cy="4011507"/>
          </a:xfrm>
          <a:prstGeom prst="roundRect">
            <a:avLst/>
          </a:prstGeom>
          <a:solidFill>
            <a:srgbClr val="F5F8FC"/>
          </a:solidFill>
          <a:ln w="13970">
            <a:solidFill>
              <a:srgbClr val="D5DF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25880" y="2482447"/>
            <a:ext cx="96012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0" dirty="0">
                <a:solidFill>
                  <a:srgbClr val="2F3338"/>
                </a:solidFill>
                <a:latin typeface="Segoe UI"/>
              </a:rPr>
              <a:t>- library: 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modulele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Expr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, 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Eval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, Pretty, Parser, Simplify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0" dirty="0">
                <a:solidFill>
                  <a:srgbClr val="2F3338"/>
                </a:solidFill>
                <a:latin typeface="Segoe UI"/>
              </a:rPr>
              <a:t>- executable: 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mfis-quickcheck-expr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 (app/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Main.hs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0" dirty="0">
                <a:solidFill>
                  <a:srgbClr val="2F3338"/>
                </a:solidFill>
                <a:latin typeface="Segoe UI"/>
              </a:rPr>
              <a:t>- test-suite: spec (test/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Spec.hs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, type exitcode-stdio-1.0)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0" dirty="0">
                <a:solidFill>
                  <a:srgbClr val="2F3338"/>
                </a:solidFill>
                <a:latin typeface="Segoe UI"/>
              </a:rPr>
              <a:t>- 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dependinte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: base, containers, 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QuickCheck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 &gt;=2.14 &amp;&amp; &lt;3 (in test-suite)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0" dirty="0">
                <a:solidFill>
                  <a:srgbClr val="2F3338"/>
                </a:solidFill>
                <a:latin typeface="Segoe UI"/>
              </a:rPr>
              <a:t>- 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ghc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-options: set consistent de warning-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uri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 (-Wall, -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Wcompat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 etc.)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25880" y="4128331"/>
            <a:ext cx="9601200" cy="1600200"/>
          </a:xfrm>
          <a:prstGeom prst="roundRect">
            <a:avLst/>
          </a:prstGeom>
          <a:solidFill>
            <a:srgbClr val="1E1E1E"/>
          </a:solidFill>
          <a:ln w="13970">
            <a:solidFill>
              <a:srgbClr val="2D2D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490472" y="4219771"/>
            <a:ext cx="927201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9CDCFE"/>
                </a:solidFill>
                <a:latin typeface="Consolas"/>
              </a:rPr>
              <a:t>Componente declarate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90472" y="4512379"/>
            <a:ext cx="9272016" cy="11247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D4D4D4"/>
                </a:solidFill>
                <a:latin typeface="Consolas"/>
              </a:rPr>
              <a:t>library -&gt; src/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D4D4D4"/>
                </a:solidFill>
                <a:latin typeface="Consolas"/>
              </a:rPr>
              <a:t>executable mfis-quickcheck-expr -&gt; app/Main.hs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D4D4D4"/>
                </a:solidFill>
                <a:latin typeface="Consolas"/>
              </a:rPr>
              <a:t>test-suite spec -&gt; test/Spec.hs</a:t>
            </a:r>
          </a:p>
        </p:txBody>
      </p:sp>
    </p:spTree>
    <p:extLst>
      <p:ext uri="{BB962C8B-B14F-4D97-AF65-F5344CB8AC3E}">
        <p14:creationId xmlns:p14="http://schemas.microsoft.com/office/powerpoint/2010/main" val="160465116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500" b="1" dirty="0" smtClean="0">
                <a:solidFill>
                  <a:srgbClr val="2F3338"/>
                </a:solidFill>
                <a:latin typeface="Segoe UI Semibold"/>
              </a:rPr>
              <a:t>Limit</a:t>
            </a:r>
            <a:r>
              <a:rPr lang="ro-RO" sz="3500" b="1" dirty="0" smtClean="0">
                <a:solidFill>
                  <a:srgbClr val="2F3338"/>
                </a:solidFill>
                <a:latin typeface="Segoe UI Semibold"/>
              </a:rPr>
              <a:t>ă</a:t>
            </a:r>
            <a:r>
              <a:rPr sz="3500" b="1" dirty="0" err="1" smtClean="0">
                <a:solidFill>
                  <a:srgbClr val="2F3338"/>
                </a:solidFill>
                <a:latin typeface="Segoe UI Semibold"/>
              </a:rPr>
              <a:t>ri</a:t>
            </a:r>
            <a:r>
              <a:rPr sz="3500" b="1" dirty="0" smtClean="0">
                <a:solidFill>
                  <a:srgbClr val="2F3338"/>
                </a:solidFill>
                <a:latin typeface="Segoe UI Semibold"/>
              </a:rPr>
              <a:t> </a:t>
            </a:r>
            <a:r>
              <a:rPr sz="3500" b="1" dirty="0">
                <a:solidFill>
                  <a:srgbClr val="2F3338"/>
                </a:solidFill>
                <a:latin typeface="Segoe UI Semibold"/>
              </a:rPr>
              <a:t>concrete ale </a:t>
            </a:r>
            <a:r>
              <a:rPr sz="3500" b="1" dirty="0" smtClean="0">
                <a:solidFill>
                  <a:srgbClr val="2F3338"/>
                </a:solidFill>
                <a:latin typeface="Segoe UI Semibold"/>
              </a:rPr>
              <a:t>implement</a:t>
            </a:r>
            <a:r>
              <a:rPr lang="ro-RO" sz="3500" b="1" dirty="0" smtClean="0">
                <a:solidFill>
                  <a:srgbClr val="2F3338"/>
                </a:solidFill>
                <a:latin typeface="Segoe UI Semibold"/>
              </a:rPr>
              <a:t>ă</a:t>
            </a:r>
            <a:r>
              <a:rPr sz="3500" b="1" dirty="0" err="1" smtClean="0">
                <a:solidFill>
                  <a:srgbClr val="2F3338"/>
                </a:solidFill>
                <a:latin typeface="Segoe UI Semibold"/>
              </a:rPr>
              <a:t>rii</a:t>
            </a:r>
            <a:r>
              <a:rPr sz="3500" b="1" dirty="0" smtClean="0">
                <a:solidFill>
                  <a:srgbClr val="2F3338"/>
                </a:solidFill>
                <a:latin typeface="Segoe UI Semibold"/>
              </a:rPr>
              <a:t> </a:t>
            </a:r>
            <a:r>
              <a:rPr sz="3500" b="1" dirty="0" err="1">
                <a:solidFill>
                  <a:srgbClr val="2F3338"/>
                </a:solidFill>
                <a:latin typeface="Segoe UI Semibold"/>
              </a:rPr>
              <a:t>actuale</a:t>
            </a:r>
            <a:endParaRPr sz="3500" b="1" dirty="0">
              <a:solidFill>
                <a:srgbClr val="2F3338"/>
              </a:solidFill>
              <a:latin typeface="Segoe UI Semibold"/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1097280" y="2355451"/>
            <a:ext cx="10058400" cy="2724573"/>
          </a:xfrm>
          <a:prstGeom prst="roundRect">
            <a:avLst/>
          </a:prstGeom>
          <a:solidFill>
            <a:srgbClr val="FFF7ED"/>
          </a:solidFill>
          <a:ln w="13970">
            <a:solidFill>
              <a:srgbClr val="FDBA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25880" y="2900715"/>
            <a:ext cx="9601200" cy="1349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0" dirty="0">
                <a:solidFill>
                  <a:srgbClr val="2F3338"/>
                </a:solidFill>
                <a:latin typeface="Segoe UI"/>
              </a:rPr>
              <a:t>- 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Limbajul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 include 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doar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Int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 + 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operatori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 Add/Sub/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Mul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/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Neg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 (</a:t>
            </a:r>
            <a:r>
              <a:rPr sz="1500" b="0" i="0" dirty="0" smtClean="0">
                <a:solidFill>
                  <a:srgbClr val="2F3338"/>
                </a:solidFill>
                <a:latin typeface="Segoe UI"/>
              </a:rPr>
              <a:t>f</a:t>
            </a:r>
            <a:r>
              <a:rPr lang="ro-RO" sz="1500" b="0" i="0" dirty="0" smtClean="0">
                <a:solidFill>
                  <a:srgbClr val="2F3338"/>
                </a:solidFill>
                <a:latin typeface="Segoe UI"/>
              </a:rPr>
              <a:t>ă</a:t>
            </a:r>
            <a:r>
              <a:rPr sz="1500" b="0" i="0" dirty="0" smtClean="0">
                <a:solidFill>
                  <a:srgbClr val="2F3338"/>
                </a:solidFill>
                <a:latin typeface="Segoe UI"/>
              </a:rPr>
              <a:t>r</a:t>
            </a:r>
            <a:r>
              <a:rPr lang="ro-RO" sz="1500" b="0" i="0" dirty="0" smtClean="0">
                <a:solidFill>
                  <a:srgbClr val="2F3338"/>
                </a:solidFill>
                <a:latin typeface="Segoe UI"/>
              </a:rPr>
              <a:t>ă</a:t>
            </a:r>
            <a:r>
              <a:rPr sz="1500" b="0" i="0" dirty="0" smtClean="0">
                <a:solidFill>
                  <a:srgbClr val="2F3338"/>
                </a:solidFill>
                <a:latin typeface="Segoe UI"/>
              </a:rPr>
              <a:t> </a:t>
            </a:r>
            <a:r>
              <a:rPr lang="ro-RO" sz="1500" dirty="0">
                <a:solidFill>
                  <a:srgbClr val="2F3338"/>
                </a:solidFill>
                <a:latin typeface="Segoe UI"/>
              </a:rPr>
              <a:t>î</a:t>
            </a:r>
            <a:r>
              <a:rPr sz="1500" b="0" i="0" dirty="0" err="1" smtClean="0">
                <a:solidFill>
                  <a:srgbClr val="2F3338"/>
                </a:solidFill>
                <a:latin typeface="Segoe UI"/>
              </a:rPr>
              <a:t>mp</a:t>
            </a:r>
            <a:r>
              <a:rPr lang="ro-RO" sz="1500" b="0" i="0" dirty="0" smtClean="0">
                <a:solidFill>
                  <a:srgbClr val="2F3338"/>
                </a:solidFill>
                <a:latin typeface="Segoe UI"/>
              </a:rPr>
              <a:t>ă</a:t>
            </a:r>
            <a:r>
              <a:rPr sz="1500" b="0" i="0" dirty="0" smtClean="0">
                <a:solidFill>
                  <a:srgbClr val="2F3338"/>
                </a:solidFill>
                <a:latin typeface="Segoe UI"/>
              </a:rPr>
              <a:t>r</a:t>
            </a:r>
            <a:r>
              <a:rPr lang="ro-RO" sz="1500" b="0" i="0" dirty="0" smtClean="0">
                <a:solidFill>
                  <a:srgbClr val="2F3338"/>
                </a:solidFill>
                <a:latin typeface="Segoe UI"/>
              </a:rPr>
              <a:t>ț</a:t>
            </a:r>
            <a:r>
              <a:rPr sz="1500" b="0" i="0" dirty="0" smtClean="0">
                <a:solidFill>
                  <a:srgbClr val="2F3338"/>
                </a:solidFill>
                <a:latin typeface="Segoe UI"/>
              </a:rPr>
              <a:t>ire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, </a:t>
            </a:r>
            <a:r>
              <a:rPr sz="1500" b="0" i="0" dirty="0" err="1" smtClean="0">
                <a:solidFill>
                  <a:srgbClr val="2F3338"/>
                </a:solidFill>
                <a:latin typeface="Segoe UI"/>
              </a:rPr>
              <a:t>compara</a:t>
            </a:r>
            <a:r>
              <a:rPr lang="ro-RO" sz="1500" b="0" i="0" dirty="0" smtClean="0">
                <a:solidFill>
                  <a:srgbClr val="2F3338"/>
                </a:solidFill>
                <a:latin typeface="Segoe UI"/>
              </a:rPr>
              <a:t>ț</a:t>
            </a:r>
            <a:r>
              <a:rPr sz="1500" b="0" i="0" dirty="0" smtClean="0">
                <a:solidFill>
                  <a:srgbClr val="2F3338"/>
                </a:solidFill>
                <a:latin typeface="Segoe UI"/>
              </a:rPr>
              <a:t>ii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, 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booleene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).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0" dirty="0">
                <a:solidFill>
                  <a:srgbClr val="2F3338"/>
                </a:solidFill>
                <a:latin typeface="Segoe UI"/>
              </a:rPr>
              <a:t>- 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parseExpr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lang="ro-RO" sz="1500" dirty="0" err="1">
                <a:solidFill>
                  <a:srgbClr val="2F3338"/>
                </a:solidFill>
                <a:latin typeface="Segoe UI"/>
              </a:rPr>
              <a:t>î</a:t>
            </a:r>
            <a:r>
              <a:rPr sz="1500" b="0" i="0" dirty="0" err="1" smtClean="0">
                <a:solidFill>
                  <a:srgbClr val="2F3338"/>
                </a:solidFill>
                <a:latin typeface="Segoe UI"/>
              </a:rPr>
              <a:t>ntoarce</a:t>
            </a:r>
            <a:r>
              <a:rPr sz="1500" b="0" i="0" dirty="0" smtClean="0">
                <a:solidFill>
                  <a:srgbClr val="2F3338"/>
                </a:solidFill>
                <a:latin typeface="Segoe UI"/>
              </a:rPr>
              <a:t> 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Maybe 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Expr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, 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deci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 nu </a:t>
            </a:r>
            <a:r>
              <a:rPr sz="1500" b="0" i="0" dirty="0" err="1" smtClean="0">
                <a:solidFill>
                  <a:srgbClr val="2F3338"/>
                </a:solidFill>
                <a:latin typeface="Segoe UI"/>
              </a:rPr>
              <a:t>ofer</a:t>
            </a:r>
            <a:r>
              <a:rPr lang="ro-RO" sz="1500" b="0" i="0" dirty="0" smtClean="0">
                <a:solidFill>
                  <a:srgbClr val="2F3338"/>
                </a:solidFill>
                <a:latin typeface="Segoe UI"/>
              </a:rPr>
              <a:t>ă</a:t>
            </a:r>
            <a:r>
              <a:rPr sz="1500" b="0" i="0" dirty="0" smtClean="0">
                <a:solidFill>
                  <a:srgbClr val="2F3338"/>
                </a:solidFill>
                <a:latin typeface="Segoe UI"/>
              </a:rPr>
              <a:t> 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mesaj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 de 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eroare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detaliat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 la 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parsare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0" dirty="0">
                <a:solidFill>
                  <a:srgbClr val="2F3338"/>
                </a:solidFill>
                <a:latin typeface="Segoe UI"/>
              </a:rPr>
              <a:t>- 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variablePool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este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finit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 (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x,y,z,u,v,w,a,b,c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), 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deci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varietatea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numelor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este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500" b="0" i="0" dirty="0" err="1" smtClean="0">
                <a:solidFill>
                  <a:srgbClr val="2F3338"/>
                </a:solidFill>
                <a:latin typeface="Segoe UI"/>
              </a:rPr>
              <a:t>controlat</a:t>
            </a:r>
            <a:r>
              <a:rPr lang="ro-RO" sz="1500" b="0" i="0" dirty="0" smtClean="0">
                <a:solidFill>
                  <a:srgbClr val="2F3338"/>
                </a:solidFill>
                <a:latin typeface="Segoe UI"/>
              </a:rPr>
              <a:t>ă</a:t>
            </a:r>
            <a:r>
              <a:rPr sz="1500" b="0" i="0" dirty="0" smtClean="0">
                <a:solidFill>
                  <a:srgbClr val="2F3338"/>
                </a:solidFill>
                <a:latin typeface="Segoe UI"/>
              </a:rPr>
              <a:t>.</a:t>
            </a:r>
            <a:endParaRPr sz="1500" b="0" i="0" dirty="0">
              <a:solidFill>
                <a:srgbClr val="2F3338"/>
              </a:solidFill>
              <a:latin typeface="Segoe UI"/>
            </a:endParaRP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0" dirty="0">
                <a:solidFill>
                  <a:srgbClr val="2F3338"/>
                </a:solidFill>
                <a:latin typeface="Segoe UI"/>
              </a:rPr>
              <a:t>- 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Distribuirea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constructorilor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este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500" b="0" i="0" dirty="0" smtClean="0">
                <a:solidFill>
                  <a:srgbClr val="2F3338"/>
                </a:solidFill>
                <a:latin typeface="Segoe UI"/>
              </a:rPr>
              <a:t>fix</a:t>
            </a:r>
            <a:r>
              <a:rPr lang="ro-RO" sz="1500" b="0" i="0" dirty="0" smtClean="0">
                <a:solidFill>
                  <a:srgbClr val="2F3338"/>
                </a:solidFill>
                <a:latin typeface="Segoe UI"/>
              </a:rPr>
              <a:t>ă</a:t>
            </a:r>
            <a:r>
              <a:rPr sz="1500" b="0" i="0" dirty="0" smtClean="0">
                <a:solidFill>
                  <a:srgbClr val="2F3338"/>
                </a:solidFill>
                <a:latin typeface="Segoe UI"/>
              </a:rPr>
              <a:t> </a:t>
            </a:r>
            <a:r>
              <a:rPr lang="ro-RO" sz="1500" dirty="0">
                <a:solidFill>
                  <a:srgbClr val="2F3338"/>
                </a:solidFill>
                <a:latin typeface="Segoe UI"/>
              </a:rPr>
              <a:t>î</a:t>
            </a:r>
            <a:r>
              <a:rPr sz="1500" b="0" i="0" dirty="0" smtClean="0">
                <a:solidFill>
                  <a:srgbClr val="2F3338"/>
                </a:solidFill>
                <a:latin typeface="Segoe UI"/>
              </a:rPr>
              <a:t>n 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generator (frequency), </a:t>
            </a:r>
            <a:r>
              <a:rPr sz="1500" b="0" i="0" dirty="0" err="1" smtClean="0">
                <a:solidFill>
                  <a:srgbClr val="2F3338"/>
                </a:solidFill>
                <a:latin typeface="Segoe UI"/>
              </a:rPr>
              <a:t>necesit</a:t>
            </a:r>
            <a:r>
              <a:rPr lang="ro-RO" sz="1500" b="0" i="0" dirty="0" smtClean="0">
                <a:solidFill>
                  <a:srgbClr val="2F3338"/>
                </a:solidFill>
                <a:latin typeface="Segoe UI"/>
              </a:rPr>
              <a:t>â</a:t>
            </a:r>
            <a:r>
              <a:rPr sz="1500" b="0" i="0" dirty="0" err="1" smtClean="0">
                <a:solidFill>
                  <a:srgbClr val="2F3338"/>
                </a:solidFill>
                <a:latin typeface="Segoe UI"/>
              </a:rPr>
              <a:t>nd</a:t>
            </a:r>
            <a:r>
              <a:rPr sz="1500" b="0" i="0" dirty="0" smtClean="0">
                <a:solidFill>
                  <a:srgbClr val="2F3338"/>
                </a:solidFill>
                <a:latin typeface="Segoe UI"/>
              </a:rPr>
              <a:t> 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recalibrare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 la 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extinderea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 AST-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ului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0" i="0" dirty="0">
                <a:solidFill>
                  <a:srgbClr val="2F3338"/>
                </a:solidFill>
                <a:latin typeface="Segoe UI"/>
              </a:rPr>
              <a:t>- 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Testarea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este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500" b="0" i="0" dirty="0" smtClean="0">
                <a:solidFill>
                  <a:srgbClr val="2F3338"/>
                </a:solidFill>
                <a:latin typeface="Segoe UI"/>
              </a:rPr>
              <a:t>probabilistic</a:t>
            </a:r>
            <a:r>
              <a:rPr lang="ro-RO" sz="1500" b="0" i="0" dirty="0" smtClean="0">
                <a:solidFill>
                  <a:srgbClr val="2F3338"/>
                </a:solidFill>
                <a:latin typeface="Segoe UI"/>
              </a:rPr>
              <a:t>ă</a:t>
            </a:r>
            <a:r>
              <a:rPr sz="1500" b="0" i="0" dirty="0" smtClean="0">
                <a:solidFill>
                  <a:srgbClr val="2F3338"/>
                </a:solidFill>
                <a:latin typeface="Segoe UI"/>
              </a:rPr>
              <a:t>: 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trecerea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 </a:t>
            </a:r>
            <a:r>
              <a:rPr sz="1500" b="0" i="0" dirty="0" err="1">
                <a:solidFill>
                  <a:srgbClr val="2F3338"/>
                </a:solidFill>
                <a:latin typeface="Segoe UI"/>
              </a:rPr>
              <a:t>testelor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 nu </a:t>
            </a:r>
            <a:r>
              <a:rPr sz="1500" b="0" i="0" dirty="0" err="1" smtClean="0">
                <a:solidFill>
                  <a:srgbClr val="2F3338"/>
                </a:solidFill>
                <a:latin typeface="Segoe UI"/>
              </a:rPr>
              <a:t>echivaleaz</a:t>
            </a:r>
            <a:r>
              <a:rPr lang="ro-RO" sz="1500" b="0" i="0" dirty="0" smtClean="0">
                <a:solidFill>
                  <a:srgbClr val="2F3338"/>
                </a:solidFill>
                <a:latin typeface="Segoe UI"/>
              </a:rPr>
              <a:t>ă</a:t>
            </a:r>
            <a:r>
              <a:rPr sz="1500" b="0" i="0" dirty="0" smtClean="0">
                <a:solidFill>
                  <a:srgbClr val="2F3338"/>
                </a:solidFill>
                <a:latin typeface="Segoe UI"/>
              </a:rPr>
              <a:t> </a:t>
            </a:r>
            <a:r>
              <a:rPr sz="1500" b="0" i="0" dirty="0">
                <a:solidFill>
                  <a:srgbClr val="2F3338"/>
                </a:solidFill>
                <a:latin typeface="Segoe UI"/>
              </a:rPr>
              <a:t>cu </a:t>
            </a:r>
            <a:r>
              <a:rPr sz="1500" b="0" i="0" dirty="0" err="1" smtClean="0">
                <a:solidFill>
                  <a:srgbClr val="2F3338"/>
                </a:solidFill>
                <a:latin typeface="Segoe UI"/>
              </a:rPr>
              <a:t>demonstra</a:t>
            </a:r>
            <a:r>
              <a:rPr lang="ro-RO" sz="1500" b="0" i="0" dirty="0" smtClean="0">
                <a:solidFill>
                  <a:srgbClr val="2F3338"/>
                </a:solidFill>
                <a:latin typeface="Segoe UI"/>
              </a:rPr>
              <a:t>ț</a:t>
            </a:r>
            <a:r>
              <a:rPr sz="1500" b="0" i="0" dirty="0" err="1" smtClean="0">
                <a:solidFill>
                  <a:srgbClr val="2F3338"/>
                </a:solidFill>
                <a:latin typeface="Segoe UI"/>
              </a:rPr>
              <a:t>ie</a:t>
            </a:r>
            <a:r>
              <a:rPr sz="1500" b="0" i="0" dirty="0" smtClean="0">
                <a:solidFill>
                  <a:srgbClr val="2F3338"/>
                </a:solidFill>
                <a:latin typeface="Segoe UI"/>
              </a:rPr>
              <a:t> </a:t>
            </a:r>
            <a:r>
              <a:rPr sz="1500" b="0" i="0" dirty="0" err="1" smtClean="0">
                <a:solidFill>
                  <a:srgbClr val="2F3338"/>
                </a:solidFill>
                <a:latin typeface="Segoe UI"/>
              </a:rPr>
              <a:t>matematic</a:t>
            </a:r>
            <a:r>
              <a:rPr lang="ro-RO" sz="1500" b="0" i="0" dirty="0" smtClean="0">
                <a:solidFill>
                  <a:srgbClr val="2F3338"/>
                </a:solidFill>
                <a:latin typeface="Segoe UI"/>
              </a:rPr>
              <a:t>ă</a:t>
            </a:r>
            <a:r>
              <a:rPr sz="1500" b="0" i="0" dirty="0" smtClean="0">
                <a:solidFill>
                  <a:srgbClr val="2F3338"/>
                </a:solidFill>
                <a:latin typeface="Segoe UI"/>
              </a:rPr>
              <a:t> </a:t>
            </a:r>
            <a:r>
              <a:rPr sz="1500" b="0" i="0" dirty="0" err="1" smtClean="0">
                <a:solidFill>
                  <a:srgbClr val="2F3338"/>
                </a:solidFill>
                <a:latin typeface="Segoe UI"/>
              </a:rPr>
              <a:t>complet</a:t>
            </a:r>
            <a:r>
              <a:rPr lang="ro-RO" sz="1500" b="0" i="0" dirty="0" smtClean="0">
                <a:solidFill>
                  <a:srgbClr val="2F3338"/>
                </a:solidFill>
                <a:latin typeface="Segoe UI"/>
              </a:rPr>
              <a:t>ă</a:t>
            </a:r>
            <a:r>
              <a:rPr sz="1500" b="0" i="0" dirty="0" smtClean="0">
                <a:solidFill>
                  <a:srgbClr val="2F3338"/>
                </a:solidFill>
                <a:latin typeface="Segoe UI"/>
              </a:rPr>
              <a:t>.</a:t>
            </a:r>
            <a:endParaRPr sz="1500" b="0" i="0" dirty="0">
              <a:solidFill>
                <a:srgbClr val="2F3338"/>
              </a:solidFill>
              <a:latin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223289079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600"/>
              <a:t>Concluzii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100" dirty="0" err="1"/>
              <a:t>QuickCheck</a:t>
            </a:r>
            <a:r>
              <a:rPr sz="2100" dirty="0"/>
              <a:t> </a:t>
            </a:r>
            <a:r>
              <a:rPr sz="2100" dirty="0" err="1" smtClean="0"/>
              <a:t>valideaz</a:t>
            </a:r>
            <a:r>
              <a:rPr lang="ro-RO" sz="2100" dirty="0" smtClean="0"/>
              <a:t>ă</a:t>
            </a:r>
            <a:r>
              <a:rPr sz="2100" dirty="0" smtClean="0"/>
              <a:t> </a:t>
            </a:r>
            <a:r>
              <a:rPr sz="2100" dirty="0" err="1"/>
              <a:t>comportamentul</a:t>
            </a:r>
            <a:r>
              <a:rPr sz="2100" dirty="0"/>
              <a:t> general, nu </a:t>
            </a:r>
            <a:r>
              <a:rPr sz="2100" dirty="0" err="1"/>
              <a:t>doar</a:t>
            </a:r>
            <a:r>
              <a:rPr sz="2100" dirty="0"/>
              <a:t> </a:t>
            </a:r>
            <a:r>
              <a:rPr sz="2100" dirty="0" err="1"/>
              <a:t>exemple</a:t>
            </a:r>
            <a:r>
              <a:rPr sz="2100" dirty="0"/>
              <a:t> </a:t>
            </a:r>
            <a:r>
              <a:rPr sz="2100" dirty="0" err="1"/>
              <a:t>particulare</a:t>
            </a:r>
            <a:endParaRPr sz="2100" dirty="0"/>
          </a:p>
          <a:p>
            <a:r>
              <a:rPr sz="2100" dirty="0" err="1"/>
              <a:t>Generatoarele</a:t>
            </a:r>
            <a:r>
              <a:rPr sz="2100" dirty="0"/>
              <a:t> </a:t>
            </a:r>
            <a:r>
              <a:rPr sz="2100" dirty="0" err="1"/>
              <a:t>manuale</a:t>
            </a:r>
            <a:r>
              <a:rPr sz="2100" dirty="0"/>
              <a:t> (frequency, sized, shrink) </a:t>
            </a:r>
            <a:r>
              <a:rPr sz="2100" dirty="0" err="1"/>
              <a:t>sunt</a:t>
            </a:r>
            <a:r>
              <a:rPr sz="2100" dirty="0"/>
              <a:t> </a:t>
            </a:r>
            <a:r>
              <a:rPr sz="2100" dirty="0" err="1" smtClean="0"/>
              <a:t>esen</a:t>
            </a:r>
            <a:r>
              <a:rPr lang="ro-RO" sz="2100" dirty="0" smtClean="0"/>
              <a:t>ț</a:t>
            </a:r>
            <a:r>
              <a:rPr sz="2100" dirty="0" err="1" smtClean="0"/>
              <a:t>iale</a:t>
            </a:r>
            <a:endParaRPr sz="2100" dirty="0"/>
          </a:p>
          <a:p>
            <a:r>
              <a:rPr sz="2100" dirty="0"/>
              <a:t>Mini-</a:t>
            </a:r>
            <a:r>
              <a:rPr sz="2100" dirty="0" err="1"/>
              <a:t>limbajul</a:t>
            </a:r>
            <a:r>
              <a:rPr sz="2100" dirty="0"/>
              <a:t> </a:t>
            </a:r>
            <a:r>
              <a:rPr sz="2100" dirty="0" err="1"/>
              <a:t>aritmetic</a:t>
            </a:r>
            <a:r>
              <a:rPr sz="2100" dirty="0"/>
              <a:t> </a:t>
            </a:r>
            <a:r>
              <a:rPr sz="2100" dirty="0" err="1"/>
              <a:t>este</a:t>
            </a:r>
            <a:r>
              <a:rPr sz="2100" dirty="0"/>
              <a:t> un </a:t>
            </a:r>
            <a:r>
              <a:rPr sz="2100" dirty="0" err="1"/>
              <a:t>exemplu</a:t>
            </a:r>
            <a:r>
              <a:rPr sz="2100" dirty="0"/>
              <a:t> natural </a:t>
            </a:r>
            <a:r>
              <a:rPr sz="2100" dirty="0" err="1"/>
              <a:t>pentru</a:t>
            </a:r>
            <a:r>
              <a:rPr sz="2100" dirty="0"/>
              <a:t> </a:t>
            </a:r>
            <a:r>
              <a:rPr sz="2100" dirty="0" err="1"/>
              <a:t>metode</a:t>
            </a:r>
            <a:r>
              <a:rPr sz="2100" dirty="0"/>
              <a:t> </a:t>
            </a:r>
            <a:r>
              <a:rPr sz="2100" dirty="0" err="1"/>
              <a:t>formale</a:t>
            </a:r>
            <a:endParaRPr sz="2100" dirty="0"/>
          </a:p>
          <a:p>
            <a:r>
              <a:rPr sz="2100" dirty="0" smtClean="0"/>
              <a:t>Specific</a:t>
            </a:r>
            <a:r>
              <a:rPr lang="ro-RO" sz="2100" dirty="0" smtClean="0"/>
              <a:t>ă</a:t>
            </a:r>
            <a:r>
              <a:rPr sz="2100" dirty="0" smtClean="0"/>
              <a:t>m </a:t>
            </a:r>
            <a:r>
              <a:rPr sz="2100" dirty="0" err="1" smtClean="0"/>
              <a:t>invarian</a:t>
            </a:r>
            <a:r>
              <a:rPr lang="ro-RO" sz="2100" dirty="0" smtClean="0"/>
              <a:t>ț</a:t>
            </a:r>
            <a:r>
              <a:rPr sz="2100" dirty="0" smtClean="0"/>
              <a:t>i </a:t>
            </a:r>
            <a:r>
              <a:rPr sz="2100" dirty="0" err="1"/>
              <a:t>valabili</a:t>
            </a:r>
            <a:r>
              <a:rPr sz="2100" dirty="0"/>
              <a:t> </a:t>
            </a:r>
            <a:r>
              <a:rPr sz="2100" dirty="0" err="1"/>
              <a:t>pentru</a:t>
            </a:r>
            <a:r>
              <a:rPr sz="2100" dirty="0"/>
              <a:t> </a:t>
            </a:r>
            <a:r>
              <a:rPr sz="2100" dirty="0" err="1"/>
              <a:t>orice</a:t>
            </a:r>
            <a:r>
              <a:rPr sz="2100" dirty="0"/>
              <a:t> </a:t>
            </a:r>
            <a:r>
              <a:rPr sz="2100" dirty="0" err="1"/>
              <a:t>intrare</a:t>
            </a:r>
            <a:endParaRPr sz="2100" dirty="0"/>
          </a:p>
          <a:p>
            <a:r>
              <a:rPr sz="2100" dirty="0" err="1" smtClean="0"/>
              <a:t>Diferen</a:t>
            </a:r>
            <a:r>
              <a:rPr lang="ro-RO" sz="2100" dirty="0" smtClean="0"/>
              <a:t>ț</a:t>
            </a:r>
            <a:r>
              <a:rPr sz="2100" dirty="0" smtClean="0"/>
              <a:t>a-</a:t>
            </a:r>
            <a:r>
              <a:rPr sz="2100" dirty="0" err="1" smtClean="0"/>
              <a:t>cheie</a:t>
            </a:r>
            <a:r>
              <a:rPr sz="2100" dirty="0" smtClean="0"/>
              <a:t> </a:t>
            </a:r>
            <a:r>
              <a:rPr sz="2100" dirty="0" err="1" smtClean="0"/>
              <a:t>fa</a:t>
            </a:r>
            <a:r>
              <a:rPr lang="ro-RO" sz="2100" dirty="0" smtClean="0"/>
              <a:t>ț</a:t>
            </a:r>
            <a:r>
              <a:rPr lang="ro-RO" sz="2100" dirty="0"/>
              <a:t>ă</a:t>
            </a:r>
            <a:r>
              <a:rPr sz="2100" dirty="0" smtClean="0"/>
              <a:t> </a:t>
            </a:r>
            <a:r>
              <a:rPr sz="2100" dirty="0"/>
              <a:t>de </a:t>
            </a:r>
            <a:r>
              <a:rPr sz="2100" dirty="0" err="1"/>
              <a:t>testarea</a:t>
            </a:r>
            <a:r>
              <a:rPr sz="2100" dirty="0"/>
              <a:t> </a:t>
            </a:r>
            <a:r>
              <a:rPr sz="2100" dirty="0" err="1" smtClean="0"/>
              <a:t>clasic</a:t>
            </a:r>
            <a:r>
              <a:rPr lang="ro-RO" sz="2100" dirty="0" smtClean="0"/>
              <a:t>ă</a:t>
            </a:r>
            <a:r>
              <a:rPr sz="2100" dirty="0" smtClean="0"/>
              <a:t>: g</a:t>
            </a:r>
            <a:r>
              <a:rPr lang="ro-RO" sz="2100" dirty="0" smtClean="0"/>
              <a:t>â</a:t>
            </a:r>
            <a:r>
              <a:rPr sz="2100" dirty="0" err="1" smtClean="0"/>
              <a:t>ndim</a:t>
            </a:r>
            <a:r>
              <a:rPr sz="2100" dirty="0" smtClean="0"/>
              <a:t> </a:t>
            </a:r>
            <a:r>
              <a:rPr lang="ro-RO" sz="2100" dirty="0"/>
              <a:t>î</a:t>
            </a:r>
            <a:r>
              <a:rPr sz="2100" dirty="0" smtClean="0"/>
              <a:t>n </a:t>
            </a:r>
            <a:r>
              <a:rPr sz="2100" dirty="0" err="1" smtClean="0"/>
              <a:t>propriet</a:t>
            </a:r>
            <a:r>
              <a:rPr lang="ro-RO" sz="2100" dirty="0" smtClean="0"/>
              <a:t>ăț</a:t>
            </a:r>
            <a:r>
              <a:rPr sz="2100" dirty="0" smtClean="0"/>
              <a:t>i</a:t>
            </a:r>
            <a:r>
              <a:rPr sz="2100" dirty="0"/>
              <a:t>, nu </a:t>
            </a:r>
            <a:r>
              <a:rPr lang="ro-RO" sz="2100" dirty="0" smtClean="0"/>
              <a:t>î</a:t>
            </a:r>
            <a:r>
              <a:rPr sz="2100" dirty="0" smtClean="0"/>
              <a:t>n </a:t>
            </a:r>
            <a:r>
              <a:rPr sz="2100" dirty="0" err="1"/>
              <a:t>cazuri</a:t>
            </a:r>
            <a:r>
              <a:rPr sz="2100" dirty="0"/>
              <a:t> </a:t>
            </a:r>
            <a:r>
              <a:rPr sz="2100" dirty="0" err="1"/>
              <a:t>izolate</a:t>
            </a:r>
            <a:endParaRPr sz="2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o-RO" dirty="0" smtClean="0"/>
              <a:t>Bibliografie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[39] K. </a:t>
            </a:r>
            <a:r>
              <a:rPr lang="en-US" dirty="0" err="1"/>
              <a:t>Claessen</a:t>
            </a:r>
            <a:r>
              <a:rPr lang="en-US" dirty="0"/>
              <a:t> </a:t>
            </a:r>
            <a:r>
              <a:rPr lang="en-US" dirty="0" err="1"/>
              <a:t>și</a:t>
            </a:r>
            <a:r>
              <a:rPr lang="en-US" dirty="0"/>
              <a:t> J. Hughes, “</a:t>
            </a:r>
            <a:r>
              <a:rPr lang="en-US" dirty="0" err="1"/>
              <a:t>QuickCheck</a:t>
            </a:r>
            <a:r>
              <a:rPr lang="en-US" dirty="0"/>
              <a:t>: a lightweight tool for random testing of Haskell programs,” in Proceedings of the 5th ACM SIGPLAN International Conference on Functional Programming (ICFP ’00), Montreal, Canada, 2000, pp. 268–279, </a:t>
            </a:r>
            <a:r>
              <a:rPr lang="en-US" dirty="0">
                <a:hlinkClick r:id="rId2"/>
              </a:rPr>
              <a:t>https://dl.acm.org/doi/epdf/10.1145/351240.351266 </a:t>
            </a:r>
            <a:endParaRPr lang="en-US" dirty="0"/>
          </a:p>
          <a:p>
            <a:r>
              <a:rPr lang="en-US" dirty="0"/>
              <a:t>[40] </a:t>
            </a:r>
            <a:r>
              <a:rPr lang="en-US" dirty="0" err="1"/>
              <a:t>QuickCheck</a:t>
            </a:r>
            <a:r>
              <a:rPr lang="en-US" dirty="0"/>
              <a:t> Library Documentation. </a:t>
            </a:r>
            <a:r>
              <a:rPr lang="en-US" dirty="0" err="1"/>
              <a:t>Hackage</a:t>
            </a:r>
            <a:r>
              <a:rPr lang="en-US" dirty="0"/>
              <a:t>. </a:t>
            </a:r>
            <a:r>
              <a:rPr lang="en-US" dirty="0">
                <a:hlinkClick r:id="rId3"/>
              </a:rPr>
              <a:t>https://hackage.haskell.org/package/QuickCheck </a:t>
            </a:r>
            <a:endParaRPr lang="en-US" dirty="0"/>
          </a:p>
          <a:p>
            <a:r>
              <a:rPr lang="en-US" dirty="0"/>
              <a:t>[41] </a:t>
            </a:r>
            <a:r>
              <a:rPr lang="en-US" dirty="0" err="1"/>
              <a:t>QuickCheck</a:t>
            </a:r>
            <a:r>
              <a:rPr lang="en-US" dirty="0"/>
              <a:t>: Automatic Testing (online tutorial). </a:t>
            </a:r>
            <a:r>
              <a:rPr lang="en-US" dirty="0">
                <a:hlinkClick r:id="rId4"/>
              </a:rPr>
              <a:t>https://sulzmann.github.io/ProgrammingParadigms/lec-haskell-testing.html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8079610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Custom 37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9BA8B7"/>
      </a:accent1>
      <a:accent2>
        <a:srgbClr val="E6A02E"/>
      </a:accent2>
      <a:accent3>
        <a:srgbClr val="BF6A3B"/>
      </a:accent3>
      <a:accent4>
        <a:srgbClr val="92987A"/>
      </a:accent4>
      <a:accent5>
        <a:srgbClr val="857659"/>
      </a:accent5>
      <a:accent6>
        <a:srgbClr val="A0988C"/>
      </a:accent6>
      <a:hlink>
        <a:srgbClr val="00B0F0"/>
      </a:hlink>
      <a:folHlink>
        <a:srgbClr val="738F97"/>
      </a:folHlink>
    </a:clrScheme>
    <a:fontScheme name="Retrospect">
      <a:majorFont>
        <a:latin typeface="Bookman Old Style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Franklin Gothic Book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="" xmlns:thm15="http://schemas.microsoft.com/office/thememl/2012/main" name="TWO.pptx" id="{80AA9D2D-EE59-4148-A11E-A51EEE828B28}" vid="{AEAFD717-D3C8-4034-8F7E-D5220B0CCEB8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7" ma:contentTypeDescription="Create a new document." ma:contentTypeScope="" ma:versionID="c6f9a84f66a9c8b9a21755b9ffafb945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27df39e3e7036dff54f89ddd5805ce72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19DAD249-BF80-48EF-9AFB-36A11BCDC2CE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C5A59D56-2157-4202-9D02-F44E447A241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6F4F4D41-822D-40F2-A7AC-E4E6CB36CA7A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{2434C647-D8ED-4307-8D52-7F48AD6760D5}TFf0a5ceae-4542-492d-822e-d65a94fb0e1e3b562c5a_win32-009a0557e699</Template>
  <TotalTime>90</TotalTime>
  <Words>2276</Words>
  <Application>Microsoft Office PowerPoint</Application>
  <PresentationFormat>Custom</PresentationFormat>
  <Paragraphs>300</Paragraphs>
  <Slides>27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28" baseType="lpstr">
      <vt:lpstr>Custom</vt:lpstr>
      <vt:lpstr>Tema 20 Testarea property-based a modulelor software folosind QuickCheck</vt:lpstr>
      <vt:lpstr>Cuprinsul prezentarii</vt:lpstr>
      <vt:lpstr>De ce avem nevoie de metode formale?</vt:lpstr>
      <vt:lpstr>Testare clasică vs. property-based testing</vt:lpstr>
      <vt:lpstr>Ce este QuickCheck</vt:lpstr>
      <vt:lpstr>Arhitectura modulului testat</vt:lpstr>
      <vt:lpstr>Modulul testat: AST și evaluator</vt:lpstr>
      <vt:lpstr>Evaluatorul: semantica operațională</vt:lpstr>
      <vt:lpstr>Simplificatorul și regulile algebrice</vt:lpstr>
      <vt:lpstr>Pretty + Parser: round-trip semantic</vt:lpstr>
      <vt:lpstr>Generatoarele proprii (de ce contează)</vt:lpstr>
      <vt:lpstr>genExpr, genClosedExpr, genEnvFor</vt:lpstr>
      <vt:lpstr>shrinkExpr: contraexemple minimale</vt:lpstr>
      <vt:lpstr>Cele 16 proprietăți (grupate)</vt:lpstr>
      <vt:lpstr>Output real cu classify</vt:lpstr>
      <vt:lpstr>Analiza: eficiența metodei</vt:lpstr>
      <vt:lpstr>Detalii suplimentare din proiect (implementare/rulare)</vt:lpstr>
      <vt:lpstr>Walkthrough demo din app/Main.hs</vt:lpstr>
      <vt:lpstr>Expr.hs: functii structurale folosite in teste</vt:lpstr>
      <vt:lpstr>Parser.hs: gramatica și precedența operatorilor</vt:lpstr>
      <vt:lpstr>Pretty.hs: reguli de parantezare și precedență</vt:lpstr>
      <vt:lpstr>Spec.hs: infrastructura de rulare a proprietăților</vt:lpstr>
      <vt:lpstr>Rezultate reale din spec.exe (rulare curentă)</vt:lpstr>
      <vt:lpstr>Configurare proiect din fișierul .cabal</vt:lpstr>
      <vt:lpstr>Limitări concrete ale implementării actuale</vt:lpstr>
      <vt:lpstr>Concluzii</vt:lpstr>
      <vt:lpstr>Bibliografie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Tema 20 Testarea property-based a modulelor software folosind QuickCheck</dc:title>
  <dc:creator>Nite Alexandru</dc:creator>
  <cp:lastModifiedBy>user</cp:lastModifiedBy>
  <cp:revision>9</cp:revision>
  <dcterms:created xsi:type="dcterms:W3CDTF">2026-04-21T13:52:19Z</dcterms:created>
  <dcterms:modified xsi:type="dcterms:W3CDTF">2026-04-22T09:49:13Z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