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6" r:id="rId4"/>
  </p:sldMasterIdLst>
  <p:sldIdLst>
    <p:sldId id="256" r:id="rId5"/>
    <p:sldId id="266" r:id="rId6"/>
    <p:sldId id="267" r:id="rId7"/>
    <p:sldId id="257" r:id="rId8"/>
    <p:sldId id="258" r:id="rId9"/>
    <p:sldId id="268" r:id="rId10"/>
    <p:sldId id="259" r:id="rId11"/>
    <p:sldId id="269" r:id="rId12"/>
    <p:sldId id="270" r:id="rId13"/>
    <p:sldId id="271" r:id="rId14"/>
    <p:sldId id="260" r:id="rId15"/>
    <p:sldId id="272" r:id="rId16"/>
    <p:sldId id="261" r:id="rId17"/>
    <p:sldId id="262" r:id="rId18"/>
    <p:sldId id="263" r:id="rId19"/>
    <p:sldId id="264" r:id="rId20"/>
    <p:sldId id="273" r:id="rId21"/>
    <p:sldId id="265" r:id="rId22"/>
    <p:sldId id="274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A8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21" autoAdjust="0"/>
    <p:restoredTop sz="94660"/>
  </p:normalViewPr>
  <p:slideViewPr>
    <p:cSldViewPr snapToGrid="0">
      <p:cViewPr>
        <p:scale>
          <a:sx n="90" d="100"/>
          <a:sy n="90" d="100"/>
        </p:scale>
        <p:origin x="-398" y="-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xmlns="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8331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2670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xmlns="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xmlns="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162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xmlns="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xmlns="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663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xmlns="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xmlns="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194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xmlns="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xmlns="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xmlns="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8605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422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3282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07D986-8816-4272-A432-0437A28A9828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267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A279-0833-481D-8C56-F67FD0AC6C50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2269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7DA83-5663-4C9C-B9AA-0B40A3DAFF81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xmlns="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1827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xmlns="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4982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47" r:id="rId3"/>
    <p:sldLayoutId id="2147483743" r:id="rId4"/>
    <p:sldLayoutId id="2147483738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hackage.haskell.org/package/QuickCheck" TargetMode="External"/><Relationship Id="rId2" Type="http://schemas.openxmlformats.org/officeDocument/2006/relationships/hyperlink" Target="https://dl.acm.org/doi/epdf/10.1145/351240.351266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ulzmann.github.io/ProgrammingParadigms/lec-haskell-testing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5266" y="1142402"/>
            <a:ext cx="10058400" cy="2423401"/>
          </a:xfrm>
        </p:spPr>
        <p:txBody>
          <a:bodyPr/>
          <a:lstStyle/>
          <a:p>
            <a:pPr algn="ctr"/>
            <a:r>
              <a:rPr lang="ro-RO" sz="4400" dirty="0" smtClean="0"/>
              <a:t>Tema 20</a:t>
            </a:r>
            <a:br>
              <a:rPr lang="ro-RO" sz="4400" dirty="0" smtClean="0"/>
            </a:br>
            <a:r>
              <a:rPr sz="4400" dirty="0" err="1" smtClean="0"/>
              <a:t>Testarea</a:t>
            </a:r>
            <a:r>
              <a:rPr sz="4400" dirty="0" smtClean="0"/>
              <a:t> property-based</a:t>
            </a:r>
            <a:r>
              <a:rPr lang="ro-RO" sz="4400" dirty="0" smtClean="0"/>
              <a:t> a modulelor software</a:t>
            </a:r>
            <a:r>
              <a:rPr sz="4400" dirty="0" smtClean="0"/>
              <a:t> </a:t>
            </a:r>
            <a:r>
              <a:rPr sz="4400" dirty="0" err="1"/>
              <a:t>folosind</a:t>
            </a:r>
            <a:r>
              <a:rPr sz="4400" dirty="0"/>
              <a:t> </a:t>
            </a:r>
            <a:r>
              <a:rPr sz="4400" dirty="0" err="1"/>
              <a:t>QuickCheck</a:t>
            </a:r>
            <a:endParaRPr sz="44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12108" y="4681029"/>
            <a:ext cx="10058400" cy="1143000"/>
          </a:xfrm>
        </p:spPr>
        <p:txBody>
          <a:bodyPr>
            <a:noAutofit/>
          </a:bodyPr>
          <a:lstStyle/>
          <a:p>
            <a:pPr algn="ctr"/>
            <a:r>
              <a:rPr lang="it-IT" sz="1400" spc="-5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Metode </a:t>
            </a:r>
            <a:r>
              <a:rPr lang="it-IT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Formale in Ingineria </a:t>
            </a:r>
            <a:r>
              <a:rPr lang="it-IT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Software</a:t>
            </a:r>
            <a:endParaRPr sz="1400" spc="-50" dirty="0">
              <a:solidFill>
                <a:schemeClr val="tx1">
                  <a:lumMod val="85000"/>
                  <a:lumOff val="15000"/>
                </a:schemeClr>
              </a:solidFill>
              <a:latin typeface="+mj-lt"/>
              <a:ea typeface="+mj-ea"/>
              <a:cs typeface="+mj-cs"/>
            </a:endParaRPr>
          </a:p>
          <a:p>
            <a:pPr algn="ctr"/>
            <a:r>
              <a:rPr lang="ro-RO" sz="1400" spc="-5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Anul universitar 2025-2026</a:t>
            </a:r>
            <a:endParaRPr sz="1400" spc="-50" dirty="0">
              <a:solidFill>
                <a:schemeClr val="tx1">
                  <a:lumMod val="85000"/>
                  <a:lumOff val="15000"/>
                </a:schemeClr>
              </a:solidFill>
              <a:latin typeface="+mj-lt"/>
              <a:ea typeface="+mj-ea"/>
              <a:cs typeface="+mj-cs"/>
            </a:endParaRPr>
          </a:p>
          <a:p>
            <a:pPr algn="ctr"/>
            <a:r>
              <a:rPr sz="1400" spc="-5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Echipa</a:t>
            </a:r>
            <a:r>
              <a:rPr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: </a:t>
            </a:r>
            <a:r>
              <a:rPr lang="en-US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MIH</a:t>
            </a:r>
            <a:r>
              <a:rPr lang="ro-RO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ă</a:t>
            </a:r>
            <a:r>
              <a:rPr lang="en-US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IL</a:t>
            </a:r>
            <a:r>
              <a:rPr lang="ro-RO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ă</a:t>
            </a:r>
            <a:r>
              <a:rPr lang="en-US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DENISA </a:t>
            </a:r>
            <a:r>
              <a:rPr lang="ro-RO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(352)</a:t>
            </a:r>
            <a:r>
              <a:rPr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, </a:t>
            </a:r>
            <a:r>
              <a:rPr lang="en-US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Ni</a:t>
            </a:r>
            <a:r>
              <a:rPr lang="ro-RO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ț</a:t>
            </a:r>
            <a:r>
              <a:rPr lang="en-US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E DAN-ALEXANDRU</a:t>
            </a:r>
            <a:r>
              <a:rPr lang="ro-RO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 (344)</a:t>
            </a:r>
            <a:endParaRPr sz="1400" spc="-50" dirty="0">
              <a:solidFill>
                <a:schemeClr val="tx1">
                  <a:lumMod val="85000"/>
                  <a:lumOff val="15000"/>
                </a:schemeClr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Subtitle 2"/>
          <p:cNvSpPr txBox="1">
            <a:spLocks/>
          </p:cNvSpPr>
          <p:nvPr/>
        </p:nvSpPr>
        <p:spPr>
          <a:xfrm>
            <a:off x="4580466" y="312229"/>
            <a:ext cx="3313441" cy="8477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o-RO" sz="1050" spc="-5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Universitatea din bucurești</a:t>
            </a:r>
          </a:p>
          <a:p>
            <a:pPr algn="ctr"/>
            <a:r>
              <a:rPr lang="ro-RO" sz="1050" spc="-5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Facultatea de matematică și informatică</a:t>
            </a:r>
            <a:endParaRPr lang="vi-VN" sz="1050" spc="-50" dirty="0">
              <a:solidFill>
                <a:schemeClr val="tx1">
                  <a:lumMod val="85000"/>
                  <a:lumOff val="15000"/>
                </a:schemeClr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500" dirty="0" err="1">
                <a:solidFill>
                  <a:srgbClr val="2F3338"/>
                </a:solidFill>
              </a:rPr>
              <a:t>Cuprinsul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err="1">
                <a:solidFill>
                  <a:srgbClr val="2F3338"/>
                </a:solidFill>
              </a:rPr>
              <a:t>prezentarii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108200"/>
            <a:ext cx="10058400" cy="39243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4604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3036733"/>
            <a:ext cx="9601200" cy="2067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2000" b="1" i="0" dirty="0" err="1">
                <a:solidFill>
                  <a:srgbClr val="2F3338"/>
                </a:solidFill>
                <a:latin typeface="Segoe UI"/>
              </a:rPr>
              <a:t>Problema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: de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ce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testarea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2000" b="0" i="0" dirty="0" err="1" smtClean="0">
                <a:solidFill>
                  <a:srgbClr val="2F3338"/>
                </a:solidFill>
                <a:latin typeface="Segoe UI"/>
              </a:rPr>
              <a:t>clasic</a:t>
            </a:r>
            <a:r>
              <a:rPr lang="ro-RO" sz="20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20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nu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este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2000" b="0" i="0" dirty="0" err="1" smtClean="0">
                <a:solidFill>
                  <a:srgbClr val="2F3338"/>
                </a:solidFill>
                <a:latin typeface="Segoe UI"/>
              </a:rPr>
              <a:t>suficient</a:t>
            </a:r>
            <a:r>
              <a:rPr lang="ro-RO" sz="2000" b="0" i="0" dirty="0" smtClean="0">
                <a:solidFill>
                  <a:srgbClr val="2F3338"/>
                </a:solidFill>
                <a:latin typeface="Segoe UI"/>
              </a:rPr>
              <a:t>ă</a:t>
            </a:r>
            <a:endParaRPr sz="20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2000" b="1" i="0" dirty="0" err="1">
                <a:solidFill>
                  <a:srgbClr val="2F3338"/>
                </a:solidFill>
                <a:latin typeface="Segoe UI"/>
              </a:rPr>
              <a:t>QuickCheck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: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concepte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generare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, shrink, classify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2000" b="1" i="0" dirty="0" err="1">
                <a:solidFill>
                  <a:srgbClr val="2F3338"/>
                </a:solidFill>
                <a:latin typeface="Segoe UI"/>
              </a:rPr>
              <a:t>Arhitectura</a:t>
            </a:r>
            <a:r>
              <a:rPr sz="2000" b="1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2000" b="1" i="0" dirty="0" err="1">
                <a:solidFill>
                  <a:srgbClr val="2F3338"/>
                </a:solidFill>
                <a:latin typeface="Segoe UI"/>
              </a:rPr>
              <a:t>modulului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: AST, evaluator,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simplificator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, parser/pretty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2000" b="1" i="0" dirty="0" err="1">
                <a:solidFill>
                  <a:srgbClr val="2F3338"/>
                </a:solidFill>
                <a:latin typeface="Segoe UI"/>
              </a:rPr>
              <a:t>Generatoare</a:t>
            </a:r>
            <a:r>
              <a:rPr sz="2000" b="1" i="0" dirty="0">
                <a:solidFill>
                  <a:srgbClr val="2F3338"/>
                </a:solidFill>
                <a:latin typeface="Segoe UI"/>
              </a:rPr>
              <a:t> custom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: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genSmallInt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genExpr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genClosedExpr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genEnvFor</a:t>
            </a:r>
            <a:endParaRPr sz="20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0" i="0" dirty="0">
                <a:solidFill>
                  <a:srgbClr val="2F3338"/>
                </a:solidFill>
                <a:latin typeface="Segoe UI"/>
              </a:rPr>
              <a:t>- Cele 16 </a:t>
            </a:r>
            <a:r>
              <a:rPr sz="2000" b="0" i="0" dirty="0" err="1" smtClean="0">
                <a:solidFill>
                  <a:srgbClr val="2F3338"/>
                </a:solidFill>
                <a:latin typeface="Segoe UI"/>
              </a:rPr>
              <a:t>propriet</a:t>
            </a:r>
            <a:r>
              <a:rPr lang="ro-RO" sz="20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ro-RO" sz="2000" dirty="0">
                <a:solidFill>
                  <a:srgbClr val="2F3338"/>
                </a:solidFill>
                <a:latin typeface="Segoe UI"/>
              </a:rPr>
              <a:t>ț</a:t>
            </a:r>
            <a:r>
              <a:rPr sz="2000"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formale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ro-RO" sz="2000" dirty="0" err="1">
                <a:solidFill>
                  <a:srgbClr val="2F3338"/>
                </a:solidFill>
                <a:latin typeface="Segoe UI"/>
              </a:rPr>
              <a:t>ș</a:t>
            </a:r>
            <a:r>
              <a:rPr sz="2000"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rezultatele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experimentale</a:t>
            </a:r>
            <a:endParaRPr sz="20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Avantaje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2000" b="0" i="0" dirty="0" smtClean="0">
                <a:solidFill>
                  <a:srgbClr val="2F3338"/>
                </a:solidFill>
                <a:latin typeface="Segoe UI"/>
              </a:rPr>
              <a:t>limit</a:t>
            </a:r>
            <a:r>
              <a:rPr lang="ro-RO" sz="20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2000" b="0" i="0" dirty="0" err="1" smtClean="0">
                <a:solidFill>
                  <a:srgbClr val="2F3338"/>
                </a:solidFill>
                <a:latin typeface="Segoe UI"/>
              </a:rPr>
              <a:t>ri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2000" b="0" i="0" dirty="0" err="1" smtClean="0">
                <a:solidFill>
                  <a:srgbClr val="2F3338"/>
                </a:solidFill>
                <a:latin typeface="Segoe UI"/>
              </a:rPr>
              <a:t>direc</a:t>
            </a:r>
            <a:r>
              <a:rPr lang="ro-RO" sz="20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2000" b="0" i="0" dirty="0" smtClean="0">
                <a:solidFill>
                  <a:srgbClr val="2F3338"/>
                </a:solidFill>
                <a:latin typeface="Segoe UI"/>
              </a:rPr>
              <a:t>ii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viitoare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ro-RO" sz="2000" dirty="0" err="1">
                <a:solidFill>
                  <a:srgbClr val="2F3338"/>
                </a:solidFill>
                <a:latin typeface="Segoe UI"/>
              </a:rPr>
              <a:t>ș</a:t>
            </a:r>
            <a:r>
              <a:rPr sz="2000"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concluzii</a:t>
            </a:r>
            <a:endParaRPr sz="2000" b="0" i="0" dirty="0">
              <a:solidFill>
                <a:srgbClr val="2F333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sz="3500" dirty="0" smtClean="0">
                <a:solidFill>
                  <a:srgbClr val="2F3338"/>
                </a:solidFill>
                <a:latin typeface="Bookman Old Style (Headings)"/>
              </a:rPr>
              <a:t>De </a:t>
            </a:r>
            <a:r>
              <a:rPr sz="3500" dirty="0" err="1" smtClean="0">
                <a:solidFill>
                  <a:srgbClr val="2F3338"/>
                </a:solidFill>
                <a:latin typeface="Bookman Old Style (Headings)"/>
              </a:rPr>
              <a:t>ce</a:t>
            </a:r>
            <a:r>
              <a:rPr sz="3500" dirty="0" smtClean="0">
                <a:solidFill>
                  <a:srgbClr val="2F3338"/>
                </a:solidFill>
                <a:latin typeface="Bookman Old Style (Headings)"/>
              </a:rPr>
              <a:t> </a:t>
            </a:r>
            <a:r>
              <a:rPr sz="3500" dirty="0" err="1">
                <a:solidFill>
                  <a:srgbClr val="2F3338"/>
                </a:solidFill>
                <a:latin typeface="Bookman Old Style (Headings)"/>
              </a:rPr>
              <a:t>avem</a:t>
            </a:r>
            <a:r>
              <a:rPr sz="3500" dirty="0">
                <a:solidFill>
                  <a:srgbClr val="2F3338"/>
                </a:solidFill>
                <a:latin typeface="Bookman Old Style (Headings)"/>
              </a:rPr>
              <a:t> </a:t>
            </a:r>
            <a:r>
              <a:rPr sz="3500" dirty="0" err="1">
                <a:solidFill>
                  <a:srgbClr val="2F3338"/>
                </a:solidFill>
                <a:latin typeface="Bookman Old Style (Headings)"/>
              </a:rPr>
              <a:t>nevoie</a:t>
            </a:r>
            <a:r>
              <a:rPr sz="3500" dirty="0">
                <a:solidFill>
                  <a:srgbClr val="2F3338"/>
                </a:solidFill>
                <a:latin typeface="Bookman Old Style (Headings)"/>
              </a:rPr>
              <a:t> de </a:t>
            </a:r>
            <a:r>
              <a:rPr sz="3500" dirty="0" err="1">
                <a:solidFill>
                  <a:srgbClr val="2F3338"/>
                </a:solidFill>
                <a:latin typeface="Bookman Old Style (Headings)"/>
              </a:rPr>
              <a:t>metode</a:t>
            </a:r>
            <a:r>
              <a:rPr sz="3500" dirty="0">
                <a:solidFill>
                  <a:srgbClr val="2F3338"/>
                </a:solidFill>
                <a:latin typeface="Bookman Old Style (Headings)"/>
              </a:rPr>
              <a:t> </a:t>
            </a:r>
            <a:r>
              <a:rPr sz="3500" dirty="0" err="1" smtClean="0">
                <a:solidFill>
                  <a:srgbClr val="2F3338"/>
                </a:solidFill>
                <a:latin typeface="Bookman Old Style (Headings)"/>
              </a:rPr>
              <a:t>formale</a:t>
            </a:r>
            <a:r>
              <a:rPr lang="ro-RO" sz="3500" dirty="0" smtClean="0">
                <a:solidFill>
                  <a:srgbClr val="2F3338"/>
                </a:solidFill>
                <a:latin typeface="Bookman Old Style (Headings)"/>
              </a:rPr>
              <a:t>?</a:t>
            </a:r>
            <a:endParaRPr sz="3500" dirty="0">
              <a:solidFill>
                <a:srgbClr val="2F3338"/>
              </a:solidFill>
              <a:latin typeface="Bookman Old Style (Headings)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97280" y="2001520"/>
            <a:ext cx="10058400" cy="856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ro-RO" sz="1600" dirty="0">
                <a:solidFill>
                  <a:srgbClr val="2F3338"/>
                </a:solidFill>
                <a:latin typeface="Consolas" panose="020B0609020204030204" pitchFamily="49" charset="0"/>
              </a:rPr>
              <a:t>Î</a:t>
            </a:r>
            <a:r>
              <a:rPr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n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proiecte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reale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,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codul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poate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p</a:t>
            </a:r>
            <a:r>
              <a:rPr lang="ro-RO"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ă</a:t>
            </a:r>
            <a:r>
              <a:rPr sz="1600" b="0" i="0" dirty="0" err="1" smtClean="0">
                <a:solidFill>
                  <a:srgbClr val="2F3338"/>
                </a:solidFill>
                <a:latin typeface="Consolas" panose="020B0609020204030204" pitchFamily="49" charset="0"/>
              </a:rPr>
              <a:t>rea</a:t>
            </a:r>
            <a:r>
              <a:rPr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corect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pe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exemplele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alese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manual,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dar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s</a:t>
            </a:r>
            <a:r>
              <a:rPr lang="ro-RO"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 e</a:t>
            </a:r>
            <a:r>
              <a:rPr lang="ro-RO"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ș</a:t>
            </a:r>
            <a:r>
              <a:rPr sz="1600" b="0" i="0" dirty="0" err="1" smtClean="0">
                <a:solidFill>
                  <a:srgbClr val="2F3338"/>
                </a:solidFill>
                <a:latin typeface="Consolas" panose="020B0609020204030204" pitchFamily="49" charset="0"/>
              </a:rPr>
              <a:t>ueze</a:t>
            </a:r>
            <a:r>
              <a:rPr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pe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cazuri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limit</a:t>
            </a:r>
            <a:r>
              <a:rPr lang="ro-RO"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.</a:t>
            </a:r>
            <a:endParaRPr sz="1600" b="0" i="0" dirty="0">
              <a:solidFill>
                <a:srgbClr val="2F3338"/>
              </a:solidFill>
              <a:latin typeface="Consolas" panose="020B0609020204030204" pitchFamily="49" charset="0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Metodele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formale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ne </a:t>
            </a:r>
            <a:r>
              <a:rPr sz="1600" b="0" i="0" dirty="0" err="1" smtClean="0">
                <a:solidFill>
                  <a:srgbClr val="2F3338"/>
                </a:solidFill>
                <a:latin typeface="Consolas" panose="020B0609020204030204" pitchFamily="49" charset="0"/>
              </a:rPr>
              <a:t>ajut</a:t>
            </a:r>
            <a:r>
              <a:rPr lang="ro-RO"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 s</a:t>
            </a:r>
            <a:r>
              <a:rPr lang="ro-RO"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definim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clar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ce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lang="ro-RO" sz="1600" dirty="0">
                <a:solidFill>
                  <a:srgbClr val="2F3338"/>
                </a:solidFill>
                <a:latin typeface="Consolas" panose="020B0609020204030204" pitchFamily="49" charset="0"/>
              </a:rPr>
              <a:t>î</a:t>
            </a:r>
            <a:r>
              <a:rPr sz="1600" b="0" i="0" dirty="0" err="1" smtClean="0">
                <a:solidFill>
                  <a:srgbClr val="2F3338"/>
                </a:solidFill>
                <a:latin typeface="Consolas" panose="020B0609020204030204" pitchFamily="49" charset="0"/>
              </a:rPr>
              <a:t>nseamn</a:t>
            </a:r>
            <a:r>
              <a:rPr lang="ro-RO"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corectitudinea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sistemului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946400"/>
            <a:ext cx="10058400" cy="256032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4604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49680" y="3429000"/>
            <a:ext cx="10421620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ro-RO" dirty="0" err="1">
                <a:solidFill>
                  <a:srgbClr val="2F3338"/>
                </a:solidFill>
                <a:latin typeface="Segoe UI"/>
              </a:rPr>
              <a:t>C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e </a:t>
            </a:r>
            <a:r>
              <a:rPr b="0" i="0" dirty="0" err="1" smtClean="0">
                <a:solidFill>
                  <a:srgbClr val="2F3338"/>
                </a:solidFill>
                <a:latin typeface="Segoe UI"/>
              </a:rPr>
              <a:t>propriet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ro-RO" dirty="0">
                <a:solidFill>
                  <a:srgbClr val="2F3338"/>
                </a:solidFill>
                <a:latin typeface="Segoe UI"/>
              </a:rPr>
              <a:t>ț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trebuie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s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ro-RO" dirty="0" smtClean="0">
                <a:solidFill>
                  <a:srgbClr val="2F3338"/>
                </a:solidFill>
                <a:latin typeface="Segoe UI"/>
              </a:rPr>
              <a:t>r</a:t>
            </a:r>
            <a:r>
              <a:rPr lang="ro-RO" dirty="0">
                <a:solidFill>
                  <a:srgbClr val="2F3338"/>
                </a:solidFill>
                <a:latin typeface="Segoe UI"/>
              </a:rPr>
              <a:t>ă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m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â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n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adevarate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orice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intrare</a:t>
            </a:r>
            <a:endParaRPr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ro-RO" dirty="0" err="1">
                <a:solidFill>
                  <a:srgbClr val="2F3338"/>
                </a:solidFill>
                <a:latin typeface="Segoe UI"/>
              </a:rPr>
              <a:t>C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e </a:t>
            </a:r>
            <a:r>
              <a:rPr b="0" i="0" dirty="0" err="1" smtClean="0">
                <a:solidFill>
                  <a:srgbClr val="2F3338"/>
                </a:solidFill>
                <a:latin typeface="Segoe UI"/>
              </a:rPr>
              <a:t>invarian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semantici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trebuie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p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ăs</a:t>
            </a:r>
            <a:r>
              <a:rPr b="0" i="0" dirty="0" err="1" smtClean="0">
                <a:solidFill>
                  <a:srgbClr val="2F3338"/>
                </a:solidFill>
                <a:latin typeface="Segoe UI"/>
              </a:rPr>
              <a:t>tra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i dup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 transform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b="0" i="0" dirty="0" err="1" smtClean="0">
                <a:solidFill>
                  <a:srgbClr val="2F3338"/>
                </a:solidFill>
                <a:latin typeface="Segoe UI"/>
              </a:rPr>
              <a:t>ri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(ex: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simplificare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ro-RO" dirty="0" err="1">
                <a:solidFill>
                  <a:srgbClr val="2F3338"/>
                </a:solidFill>
                <a:latin typeface="Segoe UI"/>
              </a:rPr>
              <a:t>C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e </a:t>
            </a:r>
            <a:r>
              <a:rPr b="0" i="0" dirty="0" err="1" smtClean="0">
                <a:solidFill>
                  <a:srgbClr val="2F3338"/>
                </a:solidFill>
                <a:latin typeface="Segoe UI"/>
              </a:rPr>
              <a:t>garan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ii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vrem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parser, evaluator </a:t>
            </a:r>
            <a:r>
              <a:rPr lang="ro-RO" dirty="0" err="1">
                <a:solidFill>
                  <a:srgbClr val="2F3338"/>
                </a:solidFill>
                <a:latin typeface="Segoe UI"/>
              </a:rPr>
              <a:t>ș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b="0" i="0" dirty="0" err="1" smtClean="0">
                <a:solidFill>
                  <a:srgbClr val="2F3338"/>
                </a:solidFill>
                <a:latin typeface="Segoe UI"/>
              </a:rPr>
              <a:t>propriet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ro-RO" dirty="0">
                <a:solidFill>
                  <a:srgbClr val="2F3338"/>
                </a:solidFill>
                <a:latin typeface="Segoe UI"/>
              </a:rPr>
              <a:t>ț</a:t>
            </a:r>
            <a:r>
              <a:rPr b="0" i="0" dirty="0" err="1" smtClean="0">
                <a:solidFill>
                  <a:srgbClr val="2F3338"/>
                </a:solidFill>
                <a:latin typeface="Segoe UI"/>
              </a:rPr>
              <a:t>ile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 smtClean="0">
                <a:solidFill>
                  <a:srgbClr val="2F3338"/>
                </a:solidFill>
                <a:latin typeface="Segoe UI"/>
              </a:rPr>
              <a:t>algebrice</a:t>
            </a:r>
            <a:endParaRPr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C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um valid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m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sistematic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corectitudinea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pe o </a:t>
            </a:r>
            <a:r>
              <a:rPr b="0" i="0" dirty="0" err="1" smtClean="0">
                <a:solidFill>
                  <a:srgbClr val="2F3338"/>
                </a:solidFill>
                <a:latin typeface="Segoe UI"/>
              </a:rPr>
              <a:t>clas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mare de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cazuri</a:t>
            </a:r>
            <a:endParaRPr b="0" i="0" dirty="0">
              <a:solidFill>
                <a:srgbClr val="2F333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/>
          <p:cNvSpPr/>
          <p:nvPr/>
        </p:nvSpPr>
        <p:spPr>
          <a:xfrm>
            <a:off x="6454985" y="2784787"/>
            <a:ext cx="4480607" cy="1719072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dirty="0" err="1">
                <a:solidFill>
                  <a:schemeClr val="tx1"/>
                </a:solidFill>
              </a:rPr>
              <a:t>Testare</a:t>
            </a:r>
            <a:r>
              <a:rPr sz="3400" dirty="0">
                <a:solidFill>
                  <a:schemeClr val="tx1"/>
                </a:solidFill>
              </a:rPr>
              <a:t> </a:t>
            </a:r>
            <a:r>
              <a:rPr sz="3400" dirty="0" err="1" smtClean="0">
                <a:solidFill>
                  <a:schemeClr val="tx1"/>
                </a:solidFill>
              </a:rPr>
              <a:t>clasic</a:t>
            </a:r>
            <a:r>
              <a:rPr lang="ro-RO" sz="3400" dirty="0" smtClean="0">
                <a:solidFill>
                  <a:schemeClr val="tx1"/>
                </a:solidFill>
              </a:rPr>
              <a:t>ă</a:t>
            </a:r>
            <a:r>
              <a:rPr sz="3400" dirty="0" smtClean="0">
                <a:solidFill>
                  <a:schemeClr val="tx1"/>
                </a:solidFill>
              </a:rPr>
              <a:t> </a:t>
            </a:r>
            <a:r>
              <a:rPr sz="3400" dirty="0">
                <a:solidFill>
                  <a:schemeClr val="tx1"/>
                </a:solidFill>
              </a:rPr>
              <a:t>vs. property-based testing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400" b="1" dirty="0" err="1">
                <a:solidFill>
                  <a:srgbClr val="1F4E79"/>
                </a:solidFill>
                <a:latin typeface="Segoe UI"/>
              </a:rPr>
              <a:t>Testare</a:t>
            </a:r>
            <a:r>
              <a:rPr lang="en-US" sz="2400" b="1" dirty="0">
                <a:solidFill>
                  <a:srgbClr val="1F4E79"/>
                </a:solidFill>
                <a:latin typeface="Segoe UI"/>
              </a:rPr>
              <a:t> </a:t>
            </a:r>
            <a:r>
              <a:rPr lang="en-US" sz="2400" b="1" dirty="0" err="1" smtClean="0">
                <a:solidFill>
                  <a:srgbClr val="1F4E79"/>
                </a:solidFill>
                <a:latin typeface="Segoe UI"/>
              </a:rPr>
              <a:t>clasic</a:t>
            </a:r>
            <a:r>
              <a:rPr lang="ro-RO" sz="2400" b="1" dirty="0" smtClean="0">
                <a:solidFill>
                  <a:srgbClr val="1F4E79"/>
                </a:solidFill>
                <a:latin typeface="Segoe UI"/>
              </a:rPr>
              <a:t>ă</a:t>
            </a:r>
            <a:endParaRPr lang="en-US" sz="2400" b="1" dirty="0">
              <a:solidFill>
                <a:srgbClr val="1F4E79"/>
              </a:solidFill>
              <a:latin typeface="Segoe UI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400" b="1" dirty="0">
                <a:solidFill>
                  <a:srgbClr val="1F4E79"/>
                </a:solidFill>
                <a:latin typeface="Segoe UI"/>
              </a:rPr>
              <a:t>Property-based testing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b="1" dirty="0" err="1">
                <a:solidFill>
                  <a:srgbClr val="4EC9B0"/>
                </a:solidFill>
                <a:latin typeface="Consolas"/>
              </a:rPr>
              <a:t>Proprietate</a:t>
            </a:r>
            <a:r>
              <a:rPr lang="en-US" sz="1400" b="1" dirty="0">
                <a:solidFill>
                  <a:srgbClr val="4EC9B0"/>
                </a:solidFill>
                <a:latin typeface="Consolas"/>
              </a:rPr>
              <a:t> </a:t>
            </a:r>
            <a:r>
              <a:rPr lang="en-US" sz="1400" b="1" dirty="0" err="1">
                <a:solidFill>
                  <a:srgbClr val="4EC9B0"/>
                </a:solidFill>
                <a:latin typeface="Consolas"/>
              </a:rPr>
              <a:t>generala</a:t>
            </a:r>
            <a:endParaRPr lang="en-US" sz="1400" b="1" dirty="0">
              <a:solidFill>
                <a:srgbClr val="4EC9B0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D4D4D4"/>
                </a:solidFill>
                <a:latin typeface="Consolas"/>
              </a:rPr>
              <a:t>  </a:t>
            </a:r>
            <a:br>
              <a:rPr lang="en-US" sz="1400" dirty="0">
                <a:solidFill>
                  <a:srgbClr val="D4D4D4"/>
                </a:solidFill>
                <a:latin typeface="Consolas"/>
              </a:rPr>
            </a:br>
            <a:r>
              <a:rPr lang="en-US" sz="1400" dirty="0">
                <a:solidFill>
                  <a:srgbClr val="569CD6"/>
                </a:solidFill>
                <a:latin typeface="Consolas"/>
              </a:rPr>
              <a:t>for all a, b: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D4D4D4"/>
                </a:solidFill>
                <a:latin typeface="Consolas"/>
              </a:rPr>
              <a:t>  eval env (Add a b) == eval env (Add b a)</a:t>
            </a:r>
          </a:p>
          <a:p>
            <a:endParaRPr sz="1600" dirty="0">
              <a:latin typeface="Consolas"/>
            </a:endParaRPr>
          </a:p>
          <a:p>
            <a:r>
              <a:rPr lang="en-US" sz="1600" dirty="0">
                <a:latin typeface="Consolas"/>
              </a:rPr>
              <a:t/>
            </a:r>
            <a:br>
              <a:rPr lang="en-US" sz="1600" dirty="0">
                <a:latin typeface="Consolas"/>
              </a:rPr>
            </a:br>
            <a:r>
              <a:rPr lang="en-US" sz="1600" dirty="0">
                <a:latin typeface="Consolas"/>
              </a:rPr>
              <a:t/>
            </a:r>
            <a:br>
              <a:rPr lang="en-US" sz="1600" dirty="0">
                <a:latin typeface="Consolas"/>
              </a:rPr>
            </a:br>
            <a:r>
              <a:rPr sz="1600" dirty="0" err="1">
                <a:latin typeface="Consolas"/>
              </a:rPr>
              <a:t>QuickCheck</a:t>
            </a:r>
            <a:r>
              <a:rPr sz="1600" dirty="0">
                <a:latin typeface="Consolas"/>
              </a:rPr>
              <a:t> </a:t>
            </a:r>
            <a:r>
              <a:rPr sz="1600" dirty="0" err="1">
                <a:latin typeface="Consolas"/>
              </a:rPr>
              <a:t>genereaza</a:t>
            </a:r>
            <a:r>
              <a:rPr sz="1600" dirty="0">
                <a:latin typeface="Consolas"/>
              </a:rPr>
              <a:t> automat </a:t>
            </a:r>
            <a:r>
              <a:rPr sz="1600" dirty="0" err="1">
                <a:latin typeface="Consolas"/>
              </a:rPr>
              <a:t>sute</a:t>
            </a:r>
            <a:r>
              <a:rPr sz="1600" dirty="0">
                <a:latin typeface="Consolas"/>
              </a:rPr>
              <a:t> de </a:t>
            </a:r>
            <a:r>
              <a:rPr sz="1600" dirty="0" err="1">
                <a:latin typeface="Consolas"/>
              </a:rPr>
              <a:t>cazuri</a:t>
            </a:r>
            <a:r>
              <a:rPr sz="1600" dirty="0">
                <a:latin typeface="Consolas"/>
              </a:rPr>
              <a:t> </a:t>
            </a:r>
            <a:r>
              <a:rPr lang="ro-RO" sz="1600" dirty="0" err="1">
                <a:latin typeface="Consolas"/>
              </a:rPr>
              <a:t>ș</a:t>
            </a:r>
            <a:r>
              <a:rPr sz="1600" dirty="0" smtClean="0">
                <a:latin typeface="Consolas"/>
              </a:rPr>
              <a:t>i </a:t>
            </a:r>
            <a:r>
              <a:rPr sz="1600" dirty="0" err="1" smtClean="0">
                <a:latin typeface="Consolas"/>
              </a:rPr>
              <a:t>caut</a:t>
            </a:r>
            <a:r>
              <a:rPr lang="ro-RO" sz="1600" dirty="0" smtClean="0">
                <a:latin typeface="Consolas"/>
              </a:rPr>
              <a:t>ă</a:t>
            </a:r>
            <a:r>
              <a:rPr sz="1600" dirty="0" smtClean="0">
                <a:latin typeface="Consolas"/>
              </a:rPr>
              <a:t> </a:t>
            </a:r>
            <a:r>
              <a:rPr sz="1600" dirty="0" err="1">
                <a:latin typeface="Consolas"/>
              </a:rPr>
              <a:t>contraexemple</a:t>
            </a:r>
            <a:r>
              <a:rPr sz="1600" dirty="0">
                <a:latin typeface="Consolas"/>
              </a:rPr>
              <a:t>.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975361" y="2793682"/>
            <a:ext cx="4700696" cy="1768106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b="1" dirty="0" err="1">
                <a:solidFill>
                  <a:srgbClr val="4EC9B0"/>
                </a:solidFill>
                <a:latin typeface="Consolas"/>
              </a:rPr>
              <a:t>Exemple</a:t>
            </a:r>
            <a:r>
              <a:rPr lang="en-US" sz="1400" b="1" dirty="0">
                <a:solidFill>
                  <a:srgbClr val="4EC9B0"/>
                </a:solidFill>
                <a:latin typeface="Consolas"/>
              </a:rPr>
              <a:t> </a:t>
            </a:r>
            <a:r>
              <a:rPr lang="en-US" sz="1400" b="1" dirty="0" err="1">
                <a:solidFill>
                  <a:srgbClr val="4EC9B0"/>
                </a:solidFill>
                <a:latin typeface="Consolas"/>
              </a:rPr>
              <a:t>punctuale</a:t>
            </a:r>
            <a:endParaRPr lang="en-US" sz="1400" b="1" dirty="0">
              <a:solidFill>
                <a:srgbClr val="4EC9B0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D4D4D4"/>
                </a:solidFill>
                <a:latin typeface="Consolas"/>
              </a:rPr>
              <a:t>eval env (Add (Const 1) (Const 2)) == Just 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D4D4D4"/>
                </a:solidFill>
                <a:latin typeface="Consolas"/>
              </a:rPr>
              <a:t>eval env (Mul (Const 5) (Const 0)) == Just 0</a:t>
            </a:r>
            <a:r>
              <a:rPr lang="en-US" sz="1600" dirty="0">
                <a:solidFill>
                  <a:srgbClr val="D4D4D4"/>
                </a:solidFill>
                <a:latin typeface="Consolas"/>
              </a:rPr>
              <a:t/>
            </a:r>
            <a:br>
              <a:rPr lang="en-US" sz="1600" dirty="0">
                <a:solidFill>
                  <a:srgbClr val="D4D4D4"/>
                </a:solidFill>
                <a:latin typeface="Consolas"/>
              </a:rPr>
            </a:br>
            <a:r>
              <a:rPr lang="en-US" sz="1600" dirty="0">
                <a:solidFill>
                  <a:srgbClr val="D4D4D4"/>
                </a:solidFill>
                <a:latin typeface="Consolas"/>
              </a:rPr>
              <a:t/>
            </a:r>
            <a:br>
              <a:rPr lang="en-US" sz="1600" dirty="0">
                <a:solidFill>
                  <a:srgbClr val="D4D4D4"/>
                </a:solidFill>
                <a:latin typeface="Consolas"/>
              </a:rPr>
            </a:br>
            <a:r>
              <a:rPr lang="en-US" sz="1600" dirty="0">
                <a:solidFill>
                  <a:srgbClr val="D4D4D4"/>
                </a:solidFill>
                <a:latin typeface="Consolas"/>
              </a:rPr>
              <a:t/>
            </a:r>
            <a:br>
              <a:rPr lang="en-US" sz="1600" dirty="0">
                <a:solidFill>
                  <a:srgbClr val="D4D4D4"/>
                </a:solidFill>
                <a:latin typeface="Consolas"/>
              </a:rPr>
            </a:br>
            <a:r>
              <a:rPr lang="en-US" sz="1600" dirty="0">
                <a:solidFill>
                  <a:srgbClr val="D4D4D4"/>
                </a:solidFill>
                <a:latin typeface="Consolas"/>
              </a:rPr>
              <a:t/>
            </a:r>
            <a:br>
              <a:rPr lang="en-US" sz="1600" dirty="0">
                <a:solidFill>
                  <a:srgbClr val="D4D4D4"/>
                </a:solidFill>
                <a:latin typeface="Consolas"/>
              </a:rPr>
            </a:br>
            <a:endParaRPr sz="1600" dirty="0">
              <a:latin typeface="Consolas"/>
            </a:endParaRPr>
          </a:p>
          <a:p>
            <a:r>
              <a:rPr sz="1600" dirty="0" err="1">
                <a:latin typeface="Consolas"/>
              </a:rPr>
              <a:t>Problema</a:t>
            </a:r>
            <a:r>
              <a:rPr sz="1600" dirty="0">
                <a:latin typeface="Consolas"/>
              </a:rPr>
              <a:t>: </a:t>
            </a:r>
            <a:r>
              <a:rPr sz="1600" dirty="0" err="1" smtClean="0">
                <a:latin typeface="Consolas"/>
              </a:rPr>
              <a:t>acoper</a:t>
            </a:r>
            <a:r>
              <a:rPr lang="ro-RO" sz="1600" dirty="0" smtClean="0">
                <a:latin typeface="Consolas"/>
              </a:rPr>
              <a:t>ă</a:t>
            </a:r>
            <a:r>
              <a:rPr sz="1600" dirty="0" smtClean="0">
                <a:latin typeface="Consolas"/>
              </a:rPr>
              <a:t> </a:t>
            </a:r>
            <a:r>
              <a:rPr sz="1600" dirty="0" err="1">
                <a:latin typeface="Consolas"/>
              </a:rPr>
              <a:t>doar</a:t>
            </a:r>
            <a:r>
              <a:rPr sz="1600" dirty="0">
                <a:latin typeface="Consolas"/>
              </a:rPr>
              <a:t> </a:t>
            </a:r>
            <a:r>
              <a:rPr sz="1600" dirty="0" err="1">
                <a:latin typeface="Consolas"/>
              </a:rPr>
              <a:t>cazurile</a:t>
            </a:r>
            <a:r>
              <a:rPr sz="1600" dirty="0">
                <a:latin typeface="Consolas"/>
              </a:rPr>
              <a:t> la care </a:t>
            </a:r>
            <a:r>
              <a:rPr sz="1600" dirty="0" err="1">
                <a:latin typeface="Consolas"/>
              </a:rPr>
              <a:t>te-ai</a:t>
            </a:r>
            <a:r>
              <a:rPr sz="1600" dirty="0">
                <a:latin typeface="Consolas"/>
              </a:rPr>
              <a:t> </a:t>
            </a:r>
            <a:r>
              <a:rPr sz="1600" dirty="0" smtClean="0">
                <a:latin typeface="Consolas"/>
              </a:rPr>
              <a:t>g</a:t>
            </a:r>
            <a:r>
              <a:rPr lang="ro-RO" sz="1600" dirty="0" smtClean="0">
                <a:latin typeface="Consolas"/>
              </a:rPr>
              <a:t>â</a:t>
            </a:r>
            <a:r>
              <a:rPr sz="1600" dirty="0" err="1" smtClean="0">
                <a:latin typeface="Consolas"/>
              </a:rPr>
              <a:t>ndit</a:t>
            </a:r>
            <a:r>
              <a:rPr sz="1600" dirty="0">
                <a:latin typeface="Consolas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dirty="0">
                <a:solidFill>
                  <a:schemeClr val="tx1"/>
                </a:solidFill>
              </a:rPr>
              <a:t>Ce </a:t>
            </a:r>
            <a:r>
              <a:rPr sz="3400" dirty="0" err="1">
                <a:solidFill>
                  <a:schemeClr val="tx1"/>
                </a:solidFill>
              </a:rPr>
              <a:t>este</a:t>
            </a:r>
            <a:r>
              <a:rPr sz="3400" dirty="0">
                <a:solidFill>
                  <a:schemeClr val="tx1"/>
                </a:solidFill>
              </a:rPr>
              <a:t> </a:t>
            </a:r>
            <a:r>
              <a:rPr sz="3400" dirty="0" err="1">
                <a:solidFill>
                  <a:schemeClr val="tx1"/>
                </a:solidFill>
              </a:rPr>
              <a:t>QuickCheck</a:t>
            </a:r>
            <a:endParaRPr sz="3400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dirty="0" err="1">
                <a:solidFill>
                  <a:srgbClr val="2F3338"/>
                </a:solidFill>
                <a:latin typeface="Segoe UI"/>
              </a:rPr>
              <a:t>QuickCheck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este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biblioteca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Haskell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property-based testing</a:t>
            </a:r>
            <a:r>
              <a:rPr lang="en-US" sz="2400" dirty="0">
                <a:solidFill>
                  <a:srgbClr val="2F3338"/>
                </a:solidFill>
                <a:latin typeface="Segoe UI"/>
              </a:rPr>
              <a:t/>
            </a:r>
            <a:br>
              <a:rPr lang="en-US" sz="2400" dirty="0">
                <a:solidFill>
                  <a:srgbClr val="2F3338"/>
                </a:solidFill>
                <a:latin typeface="Segoe UI"/>
              </a:rPr>
            </a:br>
            <a:r>
              <a:rPr lang="en-US" sz="2400" b="1" dirty="0">
                <a:solidFill>
                  <a:srgbClr val="4B5563"/>
                </a:solidFill>
                <a:latin typeface="Segoe UI"/>
              </a:rPr>
              <a:t/>
            </a:r>
            <a:br>
              <a:rPr lang="en-US" sz="2400" b="1" dirty="0">
                <a:solidFill>
                  <a:srgbClr val="4B5563"/>
                </a:solidFill>
                <a:latin typeface="Segoe UI"/>
              </a:rPr>
            </a:br>
            <a:r>
              <a:rPr lang="en-US" sz="2400" b="1" dirty="0" err="1">
                <a:solidFill>
                  <a:srgbClr val="4B5563"/>
                </a:solidFill>
                <a:latin typeface="Segoe UI"/>
              </a:rPr>
              <a:t>Elementele-cheie</a:t>
            </a:r>
            <a:r>
              <a:rPr lang="en-US" sz="2400" b="1" dirty="0">
                <a:solidFill>
                  <a:srgbClr val="4B5563"/>
                </a:solidFill>
                <a:latin typeface="Segoe UI"/>
              </a:rPr>
              <a:t> de care ne </a:t>
            </a:r>
            <a:r>
              <a:rPr lang="en-US" sz="2400" b="1" dirty="0" err="1">
                <a:solidFill>
                  <a:srgbClr val="4B5563"/>
                </a:solidFill>
                <a:latin typeface="Segoe UI"/>
              </a:rPr>
              <a:t>folosim</a:t>
            </a:r>
            <a:r>
              <a:rPr lang="en-US" sz="2400" b="1" dirty="0">
                <a:solidFill>
                  <a:srgbClr val="4B5563"/>
                </a:solidFill>
                <a:latin typeface="Segoe UI"/>
              </a:rPr>
              <a:t> </a:t>
            </a:r>
            <a:r>
              <a:rPr lang="ro-RO" sz="2400" b="1" dirty="0" smtClean="0">
                <a:solidFill>
                  <a:srgbClr val="4B5563"/>
                </a:solidFill>
                <a:latin typeface="Segoe UI"/>
              </a:rPr>
              <a:t>î</a:t>
            </a:r>
            <a:r>
              <a:rPr lang="en-US" sz="2400" b="1" dirty="0" smtClean="0">
                <a:solidFill>
                  <a:srgbClr val="4B5563"/>
                </a:solidFill>
                <a:latin typeface="Segoe UI"/>
              </a:rPr>
              <a:t>n </a:t>
            </a:r>
            <a:r>
              <a:rPr lang="en-US" sz="2400" b="1" dirty="0" err="1">
                <a:solidFill>
                  <a:srgbClr val="4B5563"/>
                </a:solidFill>
                <a:latin typeface="Segoe UI"/>
              </a:rPr>
              <a:t>proiect</a:t>
            </a:r>
            <a:r>
              <a:rPr lang="en-US" sz="2400" b="1" dirty="0">
                <a:solidFill>
                  <a:srgbClr val="4B5563"/>
                </a:solidFill>
                <a:latin typeface="Segoe UI"/>
              </a:rPr>
              <a:t>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2F3338"/>
                </a:solidFill>
                <a:latin typeface="Segoe UI"/>
              </a:rPr>
              <a:t/>
            </a:r>
            <a:br>
              <a:rPr lang="en-US" sz="2400" dirty="0">
                <a:solidFill>
                  <a:srgbClr val="2F3338"/>
                </a:solidFill>
                <a:latin typeface="Segoe UI"/>
              </a:rPr>
            </a:br>
            <a:r>
              <a:rPr lang="en-US" sz="20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2000" b="1" dirty="0">
                <a:solidFill>
                  <a:srgbClr val="1F4E79"/>
                </a:solidFill>
                <a:latin typeface="Consolas"/>
              </a:rPr>
              <a:t>Arbitrary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-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clasa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tipuri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ce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pot fi generate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aleatoriu</a:t>
            </a:r>
            <a:endParaRPr lang="en-US" sz="2000" dirty="0">
              <a:solidFill>
                <a:srgbClr val="2F3338"/>
              </a:solidFill>
              <a:latin typeface="Segoe UI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2000" b="1" dirty="0">
                <a:solidFill>
                  <a:srgbClr val="1F4E79"/>
                </a:solidFill>
                <a:latin typeface="Consolas"/>
              </a:rPr>
              <a:t>Gen a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-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tipul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unui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generator de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valori</a:t>
            </a:r>
            <a:endParaRPr lang="en-US" sz="2000" dirty="0">
              <a:solidFill>
                <a:srgbClr val="2F3338"/>
              </a:solidFill>
              <a:latin typeface="Segoe UI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2000" b="1" dirty="0">
                <a:solidFill>
                  <a:srgbClr val="1F4E79"/>
                </a:solidFill>
                <a:latin typeface="Consolas"/>
              </a:rPr>
              <a:t>frequency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-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alege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ro-RO" sz="2000" dirty="0" err="1">
                <a:solidFill>
                  <a:srgbClr val="2F3338"/>
                </a:solidFill>
                <a:latin typeface="Segoe UI"/>
              </a:rPr>
              <a:t>î</a:t>
            </a:r>
            <a:r>
              <a:rPr lang="en-US" sz="2000" dirty="0" err="1" smtClean="0">
                <a:solidFill>
                  <a:srgbClr val="2F3338"/>
                </a:solidFill>
                <a:latin typeface="Segoe UI"/>
              </a:rPr>
              <a:t>ntre</a:t>
            </a:r>
            <a:r>
              <a:rPr lang="en-US" sz="200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generatoare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cu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ponderi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explicite</a:t>
            </a:r>
            <a:endParaRPr lang="en-US" sz="2000" dirty="0">
              <a:solidFill>
                <a:srgbClr val="2F3338"/>
              </a:solidFill>
              <a:latin typeface="Segoe UI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2000" b="1" dirty="0">
                <a:solidFill>
                  <a:srgbClr val="1F4E79"/>
                </a:solidFill>
                <a:latin typeface="Consolas"/>
              </a:rPr>
              <a:t>sized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- </a:t>
            </a:r>
            <a:r>
              <a:rPr lang="en-US" sz="2000" dirty="0" err="1" smtClean="0">
                <a:solidFill>
                  <a:srgbClr val="2F3338"/>
                </a:solidFill>
                <a:latin typeface="Segoe UI"/>
              </a:rPr>
              <a:t>controleaz</a:t>
            </a:r>
            <a:r>
              <a:rPr lang="ro-RO" sz="200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en-US" sz="200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marimea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expresiilor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generate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2000" b="1" dirty="0">
                <a:solidFill>
                  <a:srgbClr val="1F4E79"/>
                </a:solidFill>
                <a:latin typeface="Consolas"/>
              </a:rPr>
              <a:t>shrink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- reduce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contraexemplul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la forma </a:t>
            </a:r>
            <a:r>
              <a:rPr lang="en-US" sz="2000" dirty="0" smtClean="0">
                <a:solidFill>
                  <a:srgbClr val="2F3338"/>
                </a:solidFill>
                <a:latin typeface="Segoe UI"/>
              </a:rPr>
              <a:t>minim</a:t>
            </a:r>
            <a:r>
              <a:rPr lang="ro-RO" sz="2000" dirty="0" smtClean="0">
                <a:solidFill>
                  <a:srgbClr val="2F3338"/>
                </a:solidFill>
                <a:latin typeface="Segoe UI"/>
              </a:rPr>
              <a:t>ă</a:t>
            </a:r>
            <a:endParaRPr lang="en-US" sz="2000" dirty="0">
              <a:solidFill>
                <a:srgbClr val="2F3338"/>
              </a:solidFill>
              <a:latin typeface="Segoe UI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2000" b="1" dirty="0">
                <a:solidFill>
                  <a:srgbClr val="1F4E79"/>
                </a:solidFill>
                <a:latin typeface="Consolas"/>
              </a:rPr>
              <a:t>classify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- </a:t>
            </a:r>
            <a:r>
              <a:rPr lang="en-US" sz="2000" dirty="0" err="1" smtClean="0">
                <a:solidFill>
                  <a:srgbClr val="2F3338"/>
                </a:solidFill>
                <a:latin typeface="Segoe UI"/>
              </a:rPr>
              <a:t>arat</a:t>
            </a:r>
            <a:r>
              <a:rPr lang="ro-RO" sz="200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en-US" sz="200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 smtClean="0">
                <a:solidFill>
                  <a:srgbClr val="2F3338"/>
                </a:solidFill>
                <a:latin typeface="Segoe UI"/>
              </a:rPr>
              <a:t>distribu</a:t>
            </a:r>
            <a:r>
              <a:rPr lang="ro-RO" sz="200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lang="en-US" sz="2000" dirty="0" err="1" smtClean="0">
                <a:solidFill>
                  <a:srgbClr val="2F3338"/>
                </a:solidFill>
                <a:latin typeface="Segoe UI"/>
              </a:rPr>
              <a:t>ia</a:t>
            </a:r>
            <a:r>
              <a:rPr lang="en-US" sz="200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cazurilor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generate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2000" b="1" dirty="0" err="1">
                <a:solidFill>
                  <a:srgbClr val="1F4E79"/>
                </a:solidFill>
                <a:latin typeface="Consolas"/>
              </a:rPr>
              <a:t>quickCheckWith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- </a:t>
            </a:r>
            <a:r>
              <a:rPr lang="en-US" sz="2000" dirty="0" err="1" smtClean="0">
                <a:solidFill>
                  <a:srgbClr val="2F3338"/>
                </a:solidFill>
                <a:latin typeface="Segoe UI"/>
              </a:rPr>
              <a:t>ruleaz</a:t>
            </a:r>
            <a:r>
              <a:rPr lang="ro-RO" sz="200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en-US" sz="200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cu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parametri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custom (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maxSuccess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,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maxSize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 err="1">
                <a:solidFill>
                  <a:srgbClr val="2F3338"/>
                </a:solidFill>
              </a:rPr>
              <a:t>Arhitectura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err="1">
                <a:solidFill>
                  <a:srgbClr val="2F3338"/>
                </a:solidFill>
              </a:rPr>
              <a:t>modulului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err="1">
                <a:solidFill>
                  <a:srgbClr val="2F3338"/>
                </a:solidFill>
              </a:rPr>
              <a:t>testat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057400"/>
            <a:ext cx="9997440" cy="2806700"/>
          </a:xfrm>
          <a:prstGeom prst="roundRect">
            <a:avLst/>
          </a:prstGeom>
          <a:solidFill>
            <a:srgbClr val="F5F8FC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2194560"/>
            <a:ext cx="9601200" cy="16979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Expr.hs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- AST +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functii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structurale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: size, depth,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operatorCount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freeVars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, substitute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Eval.hs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evaluare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sigur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: 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eval :: Env -&gt; Expr -&gt; Maybe Int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Simplify.hs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- reguli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algebrice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aplicate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p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â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n</a:t>
            </a:r>
            <a:r>
              <a:rPr lang="ro-RO" sz="1600" dirty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la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punct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fix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Pretty.hs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serializare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text cu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preceden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ță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corect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endParaRPr sz="16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Parser.hs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parsare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text -&gt; Expr (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respect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priorit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ro-RO" sz="1600" dirty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ile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operatorilor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test/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Spec.hs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generatoare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custom + 16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propriet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ăț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QuickCheck</a:t>
            </a:r>
            <a:endParaRPr sz="1600" b="0" i="0" dirty="0">
              <a:solidFill>
                <a:srgbClr val="2F333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dirty="0" err="1"/>
              <a:t>Modulul</a:t>
            </a:r>
            <a:r>
              <a:rPr sz="3400" dirty="0"/>
              <a:t> </a:t>
            </a:r>
            <a:r>
              <a:rPr sz="3400" dirty="0" err="1"/>
              <a:t>testat</a:t>
            </a:r>
            <a:r>
              <a:rPr sz="3400" dirty="0"/>
              <a:t>: AST </a:t>
            </a:r>
            <a:r>
              <a:rPr lang="ro-RO" sz="3400" dirty="0" err="1"/>
              <a:t>ș</a:t>
            </a:r>
            <a:r>
              <a:rPr sz="3400" dirty="0" smtClean="0"/>
              <a:t>i </a:t>
            </a:r>
            <a:r>
              <a:rPr sz="3400" dirty="0"/>
              <a:t>evaluator</a:t>
            </a:r>
          </a:p>
        </p:txBody>
      </p:sp>
      <p:sp>
        <p:nvSpPr>
          <p:cNvPr id="9" name="Rounded Rectangle 2"/>
          <p:cNvSpPr/>
          <p:nvPr/>
        </p:nvSpPr>
        <p:spPr>
          <a:xfrm>
            <a:off x="1153160" y="1986280"/>
            <a:ext cx="4808728" cy="1971943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17752" y="2096007"/>
            <a:ext cx="4478988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4EC9B0"/>
                </a:solidFill>
                <a:latin typeface="Consolas"/>
              </a:rPr>
              <a:t>AST (</a:t>
            </a:r>
            <a:r>
              <a:rPr sz="1400" b="1" i="0" dirty="0" err="1">
                <a:solidFill>
                  <a:srgbClr val="4EC9B0"/>
                </a:solidFill>
                <a:latin typeface="Consolas"/>
              </a:rPr>
              <a:t>Expr</a:t>
            </a:r>
            <a:r>
              <a:rPr sz="1400" b="1" i="0" dirty="0">
                <a:solidFill>
                  <a:srgbClr val="4EC9B0"/>
                </a:solidFill>
                <a:latin typeface="Consolas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 i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569CD6"/>
                </a:solidFill>
                <a:latin typeface="Consolas"/>
              </a:rPr>
              <a:t>data </a:t>
            </a:r>
            <a:r>
              <a:rPr sz="1300" b="0" i="0" dirty="0" err="1">
                <a:solidFill>
                  <a:srgbClr val="569CD6"/>
                </a:solidFill>
                <a:latin typeface="Consolas"/>
              </a:rPr>
              <a:t>Expr</a:t>
            </a:r>
            <a:endParaRPr sz="1300" b="0" i="0" dirty="0">
              <a:solidFill>
                <a:srgbClr val="569CD6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  =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Const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Int</a:t>
            </a:r>
            <a:endParaRPr sz="1300" b="0" i="0" dirty="0">
              <a:solidFill>
                <a:srgbClr val="D4D4D4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  |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Var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String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  | Add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Expr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Expr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| Sub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Expr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Expr</a:t>
            </a:r>
            <a:endParaRPr sz="1300" b="0" i="0" dirty="0">
              <a:solidFill>
                <a:srgbClr val="D4D4D4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  |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Mul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Expr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Expr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|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Neg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Expr</a:t>
            </a:r>
            <a:endParaRPr sz="1300" b="0" i="0" dirty="0">
              <a:solidFill>
                <a:srgbClr val="D4D4D4"/>
              </a:solidFill>
              <a:latin typeface="Consolas"/>
            </a:endParaRPr>
          </a:p>
        </p:txBody>
      </p:sp>
      <p:sp>
        <p:nvSpPr>
          <p:cNvPr id="11" name="Rounded Rectangle 4"/>
          <p:cNvSpPr/>
          <p:nvPr/>
        </p:nvSpPr>
        <p:spPr>
          <a:xfrm>
            <a:off x="1153160" y="4018787"/>
            <a:ext cx="4808728" cy="1629705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17752" y="4128516"/>
            <a:ext cx="4478988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4EC9B0"/>
                </a:solidFill>
                <a:latin typeface="Consolas"/>
              </a:rPr>
              <a:t>Evaluator (fragment)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 i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9CDCFE"/>
                </a:solidFill>
                <a:latin typeface="Consolas"/>
              </a:rPr>
              <a:t>eval :: Env -&gt; Expr -&gt; Maybe Int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eval env (Add a b) = liftA2 (+) (eval env a) (eval env b)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eval env (Var x)   =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Map.lookup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x env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6A9955"/>
                </a:solidFill>
                <a:latin typeface="Consolas"/>
              </a:rPr>
              <a:t>-- Nothing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daca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o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variabila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lipseste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din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mediu</a:t>
            </a:r>
            <a:endParaRPr sz="1300" b="0" i="0" dirty="0">
              <a:solidFill>
                <a:srgbClr val="6A9955"/>
              </a:solidFill>
              <a:latin typeface="Consolas"/>
            </a:endParaRPr>
          </a:p>
        </p:txBody>
      </p:sp>
      <p:sp>
        <p:nvSpPr>
          <p:cNvPr id="13" name="Rounded Rectangle 6"/>
          <p:cNvSpPr/>
          <p:nvPr/>
        </p:nvSpPr>
        <p:spPr>
          <a:xfrm>
            <a:off x="6346952" y="1986280"/>
            <a:ext cx="4808728" cy="3657600"/>
          </a:xfrm>
          <a:prstGeom prst="roundRect">
            <a:avLst/>
          </a:prstGeom>
          <a:solidFill>
            <a:srgbClr val="EEF4FF"/>
          </a:solidFill>
          <a:ln w="15240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02399" y="2105152"/>
            <a:ext cx="448814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4E79"/>
                </a:solidFill>
                <a:latin typeface="Segoe UI"/>
              </a:rPr>
              <a:t>Arbore pentru: 1 * x + -(-y)</a:t>
            </a:r>
          </a:p>
        </p:txBody>
      </p:sp>
      <p:sp>
        <p:nvSpPr>
          <p:cNvPr id="18" name="Rounded Rectangle 11"/>
          <p:cNvSpPr/>
          <p:nvPr/>
        </p:nvSpPr>
        <p:spPr>
          <a:xfrm>
            <a:off x="7032752" y="4043680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1</a:t>
            </a:r>
          </a:p>
        </p:txBody>
      </p:sp>
      <p:sp>
        <p:nvSpPr>
          <p:cNvPr id="19" name="Rounded Rectangle 12"/>
          <p:cNvSpPr/>
          <p:nvPr/>
        </p:nvSpPr>
        <p:spPr>
          <a:xfrm>
            <a:off x="7874000" y="4043680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x</a:t>
            </a:r>
          </a:p>
        </p:txBody>
      </p:sp>
      <p:cxnSp>
        <p:nvCxnSpPr>
          <p:cNvPr id="22" name="Connector 15"/>
          <p:cNvCxnSpPr>
            <a:cxnSpLocks/>
            <a:endCxn id="16" idx="0"/>
          </p:cNvCxnSpPr>
          <p:nvPr/>
        </p:nvCxnSpPr>
        <p:spPr>
          <a:xfrm flipH="1">
            <a:off x="7810596" y="2900680"/>
            <a:ext cx="977804" cy="484632"/>
          </a:xfrm>
          <a:prstGeom prst="line">
            <a:avLst/>
          </a:prstGeom>
          <a:ln w="1651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16"/>
          <p:cNvCxnSpPr>
            <a:cxnSpLocks/>
          </p:cNvCxnSpPr>
          <p:nvPr/>
        </p:nvCxnSpPr>
        <p:spPr>
          <a:xfrm>
            <a:off x="8788400" y="2900680"/>
            <a:ext cx="907690" cy="594842"/>
          </a:xfrm>
          <a:prstGeom prst="line">
            <a:avLst/>
          </a:prstGeom>
          <a:ln w="1651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17"/>
          <p:cNvCxnSpPr>
            <a:cxnSpLocks/>
            <a:endCxn id="18" idx="0"/>
          </p:cNvCxnSpPr>
          <p:nvPr/>
        </p:nvCxnSpPr>
        <p:spPr>
          <a:xfrm flipH="1">
            <a:off x="7389972" y="3568192"/>
            <a:ext cx="420020" cy="475488"/>
          </a:xfrm>
          <a:prstGeom prst="line">
            <a:avLst/>
          </a:prstGeom>
          <a:ln w="1651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18"/>
          <p:cNvCxnSpPr>
            <a:cxnSpLocks/>
            <a:endCxn id="19" idx="0"/>
          </p:cNvCxnSpPr>
          <p:nvPr/>
        </p:nvCxnSpPr>
        <p:spPr>
          <a:xfrm>
            <a:off x="7809992" y="3568192"/>
            <a:ext cx="421228" cy="475488"/>
          </a:xfrm>
          <a:prstGeom prst="line">
            <a:avLst/>
          </a:prstGeom>
          <a:ln w="1651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19"/>
          <p:cNvCxnSpPr>
            <a:cxnSpLocks/>
          </p:cNvCxnSpPr>
          <p:nvPr/>
        </p:nvCxnSpPr>
        <p:spPr>
          <a:xfrm>
            <a:off x="9766808" y="3568192"/>
            <a:ext cx="0" cy="586694"/>
          </a:xfrm>
          <a:prstGeom prst="line">
            <a:avLst/>
          </a:prstGeom>
          <a:ln w="1651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0"/>
          <p:cNvCxnSpPr>
            <a:cxnSpLocks/>
          </p:cNvCxnSpPr>
          <p:nvPr/>
        </p:nvCxnSpPr>
        <p:spPr>
          <a:xfrm>
            <a:off x="9766808" y="4226560"/>
            <a:ext cx="0" cy="586694"/>
          </a:xfrm>
          <a:prstGeom prst="line">
            <a:avLst/>
          </a:prstGeom>
          <a:ln w="1651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44327" y="5311227"/>
            <a:ext cx="44881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i="0" dirty="0" smtClean="0">
                <a:solidFill>
                  <a:srgbClr val="4B5563"/>
                </a:solidFill>
                <a:latin typeface="Segoe UI"/>
              </a:rPr>
              <a:t>R</a:t>
            </a:r>
            <a:r>
              <a:rPr lang="ro-RO" sz="1200" i="0" dirty="0" smtClean="0">
                <a:solidFill>
                  <a:srgbClr val="4B5563"/>
                </a:solidFill>
                <a:latin typeface="Segoe UI"/>
              </a:rPr>
              <a:t>ă</a:t>
            </a:r>
            <a:r>
              <a:rPr sz="1200" i="0" dirty="0" smtClean="0">
                <a:solidFill>
                  <a:srgbClr val="4B5563"/>
                </a:solidFill>
                <a:latin typeface="Segoe UI"/>
              </a:rPr>
              <a:t>d</a:t>
            </a:r>
            <a:r>
              <a:rPr lang="ro-RO" sz="1200" i="0" dirty="0" smtClean="0">
                <a:solidFill>
                  <a:srgbClr val="4B5563"/>
                </a:solidFill>
                <a:latin typeface="Segoe UI"/>
              </a:rPr>
              <a:t>ă</a:t>
            </a:r>
            <a:r>
              <a:rPr sz="1200" i="0" dirty="0" err="1" smtClean="0">
                <a:solidFill>
                  <a:srgbClr val="4B5563"/>
                </a:solidFill>
                <a:latin typeface="Segoe UI"/>
              </a:rPr>
              <a:t>cina</a:t>
            </a:r>
            <a:r>
              <a:rPr sz="1200" i="0" dirty="0">
                <a:solidFill>
                  <a:srgbClr val="4B5563"/>
                </a:solidFill>
                <a:latin typeface="Segoe UI"/>
              </a:rPr>
              <a:t>:</a:t>
            </a:r>
            <a:r>
              <a:rPr sz="1200" b="1" i="0" dirty="0">
                <a:solidFill>
                  <a:srgbClr val="4B5563"/>
                </a:solidFill>
                <a:latin typeface="Segoe UI"/>
              </a:rPr>
              <a:t> </a:t>
            </a:r>
            <a:r>
              <a:rPr sz="1200" b="1" i="0" dirty="0">
                <a:solidFill>
                  <a:srgbClr val="1F4E79"/>
                </a:solidFill>
                <a:latin typeface="Consolas"/>
              </a:rPr>
              <a:t>Add</a:t>
            </a:r>
            <a:r>
              <a:rPr sz="1200" b="0" i="0" dirty="0">
                <a:solidFill>
                  <a:srgbClr val="4B5563"/>
                </a:solidFill>
                <a:latin typeface="Segoe UI"/>
              </a:rPr>
              <a:t>  |  </a:t>
            </a:r>
            <a:r>
              <a:rPr sz="1200" b="0" i="0" dirty="0" err="1">
                <a:solidFill>
                  <a:srgbClr val="4B5563"/>
                </a:solidFill>
                <a:latin typeface="Segoe UI"/>
              </a:rPr>
              <a:t>Subarbori</a:t>
            </a:r>
            <a:r>
              <a:rPr sz="1200" b="0" i="0" dirty="0">
                <a:solidFill>
                  <a:srgbClr val="4B5563"/>
                </a:solidFill>
                <a:latin typeface="Segoe UI"/>
              </a:rPr>
              <a:t>: </a:t>
            </a:r>
            <a:r>
              <a:rPr sz="1200" b="1" i="0" dirty="0">
                <a:solidFill>
                  <a:srgbClr val="1F4E79"/>
                </a:solidFill>
                <a:latin typeface="Consolas"/>
              </a:rPr>
              <a:t>Mul(1,x)</a:t>
            </a:r>
            <a:r>
              <a:rPr sz="1200" b="0" i="0" dirty="0">
                <a:solidFill>
                  <a:srgbClr val="4B5563"/>
                </a:solidFill>
                <a:latin typeface="Segoe UI"/>
              </a:rPr>
              <a:t> </a:t>
            </a:r>
            <a:r>
              <a:rPr lang="ro-RO" sz="1200" dirty="0" err="1">
                <a:solidFill>
                  <a:srgbClr val="4B5563"/>
                </a:solidFill>
                <a:latin typeface="Segoe UI"/>
              </a:rPr>
              <a:t>ș</a:t>
            </a:r>
            <a:r>
              <a:rPr sz="1200" b="0" i="0" dirty="0" smtClean="0">
                <a:solidFill>
                  <a:srgbClr val="4B5563"/>
                </a:solidFill>
                <a:latin typeface="Segoe UI"/>
              </a:rPr>
              <a:t>i </a:t>
            </a:r>
            <a:r>
              <a:rPr sz="1200" b="1" i="0" dirty="0">
                <a:solidFill>
                  <a:srgbClr val="1F4E79"/>
                </a:solidFill>
                <a:latin typeface="Consolas"/>
              </a:rPr>
              <a:t>Neg(Neg(y))</a:t>
            </a:r>
          </a:p>
        </p:txBody>
      </p:sp>
      <p:sp>
        <p:nvSpPr>
          <p:cNvPr id="15" name="Rounded Rectangle 8"/>
          <p:cNvSpPr/>
          <p:nvPr/>
        </p:nvSpPr>
        <p:spPr>
          <a:xfrm>
            <a:off x="8431784" y="2717800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Add</a:t>
            </a:r>
          </a:p>
        </p:txBody>
      </p:sp>
      <p:sp>
        <p:nvSpPr>
          <p:cNvPr id="17" name="Rounded Rectangle 10"/>
          <p:cNvSpPr/>
          <p:nvPr/>
        </p:nvSpPr>
        <p:spPr>
          <a:xfrm>
            <a:off x="9410192" y="3385312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Neg</a:t>
            </a:r>
          </a:p>
        </p:txBody>
      </p:sp>
      <p:sp>
        <p:nvSpPr>
          <p:cNvPr id="20" name="Rounded Rectangle 13"/>
          <p:cNvSpPr/>
          <p:nvPr/>
        </p:nvSpPr>
        <p:spPr>
          <a:xfrm>
            <a:off x="9410192" y="4043680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Neg</a:t>
            </a:r>
          </a:p>
        </p:txBody>
      </p:sp>
      <p:sp>
        <p:nvSpPr>
          <p:cNvPr id="21" name="Rounded Rectangle 14"/>
          <p:cNvSpPr/>
          <p:nvPr/>
        </p:nvSpPr>
        <p:spPr>
          <a:xfrm>
            <a:off x="9410192" y="4702048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y</a:t>
            </a:r>
          </a:p>
        </p:txBody>
      </p:sp>
      <p:sp>
        <p:nvSpPr>
          <p:cNvPr id="16" name="Rounded Rectangle 9"/>
          <p:cNvSpPr/>
          <p:nvPr/>
        </p:nvSpPr>
        <p:spPr>
          <a:xfrm>
            <a:off x="7453376" y="3385312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Mul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53160" y="5762752"/>
            <a:ext cx="10058400" cy="579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 err="1">
                <a:solidFill>
                  <a:srgbClr val="2F3338"/>
                </a:solidFill>
                <a:latin typeface="Segoe UI"/>
              </a:rPr>
              <a:t>Modelarea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cu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tipuri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algebrice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face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structura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expresiilor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explicit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ro-RO" sz="1500" dirty="0" err="1">
                <a:solidFill>
                  <a:srgbClr val="2F3338"/>
                </a:solidFill>
                <a:latin typeface="Segoe UI"/>
              </a:rPr>
              <a:t>ș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i u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ș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or 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de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procesat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recursiv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Func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ii 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precum size/depth/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operatorCount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folosesc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direct 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aceast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structur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ă.</a:t>
            </a:r>
            <a:endParaRPr sz="1500" b="0" i="0" dirty="0">
              <a:solidFill>
                <a:srgbClr val="2F333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 err="1">
                <a:solidFill>
                  <a:srgbClr val="2F3338"/>
                </a:solidFill>
              </a:rPr>
              <a:t>Evaluatorul</a:t>
            </a:r>
            <a:r>
              <a:rPr sz="3500" dirty="0">
                <a:solidFill>
                  <a:srgbClr val="2F3338"/>
                </a:solidFill>
              </a:rPr>
              <a:t>: </a:t>
            </a:r>
            <a:r>
              <a:rPr sz="3500" dirty="0" err="1">
                <a:solidFill>
                  <a:srgbClr val="2F3338"/>
                </a:solidFill>
              </a:rPr>
              <a:t>semantica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smtClean="0">
                <a:solidFill>
                  <a:srgbClr val="2F3338"/>
                </a:solidFill>
              </a:rPr>
              <a:t>opera</a:t>
            </a:r>
            <a:r>
              <a:rPr lang="ro-RO" sz="3500" dirty="0" smtClean="0">
                <a:solidFill>
                  <a:srgbClr val="2F3338"/>
                </a:solidFill>
              </a:rPr>
              <a:t>ț</a:t>
            </a:r>
            <a:r>
              <a:rPr sz="3500" dirty="0" err="1" smtClean="0">
                <a:solidFill>
                  <a:srgbClr val="2F3338"/>
                </a:solidFill>
              </a:rPr>
              <a:t>ional</a:t>
            </a:r>
            <a:r>
              <a:rPr lang="ro-RO" sz="3500" dirty="0" smtClean="0">
                <a:solidFill>
                  <a:srgbClr val="2F3338"/>
                </a:solidFill>
              </a:rPr>
              <a:t>ă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159000"/>
            <a:ext cx="10058400" cy="178308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TextBox 3"/>
          <p:cNvSpPr txBox="1"/>
          <p:nvPr/>
        </p:nvSpPr>
        <p:spPr>
          <a:xfrm>
            <a:off x="1261872" y="2250440"/>
            <a:ext cx="97292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CDCFE"/>
                </a:solidFill>
                <a:latin typeface="Consolas"/>
              </a:rPr>
              <a:t>Fragment din Eval.hs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2524760"/>
            <a:ext cx="9729216" cy="789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D4D4D4"/>
                </a:solidFill>
                <a:latin typeface="Consolas"/>
              </a:rPr>
              <a:t>eval :: Env -&gt; Expr -&gt; Maybe Int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D4D4D4"/>
                </a:solidFill>
                <a:latin typeface="Consolas"/>
              </a:rPr>
              <a:t>eval env (Add a b) = liftA2 (+) (eval env a) (eval env b)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D4D4D4"/>
                </a:solidFill>
                <a:latin typeface="Consolas"/>
              </a:rPr>
              <a:t>eval env (Var x)   = </a:t>
            </a:r>
            <a:r>
              <a:rPr sz="1400" b="0" i="0" dirty="0" err="1">
                <a:solidFill>
                  <a:srgbClr val="D4D4D4"/>
                </a:solidFill>
                <a:latin typeface="Consolas"/>
              </a:rPr>
              <a:t>Map.lookup</a:t>
            </a:r>
            <a:r>
              <a:rPr sz="1400" b="0" i="0" dirty="0">
                <a:solidFill>
                  <a:srgbClr val="D4D4D4"/>
                </a:solidFill>
                <a:latin typeface="Consolas"/>
              </a:rPr>
              <a:t> x env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079239"/>
            <a:ext cx="10058400" cy="20574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" name="TextBox 6"/>
          <p:cNvSpPr txBox="1"/>
          <p:nvPr/>
        </p:nvSpPr>
        <p:spPr>
          <a:xfrm>
            <a:off x="1325880" y="4307839"/>
            <a:ext cx="9601200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Maybe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encodeaz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explicit 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e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ș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ecul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par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ial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(Nothing)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opera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iile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binare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reu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ș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esc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doar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dac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ambele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subexpresii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sunt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evaluabile</a:t>
            </a:r>
            <a:endParaRPr sz="16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design-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ul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evit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excep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ii 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runtime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variabile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nedefinite</a:t>
            </a:r>
            <a:endParaRPr sz="1600" b="0" i="0" dirty="0">
              <a:solidFill>
                <a:srgbClr val="2F333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 err="1">
                <a:solidFill>
                  <a:srgbClr val="2F3338"/>
                </a:solidFill>
              </a:rPr>
              <a:t>Simplificatorul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lang="ro-RO" sz="3500" dirty="0" err="1">
                <a:solidFill>
                  <a:srgbClr val="2F3338"/>
                </a:solidFill>
              </a:rPr>
              <a:t>ș</a:t>
            </a:r>
            <a:r>
              <a:rPr sz="3500" dirty="0" smtClean="0">
                <a:solidFill>
                  <a:srgbClr val="2F3338"/>
                </a:solidFill>
              </a:rPr>
              <a:t>i </a:t>
            </a:r>
            <a:r>
              <a:rPr sz="3500" dirty="0" err="1">
                <a:solidFill>
                  <a:srgbClr val="2F3338"/>
                </a:solidFill>
              </a:rPr>
              <a:t>regulile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err="1">
                <a:solidFill>
                  <a:srgbClr val="2F3338"/>
                </a:solidFill>
              </a:rPr>
              <a:t>algebrice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97280" y="2027982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 err="1">
                <a:solidFill>
                  <a:srgbClr val="2F3338"/>
                </a:solidFill>
                <a:latin typeface="Segoe UI"/>
              </a:rPr>
              <a:t>Simplificarea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aplic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reguli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p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â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n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la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stabilizare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(fixpoint).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1" y="2514600"/>
            <a:ext cx="4846320" cy="356616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309360" y="2514600"/>
            <a:ext cx="4846320" cy="356616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4604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25881" y="3429000"/>
            <a:ext cx="4389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x + 0 -&gt; x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x * 1 -&gt; x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x * 0 -&gt; 0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x - x -&gt; 0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--x -&gt; x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- 0 - e -&gt; -e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7000" y="3670717"/>
            <a:ext cx="4389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Const a + Const b -&gt; Const (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a+b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Const a * Const b -&gt; Const (a*b)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Const a - Const b -&gt; Const (a-b)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regulile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sunt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aplicate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recursiv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pe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subarbori</a:t>
            </a:r>
            <a:endParaRPr sz="1500" b="0" i="0" dirty="0">
              <a:solidFill>
                <a:srgbClr val="2F333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>
                <a:solidFill>
                  <a:srgbClr val="2F3338"/>
                </a:solidFill>
              </a:rPr>
              <a:t>Pretty + Parser: round-trip semantic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024380"/>
            <a:ext cx="10058400" cy="418592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4604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TextBox 3"/>
          <p:cNvSpPr txBox="1"/>
          <p:nvPr/>
        </p:nvSpPr>
        <p:spPr>
          <a:xfrm>
            <a:off x="1325880" y="2207260"/>
            <a:ext cx="9601200" cy="9746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Pretty.hs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foloseste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 smtClean="0">
                <a:solidFill>
                  <a:srgbClr val="2F3338"/>
                </a:solidFill>
                <a:latin typeface="Segoe UI"/>
              </a:rPr>
              <a:t>priorit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ro-RO" dirty="0">
                <a:solidFill>
                  <a:srgbClr val="2F3338"/>
                </a:solidFill>
                <a:latin typeface="Segoe UI"/>
              </a:rPr>
              <a:t>ț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(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addPrec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mulPrec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negPrec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)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paranteze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corecte</a:t>
            </a:r>
            <a:endParaRPr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Parser.hs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respect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 smtClean="0">
                <a:solidFill>
                  <a:srgbClr val="2F3338"/>
                </a:solidFill>
                <a:latin typeface="Segoe UI"/>
              </a:rPr>
              <a:t>preceden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a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operatorilor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: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exprP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(+/-),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termP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(*),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factorP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(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negare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b="0" i="0" dirty="0">
                <a:solidFill>
                  <a:srgbClr val="2F3338"/>
                </a:solidFill>
                <a:latin typeface="Segoe UI"/>
              </a:rPr>
              <a:t>- sunt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suportate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variabile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constante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paranteze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ro-RO" dirty="0" err="1">
                <a:solidFill>
                  <a:srgbClr val="2F3338"/>
                </a:solidFill>
                <a:latin typeface="Segoe UI"/>
              </a:rPr>
              <a:t>ș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negare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unara</a:t>
            </a:r>
            <a:endParaRPr b="0" i="0" dirty="0">
              <a:solidFill>
                <a:srgbClr val="2F3338"/>
              </a:solidFill>
              <a:latin typeface="Segoe U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325880" y="3944620"/>
            <a:ext cx="9601200" cy="132588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TextBox 5"/>
          <p:cNvSpPr txBox="1"/>
          <p:nvPr/>
        </p:nvSpPr>
        <p:spPr>
          <a:xfrm>
            <a:off x="1490472" y="4036059"/>
            <a:ext cx="92720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9CDCFE"/>
                </a:solidFill>
                <a:latin typeface="Consolas"/>
              </a:rPr>
              <a:t>Proprietate validata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2" y="4310380"/>
            <a:ext cx="92720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D4D4D4"/>
                </a:solidFill>
                <a:latin typeface="Consolas"/>
              </a:rPr>
              <a:t>eval env (parse(pretty(expr))) == eval env expr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dirty="0" err="1">
                <a:solidFill>
                  <a:schemeClr val="tx1"/>
                </a:solidFill>
              </a:rPr>
              <a:t>Generatoarele</a:t>
            </a:r>
            <a:r>
              <a:rPr sz="3200" dirty="0">
                <a:solidFill>
                  <a:schemeClr val="tx1"/>
                </a:solidFill>
              </a:rPr>
              <a:t> </a:t>
            </a:r>
            <a:r>
              <a:rPr sz="3200" dirty="0" err="1">
                <a:solidFill>
                  <a:schemeClr val="tx1"/>
                </a:solidFill>
              </a:rPr>
              <a:t>proprii</a:t>
            </a:r>
            <a:r>
              <a:rPr sz="3200" dirty="0">
                <a:solidFill>
                  <a:schemeClr val="tx1"/>
                </a:solidFill>
              </a:rPr>
              <a:t> (de </a:t>
            </a:r>
            <a:r>
              <a:rPr sz="3200" dirty="0" err="1">
                <a:solidFill>
                  <a:schemeClr val="tx1"/>
                </a:solidFill>
              </a:rPr>
              <a:t>ce</a:t>
            </a:r>
            <a:r>
              <a:rPr sz="3200" dirty="0">
                <a:solidFill>
                  <a:schemeClr val="tx1"/>
                </a:solidFill>
              </a:rPr>
              <a:t> </a:t>
            </a:r>
            <a:r>
              <a:rPr sz="3200" dirty="0" err="1" smtClean="0">
                <a:solidFill>
                  <a:schemeClr val="tx1"/>
                </a:solidFill>
              </a:rPr>
              <a:t>conteaz</a:t>
            </a:r>
            <a:r>
              <a:rPr lang="ro-RO" sz="3200" dirty="0" smtClean="0">
                <a:solidFill>
                  <a:schemeClr val="tx1"/>
                </a:solidFill>
              </a:rPr>
              <a:t>ă</a:t>
            </a:r>
            <a:r>
              <a:rPr sz="3200" dirty="0" smtClean="0">
                <a:solidFill>
                  <a:schemeClr val="tx1"/>
                </a:solidFill>
              </a:rPr>
              <a:t>)</a:t>
            </a:r>
            <a:endParaRPr sz="3200" dirty="0">
              <a:solidFill>
                <a:schemeClr val="tx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97280" y="2014173"/>
            <a:ext cx="101473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 i="0" dirty="0" err="1">
                <a:solidFill>
                  <a:srgbClr val="2F2F2F"/>
                </a:solidFill>
                <a:latin typeface="Calibri"/>
              </a:rPr>
              <a:t>Generatoarele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 sunt </a:t>
            </a:r>
            <a:r>
              <a:rPr sz="1600" b="0" i="0" dirty="0" err="1">
                <a:solidFill>
                  <a:srgbClr val="2F2F2F"/>
                </a:solidFill>
                <a:latin typeface="Calibri"/>
              </a:rPr>
              <a:t>scrise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 </a:t>
            </a:r>
            <a:r>
              <a:rPr sz="1600" b="1" i="0" dirty="0">
                <a:solidFill>
                  <a:srgbClr val="2F2F2F"/>
                </a:solidFill>
                <a:latin typeface="Calibri"/>
              </a:rPr>
              <a:t>manual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, nu derivate automat. Un generator automat (</a:t>
            </a:r>
            <a:r>
              <a:rPr sz="1600" b="1" i="0" dirty="0" err="1">
                <a:solidFill>
                  <a:srgbClr val="2F2F2F"/>
                </a:solidFill>
                <a:latin typeface="Consolas"/>
              </a:rPr>
              <a:t>genericArbitrary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) nu </a:t>
            </a:r>
            <a:r>
              <a:rPr sz="1600" b="0" i="0" dirty="0" err="1" smtClean="0">
                <a:solidFill>
                  <a:srgbClr val="2F2F2F"/>
                </a:solidFill>
                <a:latin typeface="Calibri"/>
              </a:rPr>
              <a:t>cunoa</a:t>
            </a:r>
            <a:r>
              <a:rPr lang="ro-RO" sz="1600" b="0" i="0" dirty="0" smtClean="0">
                <a:solidFill>
                  <a:srgbClr val="2F2F2F"/>
                </a:solidFill>
                <a:latin typeface="Calibri"/>
              </a:rPr>
              <a:t>ș</a:t>
            </a:r>
            <a:r>
              <a:rPr sz="1600" b="0" i="0" dirty="0" err="1" smtClean="0">
                <a:solidFill>
                  <a:srgbClr val="2F2F2F"/>
                </a:solidFill>
                <a:latin typeface="Calibri"/>
              </a:rPr>
              <a:t>te</a:t>
            </a:r>
            <a:r>
              <a:rPr sz="1600" b="0" i="0" dirty="0" smtClean="0">
                <a:solidFill>
                  <a:srgbClr val="2F2F2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F2F2F"/>
                </a:solidFill>
                <a:latin typeface="Calibri"/>
              </a:rPr>
              <a:t>domeniul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 </a:t>
            </a:r>
            <a:r>
              <a:rPr lang="ro-RO" sz="1600" dirty="0" err="1">
                <a:solidFill>
                  <a:srgbClr val="2F2F2F"/>
                </a:solidFill>
                <a:latin typeface="Calibri"/>
              </a:rPr>
              <a:t>ș</a:t>
            </a:r>
            <a:r>
              <a:rPr sz="1600" b="0" i="0" dirty="0" smtClean="0">
                <a:solidFill>
                  <a:srgbClr val="2F2F2F"/>
                </a:solidFill>
                <a:latin typeface="Calibri"/>
              </a:rPr>
              <a:t>i </a:t>
            </a:r>
            <a:r>
              <a:rPr sz="1600" b="0" i="0" dirty="0" err="1">
                <a:solidFill>
                  <a:srgbClr val="2F2F2F"/>
                </a:solidFill>
                <a:latin typeface="Calibri"/>
              </a:rPr>
              <a:t>poate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 produce </a:t>
            </a:r>
            <a:r>
              <a:rPr sz="1600" b="0" i="0" dirty="0" err="1">
                <a:solidFill>
                  <a:srgbClr val="2F2F2F"/>
                </a:solidFill>
                <a:latin typeface="Calibri"/>
              </a:rPr>
              <a:t>expresii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F2F2F"/>
                </a:solidFill>
                <a:latin typeface="Calibri"/>
              </a:rPr>
              <a:t>dezechilibrate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86180" y="2759395"/>
            <a:ext cx="4864608" cy="1965960"/>
          </a:xfrm>
          <a:prstGeom prst="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50772" y="2809748"/>
            <a:ext cx="4535424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 dirty="0" err="1">
                <a:solidFill>
                  <a:srgbClr val="4EC9B0"/>
                </a:solidFill>
                <a:latin typeface="Consolas"/>
              </a:rPr>
              <a:t>genSmallInt</a:t>
            </a:r>
            <a:r>
              <a:rPr sz="1400" b="0" i="0" dirty="0">
                <a:solidFill>
                  <a:srgbClr val="D4D4D4"/>
                </a:solidFill>
                <a:latin typeface="Consolas"/>
              </a:rPr>
              <a:t> - </a:t>
            </a:r>
            <a:r>
              <a:rPr sz="1400" b="0" i="0" dirty="0" err="1">
                <a:solidFill>
                  <a:srgbClr val="D4D4D4"/>
                </a:solidFill>
                <a:latin typeface="Consolas"/>
              </a:rPr>
              <a:t>ponderi</a:t>
            </a:r>
            <a:r>
              <a:rPr sz="1400" b="0" i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400" b="0" i="0" dirty="0" err="1">
                <a:solidFill>
                  <a:srgbClr val="D4D4D4"/>
                </a:solidFill>
                <a:latin typeface="Consolas"/>
              </a:rPr>
              <a:t>explicite</a:t>
            </a:r>
            <a:r>
              <a:rPr sz="1400" b="0" i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400" b="0" i="0" dirty="0" err="1">
                <a:solidFill>
                  <a:srgbClr val="D4D4D4"/>
                </a:solidFill>
                <a:latin typeface="Consolas"/>
              </a:rPr>
              <a:t>pentru</a:t>
            </a:r>
            <a:r>
              <a:rPr sz="1400" b="0" i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400" b="0" i="0" dirty="0" err="1">
                <a:solidFill>
                  <a:srgbClr val="D4D4D4"/>
                </a:solidFill>
                <a:latin typeface="Consolas"/>
              </a:rPr>
              <a:t>constante</a:t>
            </a:r>
            <a:endParaRPr sz="1400" b="0" i="0" dirty="0">
              <a:solidFill>
                <a:srgbClr val="D4D4D4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0" i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CDCAA"/>
                </a:solidFill>
                <a:latin typeface="Consolas"/>
              </a:rPr>
              <a:t>frequency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  [ (</a:t>
            </a:r>
            <a:r>
              <a:rPr sz="1300" b="0" i="0" dirty="0">
                <a:solidFill>
                  <a:srgbClr val="B5CEA8"/>
                </a:solidFill>
                <a:latin typeface="Consolas"/>
              </a:rPr>
              <a:t>5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300" b="0" i="0" dirty="0" err="1">
                <a:solidFill>
                  <a:srgbClr val="9CDCFE"/>
                </a:solidFill>
                <a:latin typeface="Consolas"/>
              </a:rPr>
              <a:t>chooseInt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(-4, 4))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  -- 83%: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numere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mici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,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usor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de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citit</a:t>
            </a:r>
            <a:endParaRPr sz="1300" b="0" i="0" dirty="0">
              <a:solidFill>
                <a:srgbClr val="6A9955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  , (</a:t>
            </a:r>
            <a:r>
              <a:rPr sz="1300" b="0" i="0" dirty="0">
                <a:solidFill>
                  <a:srgbClr val="B5CEA8"/>
                </a:solidFill>
                <a:latin typeface="Consolas"/>
              </a:rPr>
              <a:t>1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300" b="0" i="0" dirty="0" err="1">
                <a:solidFill>
                  <a:srgbClr val="9CDCFE"/>
                </a:solidFill>
                <a:latin typeface="Consolas"/>
              </a:rPr>
              <a:t>chooseInt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(-12, 12))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-- 17%: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numere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mai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mari</a:t>
            </a:r>
            <a:endParaRPr sz="1300" b="0" i="0" dirty="0">
              <a:solidFill>
                <a:srgbClr val="6A9955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  ]</a:t>
            </a:r>
          </a:p>
        </p:txBody>
      </p:sp>
      <p:sp>
        <p:nvSpPr>
          <p:cNvPr id="6" name="Rectangle 5"/>
          <p:cNvSpPr/>
          <p:nvPr/>
        </p:nvSpPr>
        <p:spPr>
          <a:xfrm>
            <a:off x="6379972" y="2759395"/>
            <a:ext cx="4864608" cy="2331720"/>
          </a:xfrm>
          <a:prstGeom prst="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44564" y="2809748"/>
            <a:ext cx="4535424" cy="21122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EC9B0"/>
                </a:solidFill>
                <a:latin typeface="Consolas"/>
              </a:rPr>
              <a:t>genExpr</a:t>
            </a:r>
            <a:r>
              <a:rPr sz="1400" b="0" i="0">
                <a:solidFill>
                  <a:srgbClr val="D4D4D4"/>
                </a:solidFill>
                <a:latin typeface="Consolas"/>
              </a:rPr>
              <a:t> cu </a:t>
            </a:r>
            <a:r>
              <a:rPr sz="1400" b="1" i="0">
                <a:solidFill>
                  <a:srgbClr val="569CD6"/>
                </a:solidFill>
                <a:latin typeface="Consolas"/>
              </a:rPr>
              <a:t>sized</a:t>
            </a:r>
            <a:r>
              <a:rPr sz="1400" b="0" i="0">
                <a:solidFill>
                  <a:srgbClr val="D4D4D4"/>
                </a:solidFill>
                <a:latin typeface="Consolas"/>
              </a:rPr>
              <a:t> + </a:t>
            </a:r>
            <a:r>
              <a:rPr sz="1400" b="0" i="0">
                <a:solidFill>
                  <a:srgbClr val="DCDCAA"/>
                </a:solidFill>
                <a:latin typeface="Consolas"/>
              </a:rPr>
              <a:t>frequency</a:t>
            </a:r>
            <a:r>
              <a:rPr sz="1400" b="0" i="0">
                <a:solidFill>
                  <a:srgbClr val="D4D4D4"/>
                </a:solidFill>
                <a:latin typeface="Consolas"/>
              </a:rPr>
              <a:t>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D4D4D4"/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CDCAA"/>
                </a:solidFill>
                <a:latin typeface="Consolas"/>
              </a:rPr>
              <a:t>frequency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[ (</a:t>
            </a:r>
            <a:r>
              <a:rPr sz="1300" b="0" i="0">
                <a:solidFill>
                  <a:srgbClr val="B5CEA8"/>
                </a:solidFill>
                <a:latin typeface="Consolas"/>
              </a:rPr>
              <a:t>5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, terminal)</a:t>
            </a:r>
            <a:r>
              <a:rPr sz="1300" b="0" i="0">
                <a:solidFill>
                  <a:srgbClr val="6A9955"/>
                </a:solidFill>
                <a:latin typeface="Consolas"/>
              </a:rPr>
              <a:t>    -- 26%: Const sau Var (opreste recursivitatea)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, (</a:t>
            </a:r>
            <a:r>
              <a:rPr sz="1300" b="0" i="0">
                <a:solidFill>
                  <a:srgbClr val="B5CEA8"/>
                </a:solidFill>
                <a:latin typeface="Consolas"/>
              </a:rPr>
              <a:t>2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, </a:t>
            </a:r>
            <a:r>
              <a:rPr sz="1300" b="1" i="0">
                <a:solidFill>
                  <a:srgbClr val="569CD6"/>
                </a:solidFill>
                <a:latin typeface="Consolas"/>
              </a:rPr>
              <a:t>Neg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 ...)</a:t>
            </a:r>
            <a:r>
              <a:rPr sz="1300" b="0" i="0">
                <a:solidFill>
                  <a:srgbClr val="6A9955"/>
                </a:solidFill>
                <a:latin typeface="Consolas"/>
              </a:rPr>
              <a:t>     -- 11%: negatie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, (</a:t>
            </a:r>
            <a:r>
              <a:rPr sz="1300" b="0" i="0">
                <a:solidFill>
                  <a:srgbClr val="B5CEA8"/>
                </a:solidFill>
                <a:latin typeface="Consolas"/>
              </a:rPr>
              <a:t>4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, bin </a:t>
            </a:r>
            <a:r>
              <a:rPr sz="1300" b="1" i="0">
                <a:solidFill>
                  <a:srgbClr val="569CD6"/>
                </a:solidFill>
                <a:latin typeface="Consolas"/>
              </a:rPr>
              <a:t>Add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 ...)</a:t>
            </a:r>
            <a:r>
              <a:rPr sz="1300" b="0" i="0">
                <a:solidFill>
                  <a:srgbClr val="6A9955"/>
                </a:solidFill>
                <a:latin typeface="Consolas"/>
              </a:rPr>
              <a:t> -- 21%: adunare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, (</a:t>
            </a:r>
            <a:r>
              <a:rPr sz="1300" b="0" i="0">
                <a:solidFill>
                  <a:srgbClr val="B5CEA8"/>
                </a:solidFill>
                <a:latin typeface="Consolas"/>
              </a:rPr>
              <a:t>4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, bin </a:t>
            </a:r>
            <a:r>
              <a:rPr sz="1300" b="1" i="0">
                <a:solidFill>
                  <a:srgbClr val="569CD6"/>
                </a:solidFill>
                <a:latin typeface="Consolas"/>
              </a:rPr>
              <a:t>Sub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 ...)</a:t>
            </a:r>
            <a:r>
              <a:rPr sz="1300" b="0" i="0">
                <a:solidFill>
                  <a:srgbClr val="6A9955"/>
                </a:solidFill>
                <a:latin typeface="Consolas"/>
              </a:rPr>
              <a:t> -- 21%: scadere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, (</a:t>
            </a:r>
            <a:r>
              <a:rPr sz="1300" b="0" i="0">
                <a:solidFill>
                  <a:srgbClr val="B5CEA8"/>
                </a:solidFill>
                <a:latin typeface="Consolas"/>
              </a:rPr>
              <a:t>4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, bin </a:t>
            </a:r>
            <a:r>
              <a:rPr sz="1300" b="1" i="0">
                <a:solidFill>
                  <a:srgbClr val="569CD6"/>
                </a:solidFill>
                <a:latin typeface="Consolas"/>
              </a:rPr>
              <a:t>Mul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 ...)</a:t>
            </a:r>
            <a:r>
              <a:rPr sz="1300" b="0" i="0">
                <a:solidFill>
                  <a:srgbClr val="6A9955"/>
                </a:solidFill>
                <a:latin typeface="Consolas"/>
              </a:rPr>
              <a:t> -- 21%: inmultire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4972364"/>
            <a:ext cx="100584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 dirty="0">
                <a:solidFill>
                  <a:srgbClr val="2F2F2F"/>
                </a:solidFill>
                <a:latin typeface="Calibri"/>
              </a:rPr>
              <a:t>De </a:t>
            </a:r>
            <a:r>
              <a:rPr sz="1800" b="1" i="0" dirty="0" err="1">
                <a:solidFill>
                  <a:srgbClr val="2F2F2F"/>
                </a:solidFill>
                <a:latin typeface="Calibri"/>
              </a:rPr>
              <a:t>ce</a:t>
            </a:r>
            <a:r>
              <a:rPr sz="1800" b="1" i="0" dirty="0">
                <a:solidFill>
                  <a:srgbClr val="2F2F2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2F2F2F"/>
                </a:solidFill>
                <a:latin typeface="Calibri"/>
              </a:rPr>
              <a:t>aceste</a:t>
            </a:r>
            <a:r>
              <a:rPr sz="1800" b="1" i="0" dirty="0">
                <a:solidFill>
                  <a:srgbClr val="2F2F2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2F2F2F"/>
                </a:solidFill>
                <a:latin typeface="Calibri"/>
              </a:rPr>
              <a:t>ponderi</a:t>
            </a:r>
            <a:r>
              <a:rPr sz="1800" b="1" i="0" dirty="0">
                <a:solidFill>
                  <a:srgbClr val="2F2F2F"/>
                </a:solidFill>
                <a:latin typeface="Calibri"/>
              </a:rPr>
              <a:t>:</a:t>
            </a:r>
          </a:p>
          <a:p>
            <a:r>
              <a:rPr lang="it-IT" sz="16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it-IT" sz="1600" b="1" dirty="0">
                <a:solidFill>
                  <a:srgbClr val="2F3338"/>
                </a:solidFill>
                <a:latin typeface="Segoe UI"/>
              </a:rPr>
              <a:t>terminalele</a:t>
            </a:r>
            <a:r>
              <a:rPr lang="it-IT" sz="1600" dirty="0">
                <a:solidFill>
                  <a:srgbClr val="2F3338"/>
                </a:solidFill>
                <a:latin typeface="Segoe UI"/>
              </a:rPr>
              <a:t> au pondere mai mare pentru a opri recursivitatea</a:t>
            </a:r>
          </a:p>
          <a:p>
            <a:r>
              <a:rPr lang="it-IT" sz="16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it-IT" sz="1600" b="1" dirty="0">
                <a:solidFill>
                  <a:srgbClr val="2F3338"/>
                </a:solidFill>
                <a:latin typeface="Segoe UI"/>
              </a:rPr>
              <a:t>Neg</a:t>
            </a:r>
            <a:r>
              <a:rPr lang="it-IT" sz="1600" dirty="0">
                <a:solidFill>
                  <a:srgbClr val="2F3338"/>
                </a:solidFill>
                <a:latin typeface="Segoe UI"/>
              </a:rPr>
              <a:t> are pondere mai </a:t>
            </a:r>
            <a:r>
              <a:rPr lang="it-IT" sz="1600" dirty="0" smtClean="0">
                <a:solidFill>
                  <a:srgbClr val="2F3338"/>
                </a:solidFill>
                <a:latin typeface="Segoe UI"/>
              </a:rPr>
              <a:t>mic</a:t>
            </a:r>
            <a:r>
              <a:rPr lang="ro-RO" sz="160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it-IT" sz="160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it-IT" sz="1600" dirty="0">
                <a:solidFill>
                  <a:srgbClr val="2F3338"/>
                </a:solidFill>
                <a:latin typeface="Segoe UI"/>
              </a:rPr>
              <a:t>(un singur subarbore)</a:t>
            </a:r>
          </a:p>
          <a:p>
            <a:r>
              <a:rPr lang="it-IT" sz="16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it-IT" sz="1600" b="1" dirty="0">
                <a:solidFill>
                  <a:srgbClr val="2F3338"/>
                </a:solidFill>
                <a:latin typeface="Segoe UI"/>
              </a:rPr>
              <a:t>operatorii</a:t>
            </a:r>
            <a:r>
              <a:rPr lang="it-IT" sz="1600" dirty="0">
                <a:solidFill>
                  <a:srgbClr val="2F3338"/>
                </a:solidFill>
                <a:latin typeface="Segoe UI"/>
              </a:rPr>
              <a:t> binari sunt egali, nu </a:t>
            </a:r>
            <a:r>
              <a:rPr lang="it-IT" sz="1600" dirty="0" smtClean="0">
                <a:solidFill>
                  <a:srgbClr val="2F3338"/>
                </a:solidFill>
                <a:latin typeface="Segoe UI"/>
              </a:rPr>
              <a:t>favoriz</a:t>
            </a:r>
            <a:r>
              <a:rPr lang="ro-RO" sz="160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it-IT" sz="1600" dirty="0" smtClean="0">
                <a:solidFill>
                  <a:srgbClr val="2F3338"/>
                </a:solidFill>
                <a:latin typeface="Segoe UI"/>
              </a:rPr>
              <a:t>m </a:t>
            </a:r>
            <a:r>
              <a:rPr lang="it-IT" sz="1600" dirty="0">
                <a:solidFill>
                  <a:srgbClr val="2F3338"/>
                </a:solidFill>
                <a:latin typeface="Segoe UI"/>
              </a:rPr>
              <a:t>niciun operator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 err="1">
                <a:solidFill>
                  <a:srgbClr val="2F3338"/>
                </a:solidFill>
              </a:rPr>
              <a:t>genExpr</a:t>
            </a:r>
            <a:r>
              <a:rPr sz="3500" dirty="0">
                <a:solidFill>
                  <a:srgbClr val="2F3338"/>
                </a:solidFill>
              </a:rPr>
              <a:t>, </a:t>
            </a:r>
            <a:r>
              <a:rPr sz="3500" dirty="0" err="1">
                <a:solidFill>
                  <a:srgbClr val="2F3338"/>
                </a:solidFill>
              </a:rPr>
              <a:t>genClosedExpr</a:t>
            </a:r>
            <a:r>
              <a:rPr sz="3500" dirty="0">
                <a:solidFill>
                  <a:srgbClr val="2F3338"/>
                </a:solidFill>
              </a:rPr>
              <a:t>, </a:t>
            </a:r>
            <a:r>
              <a:rPr sz="3500" dirty="0" err="1">
                <a:solidFill>
                  <a:srgbClr val="2F3338"/>
                </a:solidFill>
              </a:rPr>
              <a:t>genEnvFor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138680"/>
            <a:ext cx="9773920" cy="4008120"/>
          </a:xfrm>
          <a:prstGeom prst="roundRect">
            <a:avLst/>
          </a:prstGeom>
          <a:solidFill>
            <a:srgbClr val="EEF4FF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TextBox 3"/>
          <p:cNvSpPr txBox="1"/>
          <p:nvPr/>
        </p:nvSpPr>
        <p:spPr>
          <a:xfrm>
            <a:off x="1325880" y="2321559"/>
            <a:ext cx="9329651" cy="610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genExpr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folose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ș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te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sized + frequency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controlul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recursivita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ii </a:t>
            </a:r>
            <a:r>
              <a:rPr lang="ro-RO" sz="1600" dirty="0" err="1">
                <a:solidFill>
                  <a:srgbClr val="2F3338"/>
                </a:solidFill>
                <a:latin typeface="Segoe UI"/>
              </a:rPr>
              <a:t>ș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distribu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iei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constructorilor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genClosedExpr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produce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expresii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f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r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variabile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(utile in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propriet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ăț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ile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de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substitu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ie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25880" y="3235960"/>
            <a:ext cx="9329651" cy="1676866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1490471" y="3327400"/>
            <a:ext cx="90097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CDCFE"/>
                </a:solidFill>
                <a:latin typeface="Consolas"/>
              </a:rPr>
              <a:t>genEnvFor (mediu complet pentru variabilele libere)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1" y="3601720"/>
            <a:ext cx="9009777" cy="789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D4D4D4"/>
                </a:solidFill>
                <a:latin typeface="Consolas"/>
              </a:rPr>
              <a:t>let names = Set.toList (freeVars expr)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D4D4D4"/>
                </a:solidFill>
                <a:latin typeface="Consolas"/>
              </a:rPr>
              <a:t>values &lt;- vectorOf (length names) genSmallInt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D4D4D4"/>
                </a:solidFill>
                <a:latin typeface="Consolas"/>
              </a:rPr>
              <a:t>pure (Map.fromList (zip names values))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5247640"/>
            <a:ext cx="93296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Controlul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generatorului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+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medii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complete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reduc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fals-pozitivele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cresc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relevan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a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testelor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dirty="0" err="1"/>
              <a:t>shrinkExpr</a:t>
            </a:r>
            <a:r>
              <a:rPr sz="3400" dirty="0"/>
              <a:t>: </a:t>
            </a:r>
            <a:r>
              <a:rPr sz="3400" dirty="0" err="1"/>
              <a:t>contraexemple</a:t>
            </a:r>
            <a:r>
              <a:rPr sz="3400" dirty="0"/>
              <a:t> </a:t>
            </a:r>
            <a:r>
              <a:rPr sz="3400" dirty="0" err="1"/>
              <a:t>minimale</a:t>
            </a:r>
            <a:endParaRPr sz="3400" dirty="0"/>
          </a:p>
        </p:txBody>
      </p:sp>
      <p:sp>
        <p:nvSpPr>
          <p:cNvPr id="6" name="Rounded Rectangle 3"/>
          <p:cNvSpPr/>
          <p:nvPr/>
        </p:nvSpPr>
        <p:spPr>
          <a:xfrm>
            <a:off x="1097280" y="2267712"/>
            <a:ext cx="10058400" cy="1600200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61872" y="2377440"/>
            <a:ext cx="9729216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4EC9B0"/>
                </a:solidFill>
                <a:latin typeface="Consolas"/>
              </a:rPr>
              <a:t>shrinkExpr (Add a b)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D4D4D4"/>
                </a:solidFill>
                <a:latin typeface="Consolas"/>
              </a:rPr>
              <a:t>  = [a, b]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D4D4D4"/>
                </a:solidFill>
                <a:latin typeface="Consolas"/>
              </a:rPr>
              <a:t>  ++ [Add a' b | a' &lt;- shrinkExpr a]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D4D4D4"/>
                </a:solidFill>
                <a:latin typeface="Consolas"/>
              </a:rPr>
              <a:t>  ++ [Add a b' | b' &lt;- shrinkExpr b]</a:t>
            </a:r>
          </a:p>
        </p:txBody>
      </p:sp>
      <p:sp>
        <p:nvSpPr>
          <p:cNvPr id="8" name="Rounded Rectangle 5"/>
          <p:cNvSpPr/>
          <p:nvPr/>
        </p:nvSpPr>
        <p:spPr>
          <a:xfrm>
            <a:off x="1097280" y="4069080"/>
            <a:ext cx="4864608" cy="2011680"/>
          </a:xfrm>
          <a:prstGeom prst="roundRect">
            <a:avLst/>
          </a:prstGeom>
          <a:solidFill>
            <a:srgbClr val="FFF1F2"/>
          </a:solidFill>
          <a:ln w="1524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6"/>
          <p:cNvSpPr/>
          <p:nvPr/>
        </p:nvSpPr>
        <p:spPr>
          <a:xfrm>
            <a:off x="6291072" y="4069080"/>
            <a:ext cx="4864608" cy="20116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98448" y="4279392"/>
            <a:ext cx="44805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 dirty="0" smtClean="0">
                <a:solidFill>
                  <a:srgbClr val="9A3412"/>
                </a:solidFill>
                <a:latin typeface="Segoe UI"/>
              </a:rPr>
              <a:t>F</a:t>
            </a:r>
            <a:r>
              <a:rPr lang="ro-RO" sz="2000" b="1" i="0" dirty="0" smtClean="0">
                <a:solidFill>
                  <a:srgbClr val="9A3412"/>
                </a:solidFill>
                <a:latin typeface="Segoe UI"/>
              </a:rPr>
              <a:t>ă</a:t>
            </a:r>
            <a:r>
              <a:rPr sz="2000" b="1" i="0" dirty="0" smtClean="0">
                <a:solidFill>
                  <a:srgbClr val="9A3412"/>
                </a:solidFill>
                <a:latin typeface="Segoe UI"/>
              </a:rPr>
              <a:t>r</a:t>
            </a:r>
            <a:r>
              <a:rPr lang="ro-RO" sz="2000" b="1" i="0" dirty="0" smtClean="0">
                <a:solidFill>
                  <a:srgbClr val="9A3412"/>
                </a:solidFill>
                <a:latin typeface="Segoe UI"/>
              </a:rPr>
              <a:t>ă</a:t>
            </a:r>
            <a:r>
              <a:rPr sz="2000" b="1" i="0" dirty="0" smtClean="0">
                <a:solidFill>
                  <a:srgbClr val="9A3412"/>
                </a:solidFill>
                <a:latin typeface="Segoe UI"/>
              </a:rPr>
              <a:t> </a:t>
            </a:r>
            <a:r>
              <a:rPr sz="2000" b="1" i="0" dirty="0">
                <a:solidFill>
                  <a:srgbClr val="9A3412"/>
                </a:solidFill>
                <a:latin typeface="Segoe UI"/>
              </a:rPr>
              <a:t>shrink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2F3338"/>
                </a:solidFill>
                <a:latin typeface="Consolas"/>
              </a:rPr>
              <a:t>Add (Mul (Add (Var "x") (Const 3))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2F3338"/>
                </a:solidFill>
                <a:latin typeface="Consolas"/>
              </a:rPr>
              <a:t>    (Const 2)) (Sub (Var "y") (Const 1))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279392"/>
            <a:ext cx="448056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 dirty="0">
                <a:solidFill>
                  <a:srgbClr val="166534"/>
                </a:solidFill>
                <a:latin typeface="Segoe UI"/>
              </a:rPr>
              <a:t>Cu shrink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 dirty="0">
                <a:solidFill>
                  <a:srgbClr val="2F3338"/>
                </a:solidFill>
                <a:latin typeface="Consolas"/>
              </a:rPr>
              <a:t>Add (Var "x") (Const 0)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 dirty="0" err="1">
                <a:solidFill>
                  <a:srgbClr val="4B5563"/>
                </a:solidFill>
                <a:latin typeface="Segoe UI"/>
              </a:rPr>
              <a:t>Acelasi</a:t>
            </a:r>
            <a:r>
              <a:rPr sz="1400" b="0" i="1" dirty="0">
                <a:solidFill>
                  <a:srgbClr val="4B5563"/>
                </a:solidFill>
                <a:latin typeface="Segoe UI"/>
              </a:rPr>
              <a:t> bug, </a:t>
            </a:r>
            <a:r>
              <a:rPr sz="1400" b="0" i="1" dirty="0" err="1">
                <a:solidFill>
                  <a:srgbClr val="4B5563"/>
                </a:solidFill>
                <a:latin typeface="Segoe UI"/>
              </a:rPr>
              <a:t>dar</a:t>
            </a:r>
            <a:r>
              <a:rPr sz="1400" b="0" i="1" dirty="0">
                <a:solidFill>
                  <a:srgbClr val="4B5563"/>
                </a:solidFill>
                <a:latin typeface="Segoe UI"/>
              </a:rPr>
              <a:t> </a:t>
            </a:r>
            <a:r>
              <a:rPr sz="1400" b="0" i="1" dirty="0" err="1">
                <a:solidFill>
                  <a:srgbClr val="4B5563"/>
                </a:solidFill>
                <a:latin typeface="Segoe UI"/>
              </a:rPr>
              <a:t>exprimat</a:t>
            </a:r>
            <a:r>
              <a:rPr sz="1400" b="0" i="1" dirty="0">
                <a:solidFill>
                  <a:srgbClr val="4B5563"/>
                </a:solidFill>
                <a:latin typeface="Segoe UI"/>
              </a:rPr>
              <a:t> minimal.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dirty="0" err="1"/>
              <a:t>Cele</a:t>
            </a:r>
            <a:r>
              <a:rPr sz="3400" dirty="0"/>
              <a:t> 16 </a:t>
            </a:r>
            <a:r>
              <a:rPr sz="3400" dirty="0" err="1" smtClean="0"/>
              <a:t>propriet</a:t>
            </a:r>
            <a:r>
              <a:rPr lang="ro-RO" sz="3400" dirty="0" smtClean="0"/>
              <a:t>ă</a:t>
            </a:r>
            <a:r>
              <a:rPr lang="ro-RO" sz="3400" dirty="0"/>
              <a:t>ț</a:t>
            </a:r>
            <a:r>
              <a:rPr sz="3400" dirty="0" smtClean="0"/>
              <a:t>i </a:t>
            </a:r>
            <a:r>
              <a:rPr sz="3400" dirty="0"/>
              <a:t>(</a:t>
            </a:r>
            <a:r>
              <a:rPr sz="3400" dirty="0" err="1"/>
              <a:t>grupate</a:t>
            </a:r>
            <a:r>
              <a:rPr sz="3400" dirty="0"/>
              <a:t>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79473285-A0EB-EEFF-685E-F4C3C41121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998720" cy="41656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400" b="1" kern="1000" spc="10" dirty="0" err="1">
                <a:solidFill>
                  <a:schemeClr val="tx1"/>
                </a:solidFill>
              </a:rPr>
              <a:t>Corectitudine</a:t>
            </a:r>
            <a:r>
              <a:rPr lang="en-US" sz="1400" b="1" kern="1000" spc="10" dirty="0">
                <a:solidFill>
                  <a:schemeClr val="tx1"/>
                </a:solidFill>
              </a:rPr>
              <a:t> </a:t>
            </a:r>
            <a:r>
              <a:rPr lang="en-US" sz="1400" b="1" kern="1000" spc="10" dirty="0" smtClean="0">
                <a:solidFill>
                  <a:schemeClr val="tx1"/>
                </a:solidFill>
              </a:rPr>
              <a:t>semantic</a:t>
            </a:r>
            <a:r>
              <a:rPr lang="ro-RO" sz="1400" b="1" kern="1000" spc="10" dirty="0" smtClean="0">
                <a:solidFill>
                  <a:schemeClr val="tx1"/>
                </a:solidFill>
              </a:rPr>
              <a:t>ă</a:t>
            </a:r>
            <a:r>
              <a:rPr lang="en-US" sz="1400" b="1" kern="1000" spc="10" dirty="0" smtClean="0">
                <a:solidFill>
                  <a:schemeClr val="tx1"/>
                </a:solidFill>
              </a:rPr>
              <a:t>:</a:t>
            </a:r>
            <a:r>
              <a:rPr lang="en-US" sz="1400" b="1" kern="1000" spc="10" dirty="0"/>
              <a:t/>
            </a:r>
            <a:br>
              <a:rPr lang="en-US" sz="1400" b="1" kern="1000" spc="10" dirty="0"/>
            </a:br>
            <a:r>
              <a:rPr lang="en-US" sz="1400" b="1" kern="1000" spc="10" dirty="0"/>
              <a:t/>
            </a:r>
            <a:br>
              <a:rPr lang="en-US" sz="1400" b="1" kern="1000" spc="10" dirty="0"/>
            </a:br>
            <a:r>
              <a:rPr lang="en-US" sz="1400" b="1" kern="1000" spc="10" dirty="0"/>
              <a:t>- </a:t>
            </a:r>
            <a:r>
              <a:rPr lang="en-US" sz="1400" kern="1000" spc="10" dirty="0" err="1"/>
              <a:t>Simplificarea</a:t>
            </a:r>
            <a:r>
              <a:rPr lang="en-US" sz="1400" kern="1000" spc="10" dirty="0"/>
              <a:t> </a:t>
            </a:r>
            <a:r>
              <a:rPr lang="en-US" sz="1400" kern="1000" spc="10" dirty="0" smtClean="0"/>
              <a:t>p</a:t>
            </a:r>
            <a:r>
              <a:rPr lang="ro-RO" sz="1400" kern="1000" spc="10" dirty="0" smtClean="0"/>
              <a:t>ăs</a:t>
            </a:r>
            <a:r>
              <a:rPr lang="en-US" sz="1400" kern="1000" spc="10" dirty="0" err="1" smtClean="0"/>
              <a:t>treaz</a:t>
            </a:r>
            <a:r>
              <a:rPr lang="ro-RO" sz="1400" kern="1000" spc="10" dirty="0" smtClean="0"/>
              <a:t>ă</a:t>
            </a:r>
            <a:r>
              <a:rPr lang="en-US" sz="1400" kern="1000" spc="10" dirty="0" smtClean="0"/>
              <a:t> </a:t>
            </a:r>
            <a:r>
              <a:rPr lang="en-US" sz="1400" kern="1000" spc="10" dirty="0" err="1"/>
              <a:t>semantica</a:t>
            </a:r>
            <a:r>
              <a:rPr lang="en-US" sz="1400" kern="1000" spc="10" dirty="0"/>
              <a:t/>
            </a:r>
            <a:br>
              <a:rPr lang="en-US" sz="1400" kern="1000" spc="10" dirty="0"/>
            </a:br>
            <a:r>
              <a:rPr lang="en-US" sz="1400" kern="1000" spc="10" dirty="0"/>
              <a:t>- Pretty-print </a:t>
            </a:r>
            <a:r>
              <a:rPr lang="en-US" sz="1400" kern="1000" spc="10" dirty="0" err="1"/>
              <a:t>urmat</a:t>
            </a:r>
            <a:r>
              <a:rPr lang="en-US" sz="1400" kern="1000" spc="10" dirty="0"/>
              <a:t> de </a:t>
            </a:r>
            <a:r>
              <a:rPr lang="en-US" sz="1400" kern="1000" spc="10" dirty="0" err="1"/>
              <a:t>parsare</a:t>
            </a:r>
            <a:r>
              <a:rPr lang="en-US" sz="1400" kern="1000" spc="10" dirty="0"/>
              <a:t> </a:t>
            </a:r>
            <a:r>
              <a:rPr lang="en-US" sz="1400" kern="1000" spc="10" dirty="0" smtClean="0"/>
              <a:t>p</a:t>
            </a:r>
            <a:r>
              <a:rPr lang="ro-RO" sz="1400" kern="1000" spc="10" dirty="0" smtClean="0"/>
              <a:t>ă</a:t>
            </a:r>
            <a:r>
              <a:rPr lang="en-US" sz="1400" kern="1000" spc="10" dirty="0" err="1" smtClean="0"/>
              <a:t>streaz</a:t>
            </a:r>
            <a:r>
              <a:rPr lang="ro-RO" sz="1400" kern="1000" spc="10" dirty="0" smtClean="0"/>
              <a:t>ă</a:t>
            </a:r>
            <a:r>
              <a:rPr lang="en-US" sz="1400" kern="1000" spc="10" dirty="0" smtClean="0"/>
              <a:t> </a:t>
            </a:r>
            <a:r>
              <a:rPr lang="en-US" sz="1400" kern="1000" spc="10" dirty="0" err="1"/>
              <a:t>semantica</a:t>
            </a:r>
            <a:endParaRPr lang="en-US" sz="1400" kern="1000" spc="10" dirty="0"/>
          </a:p>
          <a:p>
            <a:pPr>
              <a:spcBef>
                <a:spcPts val="600"/>
              </a:spcBef>
            </a:pPr>
            <a:r>
              <a:rPr lang="en-US" sz="1400" b="1" kern="1000" spc="10" dirty="0" err="1">
                <a:solidFill>
                  <a:schemeClr val="tx1"/>
                </a:solidFill>
              </a:rPr>
              <a:t>Structurale</a:t>
            </a:r>
            <a:r>
              <a:rPr lang="en-US" sz="1400" b="1" kern="1000" spc="10" dirty="0">
                <a:solidFill>
                  <a:schemeClr val="tx1"/>
                </a:solidFill>
              </a:rPr>
              <a:t>:</a:t>
            </a:r>
            <a:endParaRPr lang="en-US" sz="1400" kern="1000" spc="10" dirty="0">
              <a:solidFill>
                <a:schemeClr val="tx1"/>
              </a:solidFill>
            </a:endParaRPr>
          </a:p>
          <a:p>
            <a:pPr>
              <a:spcBef>
                <a:spcPts val="600"/>
              </a:spcBef>
            </a:pPr>
            <a:r>
              <a:rPr lang="en-US" sz="1400" kern="1000" spc="10" dirty="0"/>
              <a:t>- </a:t>
            </a:r>
            <a:r>
              <a:rPr lang="en-US" sz="1400" kern="1000" spc="10" dirty="0" err="1"/>
              <a:t>Simplificarea</a:t>
            </a:r>
            <a:r>
              <a:rPr lang="en-US" sz="1400" kern="1000" spc="10" dirty="0"/>
              <a:t> </a:t>
            </a:r>
            <a:r>
              <a:rPr lang="en-US" sz="1400" kern="1000" spc="10" dirty="0" err="1"/>
              <a:t>este</a:t>
            </a:r>
            <a:r>
              <a:rPr lang="en-US" sz="1400" kern="1000" spc="10" dirty="0"/>
              <a:t> </a:t>
            </a:r>
            <a:r>
              <a:rPr lang="en-US" sz="1400" kern="1000" spc="10" dirty="0" smtClean="0"/>
              <a:t>idempotent</a:t>
            </a:r>
            <a:r>
              <a:rPr lang="ro-RO" sz="1400" kern="1000" spc="10" dirty="0" smtClean="0"/>
              <a:t>ă</a:t>
            </a:r>
            <a:r>
              <a:rPr lang="en-US" sz="1400" kern="1000" spc="10" dirty="0" smtClean="0"/>
              <a:t>:</a:t>
            </a:r>
            <a:r>
              <a:rPr lang="en-US" sz="1400" kern="1000" spc="10" dirty="0"/>
              <a:t> simplify(simplify(e)) == simplify(e)</a:t>
            </a:r>
            <a:br>
              <a:rPr lang="en-US" sz="1400" kern="1000" spc="10" dirty="0"/>
            </a:br>
            <a:r>
              <a:rPr lang="en-US" sz="1400" kern="1000" spc="10" dirty="0"/>
              <a:t>- </a:t>
            </a:r>
            <a:r>
              <a:rPr lang="en-US" sz="1400" kern="1000" spc="10" dirty="0" err="1"/>
              <a:t>Simplificarea</a:t>
            </a:r>
            <a:r>
              <a:rPr lang="en-US" sz="1400" kern="1000" spc="10" dirty="0"/>
              <a:t> nu </a:t>
            </a:r>
            <a:r>
              <a:rPr lang="en-US" sz="1400" kern="1000" spc="10" dirty="0" smtClean="0"/>
              <a:t>m</a:t>
            </a:r>
            <a:r>
              <a:rPr lang="ro-RO" sz="1400" kern="1000" spc="10" dirty="0" smtClean="0"/>
              <a:t>ă</a:t>
            </a:r>
            <a:r>
              <a:rPr lang="en-US" sz="1400" kern="1000" spc="10" dirty="0" smtClean="0"/>
              <a:t>re</a:t>
            </a:r>
            <a:r>
              <a:rPr lang="ro-RO" sz="1400" kern="1000" spc="10" dirty="0" smtClean="0"/>
              <a:t>ș</a:t>
            </a:r>
            <a:r>
              <a:rPr lang="en-US" sz="1400" kern="1000" spc="10" dirty="0" err="1" smtClean="0"/>
              <a:t>te</a:t>
            </a:r>
            <a:r>
              <a:rPr lang="en-US" sz="1400" kern="1000" spc="10" dirty="0" smtClean="0"/>
              <a:t> </a:t>
            </a:r>
            <a:r>
              <a:rPr lang="en-US" sz="1400" kern="1000" spc="10" dirty="0" err="1"/>
              <a:t>dimensiunea</a:t>
            </a:r>
            <a:r>
              <a:rPr lang="en-US" sz="1400" kern="1000" spc="10" dirty="0"/>
              <a:t> / </a:t>
            </a:r>
            <a:r>
              <a:rPr lang="en-US" sz="1400" kern="1000" spc="10" dirty="0" smtClean="0"/>
              <a:t>ad</a:t>
            </a:r>
            <a:r>
              <a:rPr lang="ro-RO" sz="1400" kern="1000" spc="10" dirty="0" smtClean="0"/>
              <a:t>â</a:t>
            </a:r>
            <a:r>
              <a:rPr lang="en-US" sz="1400" kern="1000" spc="10" dirty="0" err="1" smtClean="0"/>
              <a:t>ncimea</a:t>
            </a:r>
            <a:r>
              <a:rPr lang="en-US" sz="1400" kern="1000" spc="10" dirty="0" smtClean="0"/>
              <a:t> </a:t>
            </a:r>
            <a:r>
              <a:rPr lang="en-US" sz="1400" kern="1000" spc="10" dirty="0"/>
              <a:t>/ </a:t>
            </a:r>
            <a:r>
              <a:rPr lang="en-US" sz="1400" kern="1000" spc="10" dirty="0" err="1" smtClean="0"/>
              <a:t>num</a:t>
            </a:r>
            <a:r>
              <a:rPr lang="ro-RO" sz="1400" kern="1000" spc="10" dirty="0" smtClean="0"/>
              <a:t>ă</a:t>
            </a:r>
            <a:r>
              <a:rPr lang="en-US" sz="1400" kern="1000" spc="10" dirty="0" err="1" smtClean="0"/>
              <a:t>rul</a:t>
            </a:r>
            <a:r>
              <a:rPr lang="en-US" sz="1400" kern="1000" spc="10" dirty="0" smtClean="0"/>
              <a:t> </a:t>
            </a:r>
            <a:r>
              <a:rPr lang="en-US" sz="1400" kern="1000" spc="10" dirty="0"/>
              <a:t>de </a:t>
            </a:r>
            <a:r>
              <a:rPr lang="en-US" sz="1400" kern="1000" spc="10" dirty="0" err="1"/>
              <a:t>operatori</a:t>
            </a:r>
            <a:endParaRPr lang="en-US" sz="1400" kern="1000" spc="10" dirty="0"/>
          </a:p>
          <a:p>
            <a:pPr>
              <a:spcBef>
                <a:spcPts val="600"/>
              </a:spcBef>
            </a:pPr>
            <a:r>
              <a:rPr lang="en-US" sz="1400" b="1" kern="1000" spc="10" dirty="0" err="1">
                <a:solidFill>
                  <a:schemeClr val="tx1"/>
                </a:solidFill>
              </a:rPr>
              <a:t>Algebrice</a:t>
            </a:r>
            <a:r>
              <a:rPr lang="en-US" sz="1400" b="1" kern="1000" spc="10" dirty="0">
                <a:solidFill>
                  <a:schemeClr val="tx1"/>
                </a:solidFill>
              </a:rPr>
              <a:t> — </a:t>
            </a:r>
            <a:r>
              <a:rPr lang="en-US" sz="1400" b="1" kern="1000" spc="10" dirty="0" err="1">
                <a:solidFill>
                  <a:schemeClr val="tx1"/>
                </a:solidFill>
              </a:rPr>
              <a:t>comutativitate</a:t>
            </a:r>
            <a:r>
              <a:rPr lang="en-US" sz="1400" b="1" kern="1000" spc="10" dirty="0">
                <a:solidFill>
                  <a:schemeClr val="tx1"/>
                </a:solidFill>
              </a:rPr>
              <a:t> </a:t>
            </a:r>
            <a:r>
              <a:rPr lang="ro-RO" sz="1400" b="1" kern="1000" spc="10" dirty="0" err="1">
                <a:solidFill>
                  <a:schemeClr val="tx1"/>
                </a:solidFill>
              </a:rPr>
              <a:t>ș</a:t>
            </a:r>
            <a:r>
              <a:rPr lang="en-US" sz="1400" b="1" kern="1000" spc="10" dirty="0" smtClean="0">
                <a:solidFill>
                  <a:schemeClr val="tx1"/>
                </a:solidFill>
              </a:rPr>
              <a:t>i </a:t>
            </a:r>
            <a:r>
              <a:rPr lang="en-US" sz="1400" b="1" kern="1000" spc="10" dirty="0" err="1">
                <a:solidFill>
                  <a:schemeClr val="tx1"/>
                </a:solidFill>
              </a:rPr>
              <a:t>asociativitate</a:t>
            </a:r>
            <a:r>
              <a:rPr lang="en-US" sz="1400" b="1" kern="1000" spc="10" dirty="0">
                <a:solidFill>
                  <a:schemeClr val="tx1"/>
                </a:solidFill>
              </a:rPr>
              <a:t>:</a:t>
            </a:r>
            <a:endParaRPr lang="en-US" sz="1400" kern="1000" spc="10" dirty="0">
              <a:solidFill>
                <a:schemeClr val="tx1"/>
              </a:solidFill>
            </a:endParaRPr>
          </a:p>
          <a:p>
            <a:pPr>
              <a:spcBef>
                <a:spcPts val="600"/>
              </a:spcBef>
            </a:pPr>
            <a:r>
              <a:rPr lang="en-US" sz="1400" kern="1000" spc="10" dirty="0"/>
              <a:t>a + b ≡ b + a</a:t>
            </a:r>
          </a:p>
          <a:p>
            <a:pPr>
              <a:spcBef>
                <a:spcPts val="600"/>
              </a:spcBef>
            </a:pPr>
            <a:r>
              <a:rPr lang="en-US" sz="1400" kern="1000" spc="10" dirty="0"/>
              <a:t>a * b ≡ b * a</a:t>
            </a:r>
          </a:p>
          <a:p>
            <a:pPr>
              <a:spcBef>
                <a:spcPts val="600"/>
              </a:spcBef>
            </a:pPr>
            <a:r>
              <a:rPr lang="en-US" sz="1400" kern="1000" spc="10" dirty="0"/>
              <a:t>(a + b) + c ≡ a + (b + c)</a:t>
            </a:r>
          </a:p>
          <a:p>
            <a:pPr>
              <a:spcBef>
                <a:spcPts val="600"/>
              </a:spcBef>
            </a:pPr>
            <a:r>
              <a:rPr lang="en-US" sz="1400" kern="1000" spc="10" dirty="0"/>
              <a:t>(a * b) * c ≡ a * (b * c)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xmlns="" id="{73C5F9BF-9E45-7174-B44C-B1278054712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it-IT" sz="1200" b="1" dirty="0">
                <a:solidFill>
                  <a:schemeClr val="tx1"/>
                </a:solidFill>
              </a:rPr>
              <a:t>Elemente neutre </a:t>
            </a:r>
            <a:r>
              <a:rPr lang="ro-RO" sz="1200" b="1" dirty="0" smtClean="0">
                <a:solidFill>
                  <a:schemeClr val="tx1"/>
                </a:solidFill>
              </a:rPr>
              <a:t>ș</a:t>
            </a:r>
            <a:r>
              <a:rPr lang="it-IT" sz="1200" b="1" dirty="0" smtClean="0">
                <a:solidFill>
                  <a:schemeClr val="tx1"/>
                </a:solidFill>
              </a:rPr>
              <a:t>i </a:t>
            </a:r>
            <a:r>
              <a:rPr lang="it-IT" sz="1200" b="1" dirty="0">
                <a:solidFill>
                  <a:schemeClr val="tx1"/>
                </a:solidFill>
              </a:rPr>
              <a:t>absorbante:</a:t>
            </a:r>
            <a:endParaRPr lang="it-IT" sz="1200" dirty="0">
              <a:solidFill>
                <a:schemeClr val="tx1"/>
              </a:solidFill>
            </a:endParaRPr>
          </a:p>
          <a:p>
            <a:r>
              <a:rPr lang="it-IT" sz="1200" dirty="0"/>
              <a:t>e + 0 ≡ e</a:t>
            </a:r>
          </a:p>
          <a:p>
            <a:r>
              <a:rPr lang="it-IT" sz="1200" dirty="0"/>
              <a:t>e * 1 ≡ e</a:t>
            </a:r>
          </a:p>
          <a:p>
            <a:r>
              <a:rPr lang="it-IT" sz="1200" dirty="0"/>
              <a:t>e * 0 ≡ 0</a:t>
            </a:r>
          </a:p>
          <a:p>
            <a:r>
              <a:rPr lang="it-IT" sz="1200" b="1" dirty="0" smtClean="0">
                <a:solidFill>
                  <a:schemeClr val="tx1"/>
                </a:solidFill>
              </a:rPr>
              <a:t>Nega</a:t>
            </a:r>
            <a:r>
              <a:rPr lang="ro-RO" sz="1200" b="1" dirty="0" smtClean="0">
                <a:solidFill>
                  <a:schemeClr val="tx1"/>
                </a:solidFill>
              </a:rPr>
              <a:t>ț</a:t>
            </a:r>
            <a:r>
              <a:rPr lang="it-IT" sz="1200" b="1" dirty="0" smtClean="0">
                <a:solidFill>
                  <a:schemeClr val="tx1"/>
                </a:solidFill>
              </a:rPr>
              <a:t>ie</a:t>
            </a:r>
            <a:r>
              <a:rPr lang="it-IT" sz="1200" b="1" dirty="0">
                <a:solidFill>
                  <a:schemeClr val="tx1"/>
                </a:solidFill>
              </a:rPr>
              <a:t>, </a:t>
            </a:r>
            <a:r>
              <a:rPr lang="it-IT" sz="1200" b="1" dirty="0" smtClean="0">
                <a:solidFill>
                  <a:schemeClr val="tx1"/>
                </a:solidFill>
              </a:rPr>
              <a:t>sc</a:t>
            </a:r>
            <a:r>
              <a:rPr lang="ro-RO" sz="1200" b="1" dirty="0" smtClean="0">
                <a:solidFill>
                  <a:schemeClr val="tx1"/>
                </a:solidFill>
              </a:rPr>
              <a:t>ă</a:t>
            </a:r>
            <a:r>
              <a:rPr lang="it-IT" sz="1200" b="1" dirty="0" smtClean="0">
                <a:solidFill>
                  <a:schemeClr val="tx1"/>
                </a:solidFill>
              </a:rPr>
              <a:t>dere</a:t>
            </a:r>
            <a:r>
              <a:rPr lang="it-IT" sz="1200" b="1" dirty="0">
                <a:solidFill>
                  <a:schemeClr val="tx1"/>
                </a:solidFill>
              </a:rPr>
              <a:t>, </a:t>
            </a:r>
            <a:r>
              <a:rPr lang="it-IT" sz="1200" b="1" dirty="0" smtClean="0">
                <a:solidFill>
                  <a:schemeClr val="tx1"/>
                </a:solidFill>
              </a:rPr>
              <a:t>substitu</a:t>
            </a:r>
            <a:r>
              <a:rPr lang="ro-RO" sz="1200" b="1" dirty="0" smtClean="0">
                <a:solidFill>
                  <a:schemeClr val="tx1"/>
                </a:solidFill>
              </a:rPr>
              <a:t>ț</a:t>
            </a:r>
            <a:r>
              <a:rPr lang="it-IT" sz="1200" b="1" dirty="0" smtClean="0">
                <a:solidFill>
                  <a:schemeClr val="tx1"/>
                </a:solidFill>
              </a:rPr>
              <a:t>ie</a:t>
            </a:r>
            <a:r>
              <a:rPr lang="it-IT" sz="1200" b="1" dirty="0">
                <a:solidFill>
                  <a:schemeClr val="tx1"/>
                </a:solidFill>
              </a:rPr>
              <a:t>:</a:t>
            </a:r>
            <a:endParaRPr lang="it-IT" sz="1200" dirty="0">
              <a:solidFill>
                <a:schemeClr val="tx1"/>
              </a:solidFill>
            </a:endParaRPr>
          </a:p>
          <a:p>
            <a:r>
              <a:rPr lang="it-IT" sz="1200" dirty="0"/>
              <a:t>e - e ≡ 0</a:t>
            </a:r>
          </a:p>
          <a:p>
            <a:r>
              <a:rPr lang="it-IT" sz="1200" dirty="0"/>
              <a:t>--e ≡ e</a:t>
            </a:r>
          </a:p>
          <a:p>
            <a:r>
              <a:rPr lang="it-IT" sz="1200" dirty="0" smtClean="0"/>
              <a:t>Substitu</a:t>
            </a:r>
            <a:r>
              <a:rPr lang="ro-RO" sz="1200" dirty="0" smtClean="0"/>
              <a:t>ț</a:t>
            </a:r>
            <a:r>
              <a:rPr lang="it-IT" sz="1200" dirty="0" smtClean="0"/>
              <a:t>ia p</a:t>
            </a:r>
            <a:r>
              <a:rPr lang="ro-RO" sz="1200" dirty="0" smtClean="0"/>
              <a:t>ă</a:t>
            </a:r>
            <a:r>
              <a:rPr lang="it-IT" sz="1200" dirty="0" smtClean="0"/>
              <a:t>streaz</a:t>
            </a:r>
            <a:r>
              <a:rPr lang="ro-RO" sz="1200" dirty="0" smtClean="0"/>
              <a:t>ă</a:t>
            </a:r>
            <a:r>
              <a:rPr lang="it-IT" sz="1200" dirty="0" smtClean="0"/>
              <a:t> </a:t>
            </a:r>
            <a:r>
              <a:rPr lang="it-IT" sz="1200" dirty="0"/>
              <a:t>semantica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Output real cu classify</a:t>
            </a:r>
          </a:p>
        </p:txBody>
      </p:sp>
      <p:sp>
        <p:nvSpPr>
          <p:cNvPr id="6" name="Rounded Rectangle 2"/>
          <p:cNvSpPr/>
          <p:nvPr/>
        </p:nvSpPr>
        <p:spPr>
          <a:xfrm>
            <a:off x="1127760" y="2052229"/>
            <a:ext cx="10058400" cy="3246120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92352" y="2161957"/>
            <a:ext cx="9729216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i="0" dirty="0">
                <a:solidFill>
                  <a:srgbClr val="4EC9B0"/>
                </a:solidFill>
                <a:latin typeface="Consolas"/>
              </a:rPr>
              <a:t>Terminal output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D4D4D4"/>
                </a:solidFill>
                <a:latin typeface="Consolas"/>
              </a:rPr>
              <a:t>+++ OK, passed 120 tests: simplify preserves meaning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6A9955"/>
                </a:solidFill>
                <a:latin typeface="Consolas"/>
              </a:rPr>
              <a:t>62.5% cu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variabile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| 37.5%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fara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variabile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| 30.0%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expresii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mari</a:t>
            </a:r>
            <a:endParaRPr sz="1600" b="0" i="0" dirty="0">
              <a:solidFill>
                <a:srgbClr val="6A9955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D4D4D4"/>
                </a:solidFill>
                <a:latin typeface="Consolas"/>
              </a:rPr>
              <a:t>+++ OK, passed 120 tests: add commutative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6A9955"/>
                </a:solidFill>
                <a:latin typeface="Consolas"/>
              </a:rPr>
              <a:t>57.5%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expresii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mari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| 17.5%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expresii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mici</a:t>
            </a:r>
            <a:endParaRPr sz="1600" b="0" i="0" dirty="0">
              <a:solidFill>
                <a:srgbClr val="6A9955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D4D4D4"/>
                </a:solidFill>
                <a:latin typeface="Consolas"/>
              </a:rPr>
              <a:t>+++ OK, passed 120 tests: </a:t>
            </a:r>
            <a:r>
              <a:rPr sz="1600" b="0" i="0" dirty="0" err="1">
                <a:solidFill>
                  <a:srgbClr val="D4D4D4"/>
                </a:solidFill>
                <a:latin typeface="Consolas"/>
              </a:rPr>
              <a:t>mul</a:t>
            </a:r>
            <a:r>
              <a:rPr sz="1600" b="0" i="0" dirty="0">
                <a:solidFill>
                  <a:srgbClr val="D4D4D4"/>
                </a:solidFill>
                <a:latin typeface="Consolas"/>
              </a:rPr>
              <a:t> zero absorbing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6A9955"/>
                </a:solidFill>
                <a:latin typeface="Consolas"/>
              </a:rPr>
              <a:t>65.8% cu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variabile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| 34.2%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fara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variabile</a:t>
            </a:r>
            <a:endParaRPr sz="1600" b="0" i="0" dirty="0">
              <a:solidFill>
                <a:srgbClr val="6A9955"/>
              </a:solidFill>
              <a:latin typeface="Consola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" y="5408077"/>
            <a:ext cx="10058400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 dirty="0">
                <a:solidFill>
                  <a:srgbClr val="2F3338"/>
                </a:solidFill>
                <a:latin typeface="Segoe UI"/>
              </a:rPr>
              <a:t>classify </a:t>
            </a:r>
            <a:r>
              <a:rPr sz="1700" b="1" i="0" dirty="0" err="1">
                <a:solidFill>
                  <a:srgbClr val="2F3338"/>
                </a:solidFill>
                <a:latin typeface="Segoe UI"/>
              </a:rPr>
              <a:t>confirma</a:t>
            </a:r>
            <a:r>
              <a:rPr sz="1700" b="1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700" b="1" i="0" dirty="0" err="1" smtClean="0">
                <a:solidFill>
                  <a:srgbClr val="2F3338"/>
                </a:solidFill>
                <a:latin typeface="Segoe UI"/>
              </a:rPr>
              <a:t>distribu</a:t>
            </a:r>
            <a:r>
              <a:rPr lang="ro-RO" sz="1700" b="1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700" b="1" i="0" dirty="0" err="1" smtClean="0">
                <a:solidFill>
                  <a:srgbClr val="2F3338"/>
                </a:solidFill>
                <a:latin typeface="Segoe UI"/>
              </a:rPr>
              <a:t>ie</a:t>
            </a:r>
            <a:r>
              <a:rPr sz="1700" b="1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700" b="1" i="0" dirty="0" err="1" smtClean="0">
                <a:solidFill>
                  <a:srgbClr val="2F3338"/>
                </a:solidFill>
                <a:latin typeface="Segoe UI"/>
              </a:rPr>
              <a:t>echilibrat</a:t>
            </a:r>
            <a:r>
              <a:rPr lang="ro-RO" sz="1700" b="1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700" b="1" i="0" dirty="0" smtClean="0">
                <a:solidFill>
                  <a:srgbClr val="2F3338"/>
                </a:solidFill>
                <a:latin typeface="Segoe UI"/>
              </a:rPr>
              <a:t>:</a:t>
            </a:r>
            <a:endParaRPr sz="1700" b="1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avem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expresii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mici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ro-RO" sz="1500" dirty="0" err="1">
                <a:solidFill>
                  <a:srgbClr val="2F3338"/>
                </a:solidFill>
                <a:latin typeface="Segoe UI"/>
              </a:rPr>
              <a:t>ș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mari</a:t>
            </a:r>
            <a:endParaRPr sz="15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avem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expresii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cu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variabile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si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f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r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variabile</a:t>
            </a:r>
            <a:endParaRPr sz="1500" b="0" i="0" dirty="0">
              <a:solidFill>
                <a:srgbClr val="2F333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dirty="0" err="1"/>
              <a:t>Analiza</a:t>
            </a:r>
            <a:r>
              <a:rPr sz="3400" dirty="0"/>
              <a:t>: </a:t>
            </a:r>
            <a:r>
              <a:rPr sz="3400" dirty="0" err="1" smtClean="0"/>
              <a:t>eficien</a:t>
            </a:r>
            <a:r>
              <a:rPr lang="ro-RO" sz="3400" dirty="0" smtClean="0"/>
              <a:t>ț</a:t>
            </a:r>
            <a:r>
              <a:rPr sz="3400" dirty="0" smtClean="0"/>
              <a:t>a </a:t>
            </a:r>
            <a:r>
              <a:rPr sz="3400" dirty="0" err="1"/>
              <a:t>metodei</a:t>
            </a:r>
            <a:endParaRPr sz="3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2400" dirty="0" err="1"/>
              <a:t>Avantaje</a:t>
            </a:r>
            <a:r>
              <a:rPr sz="2400" dirty="0"/>
              <a:t> </a:t>
            </a:r>
            <a:r>
              <a:rPr sz="2400" dirty="0" err="1"/>
              <a:t>observate</a:t>
            </a:r>
            <a:endParaRPr sz="2400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sz="1800" dirty="0"/>
              <a:t>120 de </a:t>
            </a:r>
            <a:r>
              <a:rPr sz="1800" dirty="0" err="1"/>
              <a:t>cazuri</a:t>
            </a:r>
            <a:r>
              <a:rPr sz="1800" dirty="0"/>
              <a:t> per </a:t>
            </a:r>
            <a:r>
              <a:rPr sz="1800" dirty="0" err="1"/>
              <a:t>proprietate</a:t>
            </a:r>
            <a:r>
              <a:rPr sz="1800" dirty="0"/>
              <a:t>, generate automat</a:t>
            </a:r>
          </a:p>
          <a:p>
            <a:r>
              <a:rPr sz="1800" dirty="0" err="1"/>
              <a:t>Contraexemplele</a:t>
            </a:r>
            <a:r>
              <a:rPr sz="1800" dirty="0"/>
              <a:t> </a:t>
            </a:r>
            <a:r>
              <a:rPr sz="1800" dirty="0" err="1"/>
              <a:t>sunt</a:t>
            </a:r>
            <a:r>
              <a:rPr sz="1800" dirty="0"/>
              <a:t> </a:t>
            </a:r>
            <a:r>
              <a:rPr sz="1800" dirty="0" err="1"/>
              <a:t>reduse</a:t>
            </a:r>
            <a:r>
              <a:rPr sz="1800" dirty="0"/>
              <a:t> la forma </a:t>
            </a:r>
            <a:r>
              <a:rPr sz="1800" dirty="0" smtClean="0"/>
              <a:t>minim</a:t>
            </a:r>
            <a:r>
              <a:rPr lang="ro-RO" sz="1800" dirty="0" smtClean="0"/>
              <a:t>ă</a:t>
            </a:r>
            <a:endParaRPr sz="1800" dirty="0"/>
          </a:p>
          <a:p>
            <a:r>
              <a:rPr sz="1800" dirty="0" err="1" smtClean="0"/>
              <a:t>Propriet</a:t>
            </a:r>
            <a:r>
              <a:rPr lang="ro-RO" sz="1800" dirty="0" smtClean="0"/>
              <a:t>ăț</a:t>
            </a:r>
            <a:r>
              <a:rPr sz="1800" dirty="0" err="1" smtClean="0"/>
              <a:t>ile</a:t>
            </a:r>
            <a:r>
              <a:rPr sz="1800" dirty="0" smtClean="0"/>
              <a:t> </a:t>
            </a:r>
            <a:r>
              <a:rPr sz="1800" dirty="0" err="1"/>
              <a:t>servesc</a:t>
            </a:r>
            <a:r>
              <a:rPr sz="1800" dirty="0"/>
              <a:t> </a:t>
            </a:r>
            <a:r>
              <a:rPr sz="1800" dirty="0" err="1"/>
              <a:t>drept</a:t>
            </a:r>
            <a:r>
              <a:rPr sz="1800" dirty="0"/>
              <a:t> </a:t>
            </a:r>
            <a:r>
              <a:rPr sz="1800" dirty="0" err="1" smtClean="0"/>
              <a:t>documenta</a:t>
            </a:r>
            <a:r>
              <a:rPr lang="ro-RO" sz="1800" dirty="0" smtClean="0"/>
              <a:t>ț</a:t>
            </a:r>
            <a:r>
              <a:rPr sz="1800" dirty="0" err="1" smtClean="0"/>
              <a:t>ie</a:t>
            </a:r>
            <a:r>
              <a:rPr sz="1800" dirty="0" smtClean="0"/>
              <a:t> </a:t>
            </a:r>
            <a:r>
              <a:rPr sz="1800" dirty="0" err="1" smtClean="0"/>
              <a:t>executabil</a:t>
            </a:r>
            <a:r>
              <a:rPr lang="ro-RO" sz="1800" dirty="0" smtClean="0"/>
              <a:t>ă</a:t>
            </a:r>
            <a:endParaRPr sz="1800" dirty="0"/>
          </a:p>
          <a:p>
            <a:r>
              <a:rPr sz="1800" dirty="0"/>
              <a:t>classify </a:t>
            </a:r>
            <a:r>
              <a:rPr sz="1800" dirty="0" err="1" smtClean="0"/>
              <a:t>ofer</a:t>
            </a:r>
            <a:r>
              <a:rPr lang="ro-RO" sz="1800" dirty="0" smtClean="0"/>
              <a:t>ă</a:t>
            </a:r>
            <a:r>
              <a:rPr sz="1800" dirty="0" smtClean="0"/>
              <a:t> </a:t>
            </a:r>
            <a:r>
              <a:rPr sz="1800" dirty="0" err="1"/>
              <a:t>vizibilitate</a:t>
            </a:r>
            <a:r>
              <a:rPr sz="1800" dirty="0"/>
              <a:t> </a:t>
            </a:r>
            <a:r>
              <a:rPr sz="1800" dirty="0" err="1"/>
              <a:t>asupra</a:t>
            </a:r>
            <a:r>
              <a:rPr sz="1800" dirty="0"/>
              <a:t> </a:t>
            </a:r>
            <a:r>
              <a:rPr sz="1800" dirty="0" err="1" smtClean="0"/>
              <a:t>distribu</a:t>
            </a:r>
            <a:r>
              <a:rPr lang="ro-RO" sz="1800" dirty="0" smtClean="0"/>
              <a:t>ț</a:t>
            </a:r>
            <a:r>
              <a:rPr sz="1800" dirty="0" err="1" smtClean="0"/>
              <a:t>iei</a:t>
            </a:r>
            <a:r>
              <a:rPr sz="1800" dirty="0" smtClean="0"/>
              <a:t> </a:t>
            </a:r>
            <a:r>
              <a:rPr sz="1800" dirty="0" err="1"/>
              <a:t>testelor</a:t>
            </a:r>
            <a:endParaRPr sz="1800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2400" dirty="0" smtClean="0"/>
              <a:t>Limit</a:t>
            </a:r>
            <a:r>
              <a:rPr lang="ro-RO" sz="2400" dirty="0" smtClean="0"/>
              <a:t>ă</a:t>
            </a:r>
            <a:r>
              <a:rPr sz="2400" dirty="0" err="1" smtClean="0"/>
              <a:t>ri</a:t>
            </a:r>
            <a:r>
              <a:rPr sz="2400" dirty="0" smtClean="0"/>
              <a:t> </a:t>
            </a:r>
            <a:r>
              <a:rPr sz="2400" dirty="0" err="1"/>
              <a:t>observate</a:t>
            </a:r>
            <a:endParaRPr sz="2400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sz="1800" dirty="0" err="1" smtClean="0"/>
              <a:t>Propriet</a:t>
            </a:r>
            <a:r>
              <a:rPr lang="ro-RO" sz="1800" dirty="0" smtClean="0"/>
              <a:t>ăț</a:t>
            </a:r>
            <a:r>
              <a:rPr sz="1800" dirty="0" err="1" smtClean="0"/>
              <a:t>ile</a:t>
            </a:r>
            <a:r>
              <a:rPr sz="1800" dirty="0" smtClean="0"/>
              <a:t> </a:t>
            </a:r>
            <a:r>
              <a:rPr sz="1800" dirty="0" err="1"/>
              <a:t>trebuie</a:t>
            </a:r>
            <a:r>
              <a:rPr sz="1800" dirty="0"/>
              <a:t> formulate </a:t>
            </a:r>
            <a:r>
              <a:rPr sz="1800" dirty="0" err="1"/>
              <a:t>corect</a:t>
            </a:r>
            <a:endParaRPr sz="1800" dirty="0"/>
          </a:p>
          <a:p>
            <a:r>
              <a:rPr sz="1800" dirty="0"/>
              <a:t>Un generator prost </a:t>
            </a:r>
            <a:r>
              <a:rPr sz="1800" dirty="0" err="1" smtClean="0"/>
              <a:t>acoper</a:t>
            </a:r>
            <a:r>
              <a:rPr lang="ro-RO" sz="1800" dirty="0" smtClean="0"/>
              <a:t>ă</a:t>
            </a:r>
            <a:r>
              <a:rPr sz="1800" dirty="0" smtClean="0"/>
              <a:t> </a:t>
            </a:r>
            <a:r>
              <a:rPr sz="1800" dirty="0" err="1"/>
              <a:t>doar</a:t>
            </a:r>
            <a:r>
              <a:rPr sz="1800" dirty="0"/>
              <a:t> </a:t>
            </a:r>
            <a:r>
              <a:rPr sz="1800" dirty="0" err="1"/>
              <a:t>cazuri</a:t>
            </a:r>
            <a:r>
              <a:rPr sz="1800" dirty="0"/>
              <a:t> </a:t>
            </a:r>
            <a:r>
              <a:rPr sz="1800" dirty="0" err="1"/>
              <a:t>banale</a:t>
            </a:r>
            <a:endParaRPr sz="1800" dirty="0"/>
          </a:p>
          <a:p>
            <a:r>
              <a:rPr sz="1800" dirty="0"/>
              <a:t>Maybe introduce </a:t>
            </a:r>
            <a:r>
              <a:rPr sz="1800" dirty="0" err="1" smtClean="0"/>
              <a:t>evalu</a:t>
            </a:r>
            <a:r>
              <a:rPr lang="ro-RO" sz="1800" dirty="0" smtClean="0"/>
              <a:t>ă</a:t>
            </a:r>
            <a:r>
              <a:rPr sz="1800" dirty="0" err="1" smtClean="0"/>
              <a:t>ri</a:t>
            </a:r>
            <a:r>
              <a:rPr sz="1800" dirty="0" smtClean="0"/>
              <a:t> par</a:t>
            </a:r>
            <a:r>
              <a:rPr lang="ro-RO" sz="1800" dirty="0" smtClean="0"/>
              <a:t>ț</a:t>
            </a:r>
            <a:r>
              <a:rPr sz="1800" dirty="0" err="1" smtClean="0"/>
              <a:t>iale</a:t>
            </a:r>
            <a:r>
              <a:rPr sz="1800" dirty="0" smtClean="0"/>
              <a:t> </a:t>
            </a:r>
            <a:r>
              <a:rPr sz="1800" dirty="0"/>
              <a:t>(</a:t>
            </a:r>
            <a:r>
              <a:rPr sz="1800" dirty="0" err="1"/>
              <a:t>rezolvat</a:t>
            </a:r>
            <a:r>
              <a:rPr sz="1800" dirty="0"/>
              <a:t> cu </a:t>
            </a:r>
            <a:r>
              <a:rPr sz="1800" dirty="0" err="1"/>
              <a:t>genEnvFor</a:t>
            </a:r>
            <a:r>
              <a:rPr sz="1800" dirty="0"/>
              <a:t>)</a:t>
            </a:r>
          </a:p>
          <a:p>
            <a:r>
              <a:rPr sz="1800" dirty="0" err="1"/>
              <a:t>QuickCheck</a:t>
            </a:r>
            <a:r>
              <a:rPr sz="1800" dirty="0"/>
              <a:t> </a:t>
            </a:r>
            <a:r>
              <a:rPr sz="1800" dirty="0" err="1" smtClean="0"/>
              <a:t>completea</a:t>
            </a:r>
            <a:r>
              <a:rPr lang="ro-RO" sz="1800" dirty="0" smtClean="0"/>
              <a:t>ză</a:t>
            </a:r>
            <a:r>
              <a:rPr sz="1800" dirty="0" smtClean="0"/>
              <a:t>, </a:t>
            </a:r>
            <a:r>
              <a:rPr sz="1800" dirty="0"/>
              <a:t>nu </a:t>
            </a:r>
            <a:r>
              <a:rPr lang="ro-RO" sz="1800" dirty="0"/>
              <a:t>î</a:t>
            </a:r>
            <a:r>
              <a:rPr sz="1800" dirty="0" err="1" smtClean="0"/>
              <a:t>nlocuie</a:t>
            </a:r>
            <a:r>
              <a:rPr lang="ro-RO" sz="1800" dirty="0" smtClean="0"/>
              <a:t>ș</a:t>
            </a:r>
            <a:r>
              <a:rPr sz="1800" dirty="0" err="1" smtClean="0"/>
              <a:t>te</a:t>
            </a:r>
            <a:r>
              <a:rPr sz="1800" dirty="0" smtClean="0"/>
              <a:t> </a:t>
            </a:r>
            <a:r>
              <a:rPr sz="1800" dirty="0" err="1" smtClean="0"/>
              <a:t>demonstra</a:t>
            </a:r>
            <a:r>
              <a:rPr lang="ro-RO" sz="1800" dirty="0" smtClean="0"/>
              <a:t>ț</a:t>
            </a:r>
            <a:r>
              <a:rPr sz="1800" dirty="0" err="1" smtClean="0"/>
              <a:t>ia</a:t>
            </a:r>
            <a:r>
              <a:rPr sz="1800" dirty="0" smtClean="0"/>
              <a:t> formal</a:t>
            </a:r>
            <a:r>
              <a:rPr lang="ro-RO" sz="1800" dirty="0" smtClean="0"/>
              <a:t>ă</a:t>
            </a:r>
            <a:endParaRPr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b="1" dirty="0" err="1">
                <a:solidFill>
                  <a:srgbClr val="2F3338"/>
                </a:solidFill>
                <a:latin typeface="Segoe UI Semibold"/>
              </a:rPr>
              <a:t>Detalii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suplimentare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din 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proiect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(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implementare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/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rulare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783080"/>
            <a:ext cx="4846320" cy="4526280"/>
          </a:xfrm>
          <a:prstGeom prst="roundRect">
            <a:avLst/>
          </a:prstGeom>
          <a:solidFill>
            <a:srgbClr val="F5F8FC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309360" y="1783080"/>
            <a:ext cx="4846320" cy="4526280"/>
          </a:xfrm>
          <a:prstGeom prst="roundRect">
            <a:avLst/>
          </a:prstGeom>
          <a:solidFill>
            <a:srgbClr val="EEF4FF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25880" y="19659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F4E79"/>
                </a:solidFill>
                <a:latin typeface="Segoe UI"/>
              </a:rPr>
              <a:t>Flux de rulare recomandat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2423160"/>
            <a:ext cx="4389120" cy="233172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90472" y="2514600"/>
            <a:ext cx="405993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Comenzi utile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2788920"/>
            <a:ext cx="4059935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cabal build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cabal run mfis-quickcheck-expr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cabal test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cabal test spec --test-show-details=direct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9659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F4E79"/>
                </a:solidFill>
                <a:latin typeface="Segoe UI"/>
              </a:rPr>
              <a:t>Detalii tehnice extra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389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maxSuccess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=120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si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maxSize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=12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comparabilitate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intre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proprietati</a:t>
            </a:r>
            <a:endParaRPr sz="14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variablePool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fix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generarea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variabilelor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: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x,y,z,u,v,w,a,b,c</a:t>
            </a:r>
            <a:endParaRPr sz="14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withEnv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/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genEnvFor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elimina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majoritatea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evaluarilor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partiale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in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testele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semantice</a:t>
            </a:r>
            <a:endParaRPr sz="14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2F3338"/>
                </a:solidFill>
                <a:latin typeface="Segoe UI"/>
              </a:rPr>
              <a:t>- substitute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este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verificat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cu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inlocuire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closed-expression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4604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4E79"/>
                </a:solidFill>
                <a:latin typeface="Segoe UI"/>
              </a:rPr>
              <a:t>Mesaj cheie: Pipeline-ul de testare este reproductibil si usor de rulat in echipa.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/>
              <a:t>Concluzii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100"/>
              <a:t>QuickCheck valideaza comportamentul general, nu doar exemple particulare</a:t>
            </a:r>
          </a:p>
          <a:p>
            <a:r>
              <a:rPr sz="2100"/>
              <a:t>Generatoarele manuale (frequency, sized, shrink) sunt esentiale</a:t>
            </a:r>
          </a:p>
          <a:p>
            <a:r>
              <a:rPr sz="2100"/>
              <a:t>Mini-limbajul aritmetic este un exemplu natural pentru metode formale</a:t>
            </a:r>
          </a:p>
          <a:p>
            <a:r>
              <a:rPr sz="2100"/>
              <a:t>Specificam invarianti valabili pentru orice intrare</a:t>
            </a:r>
          </a:p>
          <a:p>
            <a:r>
              <a:rPr sz="2100"/>
              <a:t>Diferenta-cheie fata de testarea clasica: gandim in proprietati, nu in cazuri izolate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 smtClean="0"/>
              <a:t>Bibliografie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[39] K. </a:t>
            </a:r>
            <a:r>
              <a:rPr lang="en-US" dirty="0" err="1"/>
              <a:t>Claessen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J. Hughes, “</a:t>
            </a:r>
            <a:r>
              <a:rPr lang="en-US" dirty="0" err="1"/>
              <a:t>QuickCheck</a:t>
            </a:r>
            <a:r>
              <a:rPr lang="en-US" dirty="0"/>
              <a:t>: a lightweight tool for random testing of Haskell programs,” in Proceedings of the 5th ACM SIGPLAN International Conference on Functional Programming (ICFP ’00), Montreal, Canada, 2000, pp. 268–279, </a:t>
            </a:r>
            <a:r>
              <a:rPr lang="en-US" dirty="0">
                <a:hlinkClick r:id="rId2"/>
              </a:rPr>
              <a:t>https://dl.acm.org/doi/epdf/10.1145/351240.351266 </a:t>
            </a:r>
            <a:endParaRPr lang="en-US" dirty="0"/>
          </a:p>
          <a:p>
            <a:r>
              <a:rPr lang="en-US" dirty="0"/>
              <a:t>[40] </a:t>
            </a:r>
            <a:r>
              <a:rPr lang="en-US" dirty="0" err="1"/>
              <a:t>QuickCheck</a:t>
            </a:r>
            <a:r>
              <a:rPr lang="en-US" dirty="0"/>
              <a:t> Library Documentation. </a:t>
            </a:r>
            <a:r>
              <a:rPr lang="en-US" dirty="0" err="1"/>
              <a:t>Hackage</a:t>
            </a:r>
            <a:r>
              <a:rPr lang="en-US" dirty="0"/>
              <a:t>. </a:t>
            </a:r>
            <a:r>
              <a:rPr lang="en-US" dirty="0">
                <a:hlinkClick r:id="rId3"/>
              </a:rPr>
              <a:t>https://hackage.haskell.org/package/QuickCheck </a:t>
            </a:r>
            <a:endParaRPr lang="en-US" dirty="0"/>
          </a:p>
          <a:p>
            <a:r>
              <a:rPr lang="en-US" dirty="0"/>
              <a:t>[41] </a:t>
            </a:r>
            <a:r>
              <a:rPr lang="en-US" dirty="0" err="1"/>
              <a:t>QuickCheck</a:t>
            </a:r>
            <a:r>
              <a:rPr lang="en-US" dirty="0"/>
              <a:t>: Automatic Testing (online tutorial). </a:t>
            </a:r>
            <a:r>
              <a:rPr lang="en-US" dirty="0">
                <a:hlinkClick r:id="rId4"/>
              </a:rPr>
              <a:t>https://sulzmann.github.io/ProgrammingParadigms/lec-haskell-testing.html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07961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37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9BA8B7"/>
      </a:accent1>
      <a:accent2>
        <a:srgbClr val="E6A02E"/>
      </a:accent2>
      <a:accent3>
        <a:srgbClr val="BF6A3B"/>
      </a:accent3>
      <a:accent4>
        <a:srgbClr val="92987A"/>
      </a:accent4>
      <a:accent5>
        <a:srgbClr val="857659"/>
      </a:accent5>
      <a:accent6>
        <a:srgbClr val="A0988C"/>
      </a:accent6>
      <a:hlink>
        <a:srgbClr val="00B0F0"/>
      </a:hlink>
      <a:folHlink>
        <a:srgbClr val="738F97"/>
      </a:folHlink>
    </a:clrScheme>
    <a:fontScheme name="Retrospect">
      <a:majorFont>
        <a:latin typeface="Bookman Old Styl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TWO.pptx" id="{80AA9D2D-EE59-4148-A11E-A51EEE828B28}" vid="{AEAFD717-D3C8-4034-8F7E-D5220B0CCEB8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F4F4D41-822D-40F2-A7AC-E4E6CB36CA7A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C5A59D56-2157-4202-9D02-F44E447A241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9DAD249-BF80-48EF-9AFB-36A11BCDC2C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{2434C647-D8ED-4307-8D52-7F48AD6760D5}TFf0a5ceae-4542-492d-822e-d65a94fb0e1e3b562c5a_win32-009a0557e699</Template>
  <TotalTime>71</TotalTime>
  <Words>1566</Words>
  <Application>Microsoft Office PowerPoint</Application>
  <PresentationFormat>Custom</PresentationFormat>
  <Paragraphs>206</Paragraphs>
  <Slides>19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0" baseType="lpstr">
      <vt:lpstr>Custom</vt:lpstr>
      <vt:lpstr>Tema 20 Testarea property-based a modulelor software folosind QuickCheck</vt:lpstr>
      <vt:lpstr>Cuprinsul prezentarii</vt:lpstr>
      <vt:lpstr>De ce avem nevoie de metode formale?</vt:lpstr>
      <vt:lpstr>Testare clasică vs. property-based testing</vt:lpstr>
      <vt:lpstr>Ce este QuickCheck</vt:lpstr>
      <vt:lpstr>Arhitectura modulului testat</vt:lpstr>
      <vt:lpstr>Modulul testat: AST și evaluator</vt:lpstr>
      <vt:lpstr>Evaluatorul: semantica operațională</vt:lpstr>
      <vt:lpstr>Simplificatorul și regulile algebrice</vt:lpstr>
      <vt:lpstr>Pretty + Parser: round-trip semantic</vt:lpstr>
      <vt:lpstr>Generatoarele proprii (de ce contează)</vt:lpstr>
      <vt:lpstr>genExpr, genClosedExpr, genEnvFor</vt:lpstr>
      <vt:lpstr>shrinkExpr: contraexemple minimale</vt:lpstr>
      <vt:lpstr>Cele 16 proprietăți (grupate)</vt:lpstr>
      <vt:lpstr>Output real cu classify</vt:lpstr>
      <vt:lpstr>Analiza: eficiența metodei</vt:lpstr>
      <vt:lpstr>Detalii suplimentare din proiect (implementare/rulare)</vt:lpstr>
      <vt:lpstr>Concluzii</vt:lpstr>
      <vt:lpstr>Bibliografie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 20 Testarea property-based a modulelor software folosind QuickCheck</dc:title>
  <dc:creator>Nite Alexandru</dc:creator>
  <cp:lastModifiedBy>user</cp:lastModifiedBy>
  <cp:revision>7</cp:revision>
  <dcterms:created xsi:type="dcterms:W3CDTF">2026-04-21T13:52:19Z</dcterms:created>
  <dcterms:modified xsi:type="dcterms:W3CDTF">2026-04-21T21:39:48Z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