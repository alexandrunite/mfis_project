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sldIdLst>
    <p:sldId id="256" r:id="rId5"/>
    <p:sldId id="266" r:id="rId6"/>
    <p:sldId id="267" r:id="rId7"/>
    <p:sldId id="257" r:id="rId8"/>
    <p:sldId id="258" r:id="rId9"/>
    <p:sldId id="268" r:id="rId10"/>
    <p:sldId id="259" r:id="rId11"/>
    <p:sldId id="269" r:id="rId12"/>
    <p:sldId id="270" r:id="rId13"/>
    <p:sldId id="271" r:id="rId14"/>
    <p:sldId id="260" r:id="rId15"/>
    <p:sldId id="272" r:id="rId16"/>
    <p:sldId id="261" r:id="rId17"/>
    <p:sldId id="262" r:id="rId18"/>
    <p:sldId id="263" r:id="rId19"/>
    <p:sldId id="264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73" r:id="rId28"/>
    <p:sldId id="284" r:id="rId29"/>
    <p:sldId id="265" r:id="rId30"/>
    <p:sldId id="27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>
        <p:scale>
          <a:sx n="90" d="100"/>
          <a:sy n="90" d="100"/>
        </p:scale>
        <p:origin x="-398" y="-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=""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=""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=""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=""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=""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=""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=""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=""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=""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=""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=""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ackage.haskell.org/package/QuickCheck" TargetMode="External"/><Relationship Id="rId2" Type="http://schemas.openxmlformats.org/officeDocument/2006/relationships/hyperlink" Target="https://dl.acm.org/doi/epdf/10.1145/351240.35126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lzmann.github.io/ProgrammingParadigms/lec-haskell-testin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8399" y="1819735"/>
            <a:ext cx="10058400" cy="2423401"/>
          </a:xfrm>
        </p:spPr>
        <p:txBody>
          <a:bodyPr>
            <a:normAutofit/>
          </a:bodyPr>
          <a:lstStyle/>
          <a:p>
            <a:pPr algn="ctr"/>
            <a:r>
              <a:rPr sz="4400" dirty="0" err="1" smtClean="0"/>
              <a:t>Testarea</a:t>
            </a:r>
            <a:r>
              <a:rPr sz="4400" dirty="0" smtClean="0"/>
              <a:t> property-based</a:t>
            </a:r>
            <a:r>
              <a:rPr lang="ro-RO" sz="4400" dirty="0" smtClean="0"/>
              <a:t> a modulelor software</a:t>
            </a:r>
            <a:r>
              <a:rPr sz="4400" dirty="0" smtClean="0"/>
              <a:t> </a:t>
            </a:r>
            <a:r>
              <a:rPr sz="4400" dirty="0" err="1"/>
              <a:t>folosind</a:t>
            </a:r>
            <a:r>
              <a:rPr sz="4400" dirty="0"/>
              <a:t> </a:t>
            </a:r>
            <a:r>
              <a:rPr sz="4400" dirty="0" err="1" smtClean="0"/>
              <a:t>QuickCheck</a:t>
            </a:r>
            <a:r>
              <a:rPr lang="ro-RO" sz="4400" dirty="0"/>
              <a:t/>
            </a:r>
            <a:br>
              <a:rPr lang="ro-RO" sz="4400" dirty="0"/>
            </a:br>
            <a:r>
              <a:rPr lang="ro-RO" sz="2400" dirty="0" smtClean="0"/>
              <a:t>- Tema 20 –</a:t>
            </a:r>
            <a:br>
              <a:rPr lang="ro-RO" sz="2400" dirty="0" smtClean="0"/>
            </a:br>
            <a:r>
              <a:rPr lang="en-US" sz="2400" dirty="0"/>
              <a:t>Mini-</a:t>
            </a:r>
            <a:r>
              <a:rPr lang="en-US" sz="2400" dirty="0" err="1"/>
              <a:t>limbaj</a:t>
            </a:r>
            <a:r>
              <a:rPr lang="en-US" sz="2400" dirty="0"/>
              <a:t> </a:t>
            </a:r>
            <a:r>
              <a:rPr lang="en-US" sz="2400" dirty="0" err="1"/>
              <a:t>aritmetic</a:t>
            </a:r>
            <a:r>
              <a:rPr lang="en-US" sz="2400" dirty="0"/>
              <a:t> </a:t>
            </a:r>
            <a:r>
              <a:rPr lang="en-US" sz="2400" dirty="0" err="1"/>
              <a:t>în</a:t>
            </a:r>
            <a:r>
              <a:rPr lang="en-US" sz="2400" dirty="0"/>
              <a:t> Haskell </a:t>
            </a:r>
            <a:r>
              <a:rPr lang="en-US" sz="2400" dirty="0" err="1"/>
              <a:t>testat</a:t>
            </a:r>
            <a:r>
              <a:rPr lang="en-US" sz="2400" dirty="0"/>
              <a:t> cu </a:t>
            </a:r>
            <a:r>
              <a:rPr lang="en-US" sz="2400" dirty="0" err="1"/>
              <a:t>QuickCheck</a:t>
            </a:r>
            <a:r>
              <a:rPr lang="en-US" sz="2400" dirty="0"/>
              <a:t>: 19 </a:t>
            </a:r>
            <a:r>
              <a:rPr lang="en-US" sz="2400" dirty="0" err="1"/>
              <a:t>proprietăți</a:t>
            </a:r>
            <a:r>
              <a:rPr lang="en-US" sz="2400" dirty="0"/>
              <a:t> </a:t>
            </a:r>
            <a:r>
              <a:rPr lang="en-US" sz="2400" dirty="0" err="1"/>
              <a:t>formale</a:t>
            </a:r>
            <a:r>
              <a:rPr lang="en-US" sz="2400" dirty="0"/>
              <a:t>, </a:t>
            </a:r>
            <a:r>
              <a:rPr lang="en-US" sz="2400" dirty="0" err="1"/>
              <a:t>generatoare</a:t>
            </a:r>
            <a:r>
              <a:rPr lang="en-US" sz="2400" dirty="0"/>
              <a:t> custom, shrinking automat</a:t>
            </a:r>
            <a:endParaRPr sz="2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12108" y="4681029"/>
            <a:ext cx="10058400" cy="1143000"/>
          </a:xfrm>
        </p:spPr>
        <p:txBody>
          <a:bodyPr>
            <a:noAutofit/>
          </a:bodyPr>
          <a:lstStyle/>
          <a:p>
            <a:pPr algn="ctr"/>
            <a:r>
              <a:rPr lang="it-IT" sz="140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Metode </a:t>
            </a:r>
            <a:r>
              <a:rPr lang="it-IT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Formale in Ingineria Software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  <a:p>
            <a:pPr algn="ctr"/>
            <a:r>
              <a:rPr sz="1400" spc="-50" dirty="0" err="1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Echipa</a:t>
            </a:r>
            <a:r>
              <a:rPr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MIH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ă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IL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ă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 DENISA 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(352)</a:t>
            </a:r>
            <a:r>
              <a:rPr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Ni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ț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E DAN-ALEXANDRU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 (344)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4495799" y="168296"/>
            <a:ext cx="3403601" cy="10001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o-RO" sz="105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Universitatea din bucurești</a:t>
            </a:r>
          </a:p>
          <a:p>
            <a:pPr algn="ctr"/>
            <a:r>
              <a:rPr lang="ro-RO" sz="105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Facultatea de matematică și informatică</a:t>
            </a:r>
          </a:p>
          <a:p>
            <a:pPr algn="ctr"/>
            <a:r>
              <a:rPr lang="vi-VN" sz="105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Anul universitar 2025-2026</a:t>
            </a:r>
          </a:p>
          <a:p>
            <a:pPr algn="ctr"/>
            <a:endParaRPr lang="vi-VN" sz="105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500" dirty="0" err="1">
                <a:solidFill>
                  <a:srgbClr val="2F3338"/>
                </a:solidFill>
              </a:rPr>
              <a:t>Cuprinsul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 smtClean="0">
                <a:solidFill>
                  <a:srgbClr val="2F3338"/>
                </a:solidFill>
              </a:rPr>
              <a:t>prezent</a:t>
            </a:r>
            <a:r>
              <a:rPr lang="ro-RO" sz="3500" dirty="0" smtClean="0">
                <a:solidFill>
                  <a:srgbClr val="2F3338"/>
                </a:solidFill>
              </a:rPr>
              <a:t>ă</a:t>
            </a:r>
            <a:r>
              <a:rPr sz="3500" dirty="0" err="1" smtClean="0">
                <a:solidFill>
                  <a:srgbClr val="2F3338"/>
                </a:solidFill>
              </a:rPr>
              <a:t>rii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243639"/>
            <a:ext cx="10058400" cy="230293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325505"/>
            <a:ext cx="9601200" cy="2067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Problema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de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testarea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clasic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nu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suficient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concepte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generare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shrink, classify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Arhitectura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modulului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AST, evaluator,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simplificator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parser/pretty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 custom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genSmallInt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genEnvFor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smtClean="0">
                <a:solidFill>
                  <a:srgbClr val="2F3338"/>
                </a:solidFill>
                <a:latin typeface="Segoe UI"/>
              </a:rPr>
              <a:t>1</a:t>
            </a:r>
            <a:r>
              <a:rPr lang="ro-RO" sz="2000" b="1" i="0" dirty="0" smtClean="0">
                <a:solidFill>
                  <a:srgbClr val="2F3338"/>
                </a:solidFill>
                <a:latin typeface="Segoe UI"/>
              </a:rPr>
              <a:t>9</a:t>
            </a:r>
            <a:r>
              <a:rPr sz="2000" b="1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2000" b="1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2000" b="1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sz="2000" b="1" dirty="0">
                <a:solidFill>
                  <a:srgbClr val="2F3338"/>
                </a:solidFill>
                <a:latin typeface="Segoe UI"/>
              </a:rPr>
              <a:t>ț</a:t>
            </a:r>
            <a:r>
              <a:rPr sz="2000" b="1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formale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20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rezultatele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experimentale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Avantaje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1" i="0" dirty="0" smtClean="0">
                <a:solidFill>
                  <a:srgbClr val="2F3338"/>
                </a:solidFill>
                <a:latin typeface="Segoe UI"/>
              </a:rPr>
              <a:t>limit</a:t>
            </a:r>
            <a:r>
              <a:rPr lang="ro-RO" sz="2000" b="1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2000" b="1" i="0" dirty="0" err="1" smtClean="0">
                <a:solidFill>
                  <a:srgbClr val="2F3338"/>
                </a:solidFill>
                <a:latin typeface="Segoe UI"/>
              </a:rPr>
              <a:t>ri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lang="ro-RO" sz="2000" b="1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2000" b="1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concluzii</a:t>
            </a:r>
            <a:endParaRPr sz="2000" b="1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sz="3500" dirty="0" smtClean="0">
                <a:solidFill>
                  <a:srgbClr val="2F3338"/>
                </a:solidFill>
              </a:rPr>
              <a:t>De </a:t>
            </a:r>
            <a:r>
              <a:rPr sz="3500" dirty="0" err="1" smtClean="0">
                <a:solidFill>
                  <a:srgbClr val="2F3338"/>
                </a:solidFill>
              </a:rPr>
              <a:t>ce</a:t>
            </a:r>
            <a:r>
              <a:rPr sz="3500" dirty="0" smtClean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avem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nevoie</a:t>
            </a:r>
            <a:r>
              <a:rPr sz="3500" dirty="0">
                <a:solidFill>
                  <a:srgbClr val="2F3338"/>
                </a:solidFill>
              </a:rPr>
              <a:t> de </a:t>
            </a:r>
            <a:r>
              <a:rPr sz="3500" dirty="0" err="1">
                <a:solidFill>
                  <a:srgbClr val="2F3338"/>
                </a:solidFill>
              </a:rPr>
              <a:t>metode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 smtClean="0">
                <a:solidFill>
                  <a:srgbClr val="2F3338"/>
                </a:solidFill>
              </a:rPr>
              <a:t>formale</a:t>
            </a:r>
            <a:r>
              <a:rPr lang="ro-RO" sz="3500" dirty="0" smtClean="0">
                <a:solidFill>
                  <a:srgbClr val="2F3338"/>
                </a:solidFill>
              </a:rPr>
              <a:t>?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79" y="2001520"/>
            <a:ext cx="9917853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ro-RO" sz="1600" dirty="0">
                <a:solidFill>
                  <a:srgbClr val="2F3338"/>
                </a:solidFill>
                <a:latin typeface="Segoe UI"/>
              </a:rPr>
              <a:t>Î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n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proiecte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reale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codul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poate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p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rea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corect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pe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exemplele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alese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manual,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dar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s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e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ș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ueze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pe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cazuri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limit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dirty="0" err="1">
                <a:solidFill>
                  <a:srgbClr val="2F3338"/>
                </a:solidFill>
                <a:latin typeface="Segoe UI"/>
              </a:rPr>
              <a:t>Metodele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formale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ne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ajut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s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definim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clar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î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nseamn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corectitudinea</a:t>
            </a:r>
            <a:r>
              <a:rPr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dirty="0" err="1">
                <a:solidFill>
                  <a:srgbClr val="2F3338"/>
                </a:solidFill>
                <a:latin typeface="Segoe UI"/>
              </a:rPr>
              <a:t>sistemulu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i.</a:t>
            </a:r>
          </a:p>
          <a:p>
            <a:pPr>
              <a:spcAft>
                <a:spcPts val="200"/>
              </a:spcAft>
            </a:pPr>
            <a:r>
              <a:rPr lang="it-IT" sz="1600" dirty="0">
                <a:solidFill>
                  <a:srgbClr val="2F3338"/>
                </a:solidFill>
                <a:latin typeface="Segoe UI"/>
              </a:rPr>
              <a:t>Metodele formale ne permit să:</a:t>
            </a:r>
            <a:endParaRPr sz="160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097280" y="2946400"/>
            <a:ext cx="10058400" cy="172280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43752" y="3022600"/>
            <a:ext cx="9833188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200"/>
              </a:spcAft>
              <a:buFont typeface="Arial" pitchFamily="34" charset="0"/>
              <a:buChar char="•"/>
            </a:pP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Definim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care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trebuie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s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m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adev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a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te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orice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intrare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 (</a:t>
            </a:r>
            <a:r>
              <a:rPr lang="vi-VN" sz="1600" dirty="0">
                <a:solidFill>
                  <a:srgbClr val="2F3338"/>
                </a:solidFill>
                <a:latin typeface="Segoe UI"/>
              </a:rPr>
              <a:t>ex: simplify nu schimbă niciodată valoarea </a:t>
            </a:r>
            <a:r>
              <a:rPr lang="vi-VN" sz="1600" dirty="0" smtClean="0">
                <a:solidFill>
                  <a:srgbClr val="2F3338"/>
                </a:solidFill>
                <a:latin typeface="Segoe UI"/>
              </a:rPr>
              <a:t>expresiei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)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marL="285750" indent="-285750">
              <a:spcAft>
                <a:spcPts val="200"/>
              </a:spcAft>
              <a:buFont typeface="Arial" pitchFamily="34" charset="0"/>
              <a:buChar char="•"/>
            </a:pP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Garantăm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invarian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semantici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dup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transform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ri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(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ex: simplify(simplify(e)) == simplify(e)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)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marL="285750" indent="-285750">
              <a:spcAft>
                <a:spcPts val="200"/>
              </a:spcAft>
              <a:buFont typeface="Arial" pitchFamily="34" charset="0"/>
              <a:buChar char="•"/>
            </a:pP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Verificăm comportamentul parserului și evaluatorului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 (ex: 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parse(pretty(e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)) evaluează identic cu 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)</a:t>
            </a:r>
            <a:endParaRPr sz="1600" b="0" i="0" dirty="0" smtClean="0">
              <a:solidFill>
                <a:srgbClr val="2F3338"/>
              </a:solidFill>
              <a:latin typeface="Segoe UI"/>
            </a:endParaRPr>
          </a:p>
          <a:p>
            <a:pPr marL="285750" indent="-285750">
              <a:spcAft>
                <a:spcPts val="200"/>
              </a:spcAft>
              <a:buFont typeface="Arial" pitchFamily="34" charset="0"/>
              <a:buChar char="•"/>
            </a:pPr>
            <a:r>
              <a:rPr lang="ro-RO" sz="1600" dirty="0">
                <a:solidFill>
                  <a:srgbClr val="2F3338"/>
                </a:solidFill>
                <a:latin typeface="Segoe UI"/>
              </a:rPr>
              <a:t>Acoperim automat sute de cazuri, nu doar exemple izolate 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(ex: </a:t>
            </a:r>
            <a:r>
              <a:rPr lang="vi-VN" sz="1600" dirty="0" smtClean="0">
                <a:solidFill>
                  <a:srgbClr val="2F3338"/>
                </a:solidFill>
                <a:latin typeface="Segoe UI"/>
              </a:rPr>
              <a:t>QuickCheck </a:t>
            </a:r>
            <a:r>
              <a:rPr lang="vi-VN" sz="1600" dirty="0">
                <a:solidFill>
                  <a:srgbClr val="2F3338"/>
                </a:solidFill>
                <a:latin typeface="Segoe UI"/>
              </a:rPr>
              <a:t>generează automat 120 de expresii per proprietate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)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6454984" y="2784787"/>
            <a:ext cx="5305215" cy="2235946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>
                <a:solidFill>
                  <a:schemeClr val="tx1"/>
                </a:solidFill>
              </a:rPr>
              <a:t>Testare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 smtClean="0">
                <a:solidFill>
                  <a:schemeClr val="tx1"/>
                </a:solidFill>
              </a:rPr>
              <a:t>clasic</a:t>
            </a:r>
            <a:r>
              <a:rPr lang="ro-RO" sz="3400" dirty="0" smtClean="0">
                <a:solidFill>
                  <a:schemeClr val="tx1"/>
                </a:solidFill>
              </a:rPr>
              <a:t>ă</a:t>
            </a:r>
            <a:r>
              <a:rPr sz="3400" dirty="0" smtClean="0">
                <a:solidFill>
                  <a:schemeClr val="tx1"/>
                </a:solidFill>
              </a:rPr>
              <a:t> </a:t>
            </a:r>
            <a:r>
              <a:rPr sz="3400" dirty="0">
                <a:solidFill>
                  <a:schemeClr val="tx1"/>
                </a:solidFill>
              </a:rPr>
              <a:t>vs. property-based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1F4E79"/>
                </a:solidFill>
                <a:latin typeface="Segoe UI"/>
              </a:rPr>
              <a:t>Testare</a:t>
            </a:r>
            <a:r>
              <a:rPr lang="en-US" sz="2400" b="1" dirty="0">
                <a:solidFill>
                  <a:srgbClr val="1F4E79"/>
                </a:solidFill>
                <a:latin typeface="Segoe UI"/>
              </a:rPr>
              <a:t> </a:t>
            </a:r>
            <a:r>
              <a:rPr lang="en-US" sz="2400" b="1" dirty="0" err="1" smtClean="0">
                <a:solidFill>
                  <a:srgbClr val="1F4E79"/>
                </a:solidFill>
                <a:latin typeface="Segoe UI"/>
              </a:rPr>
              <a:t>clasic</a:t>
            </a:r>
            <a:r>
              <a:rPr lang="ro-RO" sz="2400" b="1" dirty="0" smtClean="0">
                <a:solidFill>
                  <a:srgbClr val="1F4E79"/>
                </a:solidFill>
                <a:latin typeface="Segoe UI"/>
              </a:rPr>
              <a:t>ă</a:t>
            </a:r>
            <a:endParaRPr lang="en-US" sz="2400" b="1" dirty="0">
              <a:solidFill>
                <a:srgbClr val="1F4E79"/>
              </a:solidFill>
              <a:latin typeface="Segoe UI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1F4E79"/>
                </a:solidFill>
                <a:latin typeface="Segoe UI"/>
              </a:rPr>
              <a:t>Property-based testing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3" y="2958273"/>
            <a:ext cx="5244255" cy="2910821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Proprietate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smtClean="0">
                <a:solidFill>
                  <a:srgbClr val="4EC9B0"/>
                </a:solidFill>
                <a:latin typeface="Consolas"/>
              </a:rPr>
              <a:t>general</a:t>
            </a:r>
            <a:r>
              <a:rPr lang="ro-RO" sz="1400" b="1" dirty="0" smtClean="0">
                <a:solidFill>
                  <a:srgbClr val="4EC9B0"/>
                </a:solidFill>
                <a:latin typeface="Consolas"/>
              </a:rPr>
              <a:t>ă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 smtClean="0">
                <a:solidFill>
                  <a:srgbClr val="D4D4D4"/>
                </a:solidFill>
                <a:latin typeface="Consolas"/>
              </a:rPr>
              <a:t>  </a:t>
            </a:r>
            <a:br>
              <a:rPr lang="en-US" sz="1400" dirty="0" smtClean="0">
                <a:solidFill>
                  <a:srgbClr val="D4D4D4"/>
                </a:solidFill>
                <a:latin typeface="Consolas"/>
              </a:rPr>
            </a:br>
            <a:r>
              <a:rPr lang="en-US" sz="1400" dirty="0" err="1">
                <a:solidFill>
                  <a:srgbClr val="569CD6"/>
                </a:solidFill>
                <a:latin typeface="Consolas"/>
              </a:rPr>
              <a:t>prop_addCommutative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::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-&gt;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-&gt; Property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 err="1">
                <a:solidFill>
                  <a:srgbClr val="569CD6"/>
                </a:solidFill>
                <a:latin typeface="Consolas"/>
              </a:rPr>
              <a:t>prop_addCommutative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a b =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  classify (size a + size b &lt;= 3) "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expresii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mici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" $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  classify (size a + size b &gt; 8) "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expresii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mari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" $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 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withEnv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(Add a b) $ \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env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-&gt;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   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eval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env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(Add a b) ===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eval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569CD6"/>
                </a:solidFill>
                <a:latin typeface="Consolas"/>
              </a:rPr>
              <a:t>env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 (Add b a)</a:t>
            </a:r>
            <a:endParaRPr sz="1600" dirty="0">
              <a:latin typeface="Consolas"/>
            </a:endParaRPr>
          </a:p>
          <a:p>
            <a:r>
              <a:rPr lang="en-US" sz="1600" dirty="0">
                <a:latin typeface="Consolas"/>
              </a:rPr>
              <a:t/>
            </a:r>
            <a:br>
              <a:rPr lang="en-US" sz="1600" dirty="0">
                <a:latin typeface="Consolas"/>
              </a:rPr>
            </a:br>
            <a:r>
              <a:rPr lang="en-US" sz="1600" dirty="0">
                <a:latin typeface="Consolas"/>
              </a:rPr>
              <a:t/>
            </a:r>
            <a:br>
              <a:rPr lang="en-US" sz="1600" dirty="0">
                <a:latin typeface="Consolas"/>
              </a:rPr>
            </a:br>
            <a:r>
              <a:rPr sz="1600" dirty="0" err="1">
                <a:latin typeface="Consolas"/>
              </a:rPr>
              <a:t>QuickCheck</a:t>
            </a:r>
            <a:r>
              <a:rPr sz="1600" dirty="0">
                <a:latin typeface="Consolas"/>
              </a:rPr>
              <a:t> </a:t>
            </a:r>
            <a:r>
              <a:rPr sz="1600" dirty="0" err="1" smtClean="0">
                <a:latin typeface="Consolas"/>
              </a:rPr>
              <a:t>genereaz</a:t>
            </a:r>
            <a:r>
              <a:rPr lang="ro-RO" sz="1600" dirty="0" smtClean="0">
                <a:latin typeface="Consolas"/>
              </a:rPr>
              <a:t>ă</a:t>
            </a:r>
            <a:r>
              <a:rPr sz="1600" dirty="0" smtClean="0">
                <a:latin typeface="Consolas"/>
              </a:rPr>
              <a:t> </a:t>
            </a:r>
            <a:r>
              <a:rPr sz="1600" dirty="0">
                <a:latin typeface="Consolas"/>
              </a:rPr>
              <a:t>automat </a:t>
            </a:r>
            <a:r>
              <a:rPr sz="1600" dirty="0" err="1">
                <a:latin typeface="Consolas"/>
              </a:rPr>
              <a:t>sute</a:t>
            </a:r>
            <a:r>
              <a:rPr sz="1600" dirty="0">
                <a:latin typeface="Consolas"/>
              </a:rPr>
              <a:t> de </a:t>
            </a:r>
            <a:r>
              <a:rPr sz="1600" dirty="0" err="1">
                <a:latin typeface="Consolas"/>
              </a:rPr>
              <a:t>cazuri</a:t>
            </a:r>
            <a:r>
              <a:rPr sz="1600" dirty="0">
                <a:latin typeface="Consolas"/>
              </a:rPr>
              <a:t> </a:t>
            </a:r>
            <a:r>
              <a:rPr lang="ro-RO" sz="1600" dirty="0" err="1">
                <a:latin typeface="Consolas"/>
              </a:rPr>
              <a:t>ș</a:t>
            </a:r>
            <a:r>
              <a:rPr sz="1600" dirty="0" smtClean="0">
                <a:latin typeface="Consolas"/>
              </a:rPr>
              <a:t>i </a:t>
            </a:r>
            <a:r>
              <a:rPr sz="1600" dirty="0" err="1" smtClean="0">
                <a:latin typeface="Consolas"/>
              </a:rPr>
              <a:t>caut</a:t>
            </a:r>
            <a:r>
              <a:rPr lang="ro-RO" sz="1600" dirty="0" smtClean="0">
                <a:latin typeface="Consolas"/>
              </a:rPr>
              <a:t>ă</a:t>
            </a:r>
            <a:r>
              <a:rPr sz="1600" dirty="0" smtClean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contraexemple</a:t>
            </a:r>
            <a:r>
              <a:rPr sz="1600" dirty="0">
                <a:latin typeface="Consolas"/>
              </a:rPr>
              <a:t>.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975361" y="2793682"/>
            <a:ext cx="4700696" cy="1768106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5361" y="2958274"/>
            <a:ext cx="5027506" cy="2910821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Exemple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punctuale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(Add (Const 1) (Const 2)) == Just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(Mul (Const 5) (Const 0)) == Just 0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endParaRPr sz="1600" dirty="0">
              <a:latin typeface="Consolas"/>
            </a:endParaRPr>
          </a:p>
          <a:p>
            <a:r>
              <a:rPr sz="1600" dirty="0" err="1">
                <a:latin typeface="Consolas"/>
              </a:rPr>
              <a:t>Problema</a:t>
            </a:r>
            <a:r>
              <a:rPr sz="1600" dirty="0">
                <a:latin typeface="Consolas"/>
              </a:rPr>
              <a:t>: </a:t>
            </a:r>
            <a:endParaRPr lang="ro-RO" sz="1600" dirty="0" smtClean="0">
              <a:latin typeface="Consolas"/>
            </a:endParaRPr>
          </a:p>
          <a:p>
            <a:r>
              <a:rPr lang="ro-RO" sz="1600" dirty="0" err="1">
                <a:latin typeface="Consolas"/>
              </a:rPr>
              <a:t>A</a:t>
            </a:r>
            <a:r>
              <a:rPr sz="1600" dirty="0" err="1" smtClean="0">
                <a:latin typeface="Consolas"/>
              </a:rPr>
              <a:t>coper</a:t>
            </a:r>
            <a:r>
              <a:rPr lang="ro-RO" sz="1600" dirty="0" smtClean="0">
                <a:latin typeface="Consolas"/>
              </a:rPr>
              <a:t>ă</a:t>
            </a:r>
            <a:r>
              <a:rPr sz="1600" dirty="0" smtClean="0">
                <a:latin typeface="Consolas"/>
              </a:rPr>
              <a:t> </a:t>
            </a:r>
            <a:r>
              <a:rPr sz="1600" dirty="0" err="1">
                <a:latin typeface="Consolas"/>
              </a:rPr>
              <a:t>doar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cazurile</a:t>
            </a:r>
            <a:r>
              <a:rPr sz="1600" dirty="0">
                <a:latin typeface="Consolas"/>
              </a:rPr>
              <a:t> la care </a:t>
            </a:r>
            <a:r>
              <a:rPr sz="1600" dirty="0" err="1">
                <a:latin typeface="Consolas"/>
              </a:rPr>
              <a:t>te-ai</a:t>
            </a:r>
            <a:r>
              <a:rPr sz="1600" dirty="0">
                <a:latin typeface="Consolas"/>
              </a:rPr>
              <a:t> </a:t>
            </a:r>
            <a:r>
              <a:rPr sz="1600" dirty="0" smtClean="0">
                <a:latin typeface="Consolas"/>
              </a:rPr>
              <a:t>g</a:t>
            </a:r>
            <a:r>
              <a:rPr lang="ro-RO" sz="1600" dirty="0" smtClean="0">
                <a:latin typeface="Consolas"/>
              </a:rPr>
              <a:t>â</a:t>
            </a:r>
            <a:r>
              <a:rPr sz="1600" dirty="0" err="1" smtClean="0">
                <a:latin typeface="Consolas"/>
              </a:rPr>
              <a:t>ndit</a:t>
            </a:r>
            <a:r>
              <a:rPr sz="160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>
                <a:solidFill>
                  <a:schemeClr val="tx1"/>
                </a:solidFill>
              </a:rPr>
              <a:t>Ce </a:t>
            </a:r>
            <a:r>
              <a:rPr sz="3400" dirty="0" err="1">
                <a:solidFill>
                  <a:schemeClr val="tx1"/>
                </a:solidFill>
              </a:rPr>
              <a:t>este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>
                <a:solidFill>
                  <a:schemeClr val="tx1"/>
                </a:solidFill>
              </a:rPr>
              <a:t>QuickCheck</a:t>
            </a:r>
            <a:endParaRPr sz="3400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467" y="1976120"/>
            <a:ext cx="7552267" cy="3760891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biblioteca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Haskell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property-based </a:t>
            </a:r>
            <a:r>
              <a:rPr lang="en-US" sz="1600" dirty="0" smtClean="0">
                <a:solidFill>
                  <a:srgbClr val="2F3338"/>
                </a:solidFill>
                <a:latin typeface="Segoe UI"/>
              </a:rPr>
              <a:t>testing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.</a:t>
            </a:r>
            <a:r>
              <a:rPr lang="en-US" sz="1800" dirty="0">
                <a:solidFill>
                  <a:srgbClr val="2F3338"/>
                </a:solidFill>
                <a:latin typeface="Segoe UI"/>
              </a:rPr>
              <a:t/>
            </a:r>
            <a:br>
              <a:rPr lang="en-US" sz="1800" dirty="0">
                <a:solidFill>
                  <a:srgbClr val="2F3338"/>
                </a:solidFill>
                <a:latin typeface="Segoe UI"/>
              </a:rPr>
            </a:br>
            <a:r>
              <a:rPr lang="en-US" sz="1800" b="1" dirty="0">
                <a:solidFill>
                  <a:srgbClr val="4B5563"/>
                </a:solidFill>
                <a:latin typeface="Segoe UI"/>
              </a:rPr>
              <a:t/>
            </a:r>
            <a:br>
              <a:rPr lang="en-US" sz="1800" b="1" dirty="0">
                <a:solidFill>
                  <a:srgbClr val="4B5563"/>
                </a:solidFill>
                <a:latin typeface="Segoe UI"/>
              </a:rPr>
            </a:br>
            <a:r>
              <a:rPr lang="en-US" sz="1800" b="1" dirty="0" err="1">
                <a:solidFill>
                  <a:srgbClr val="4B5563"/>
                </a:solidFill>
                <a:latin typeface="Segoe UI"/>
              </a:rPr>
              <a:t>Elementele-cheie</a:t>
            </a:r>
            <a:r>
              <a:rPr lang="en-US" sz="1800" b="1" dirty="0">
                <a:solidFill>
                  <a:srgbClr val="4B5563"/>
                </a:solidFill>
                <a:latin typeface="Segoe UI"/>
              </a:rPr>
              <a:t> de care ne </a:t>
            </a:r>
            <a:r>
              <a:rPr lang="en-US" sz="1800" b="1" dirty="0" err="1">
                <a:solidFill>
                  <a:srgbClr val="4B5563"/>
                </a:solidFill>
                <a:latin typeface="Segoe UI"/>
              </a:rPr>
              <a:t>folosim</a:t>
            </a:r>
            <a:r>
              <a:rPr lang="en-US" sz="1800" b="1" dirty="0">
                <a:solidFill>
                  <a:srgbClr val="4B5563"/>
                </a:solidFill>
                <a:latin typeface="Segoe UI"/>
              </a:rPr>
              <a:t> </a:t>
            </a:r>
            <a:r>
              <a:rPr lang="ro-RO" sz="1800" b="1" dirty="0" smtClean="0">
                <a:solidFill>
                  <a:srgbClr val="4B5563"/>
                </a:solidFill>
                <a:latin typeface="Segoe UI"/>
              </a:rPr>
              <a:t>î</a:t>
            </a:r>
            <a:r>
              <a:rPr lang="en-US" sz="1800" b="1" dirty="0" smtClean="0">
                <a:solidFill>
                  <a:srgbClr val="4B5563"/>
                </a:solidFill>
                <a:latin typeface="Segoe UI"/>
              </a:rPr>
              <a:t>n </a:t>
            </a:r>
            <a:r>
              <a:rPr lang="en-US" sz="1800" b="1" dirty="0" err="1">
                <a:solidFill>
                  <a:srgbClr val="4B5563"/>
                </a:solidFill>
                <a:latin typeface="Segoe UI"/>
              </a:rPr>
              <a:t>proiect</a:t>
            </a:r>
            <a:r>
              <a:rPr lang="en-US" sz="1800" b="1" dirty="0">
                <a:solidFill>
                  <a:srgbClr val="4B5563"/>
                </a:solidFill>
                <a:latin typeface="Segoe UI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2F3338"/>
                </a:solidFill>
                <a:latin typeface="Segoe UI"/>
              </a:rPr>
              <a:t/>
            </a:r>
            <a:br>
              <a:rPr lang="en-US" sz="1800" dirty="0">
                <a:solidFill>
                  <a:srgbClr val="2F3338"/>
                </a:solidFill>
                <a:latin typeface="Segoe UI"/>
              </a:rPr>
            </a:br>
            <a:r>
              <a:rPr lang="en-US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600" b="1" dirty="0">
                <a:solidFill>
                  <a:srgbClr val="1F4E79"/>
                </a:solidFill>
                <a:latin typeface="Consolas"/>
              </a:rPr>
              <a:t>Arbitrary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clasa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tipuri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pot fi generate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aleatoriu</a:t>
            </a:r>
            <a:endParaRPr lang="en-US" sz="16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600" b="1" dirty="0">
                <a:solidFill>
                  <a:srgbClr val="1F4E79"/>
                </a:solidFill>
                <a:latin typeface="Consolas"/>
              </a:rPr>
              <a:t>Gen a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tipul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unui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generator de </a:t>
            </a:r>
            <a:r>
              <a:rPr lang="en-US" sz="1600" dirty="0" err="1" smtClean="0">
                <a:solidFill>
                  <a:srgbClr val="2F3338"/>
                </a:solidFill>
                <a:latin typeface="Segoe UI"/>
              </a:rPr>
              <a:t>valori</a:t>
            </a:r>
            <a:endParaRPr lang="en-US" sz="16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600" b="1" dirty="0">
                <a:solidFill>
                  <a:srgbClr val="1F4E79"/>
                </a:solidFill>
                <a:latin typeface="Consolas"/>
              </a:rPr>
              <a:t>frequency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alege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600" dirty="0" err="1">
                <a:solidFill>
                  <a:srgbClr val="2F3338"/>
                </a:solidFill>
                <a:latin typeface="Segoe UI"/>
              </a:rPr>
              <a:t>î</a:t>
            </a:r>
            <a:r>
              <a:rPr lang="en-US" sz="1600" dirty="0" err="1" smtClean="0">
                <a:solidFill>
                  <a:srgbClr val="2F3338"/>
                </a:solidFill>
                <a:latin typeface="Segoe UI"/>
              </a:rPr>
              <a:t>ntre</a:t>
            </a:r>
            <a:r>
              <a:rPr lang="en-US" sz="16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cu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ponderi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explicite</a:t>
            </a:r>
            <a:endParaRPr lang="en-US" sz="16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600" b="1" dirty="0">
                <a:solidFill>
                  <a:srgbClr val="1F4E79"/>
                </a:solidFill>
                <a:latin typeface="Consolas"/>
              </a:rPr>
              <a:t>sized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1600" dirty="0" err="1" smtClean="0">
                <a:solidFill>
                  <a:srgbClr val="2F3338"/>
                </a:solidFill>
                <a:latin typeface="Segoe UI"/>
              </a:rPr>
              <a:t>controleaz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16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marimea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expresiilor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600" b="1" dirty="0">
                <a:solidFill>
                  <a:srgbClr val="1F4E79"/>
                </a:solidFill>
                <a:latin typeface="Consolas"/>
              </a:rPr>
              <a:t>shrink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- reduce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contraexemplul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la forma </a:t>
            </a:r>
            <a:r>
              <a:rPr lang="en-US" sz="1600" dirty="0" smtClean="0">
                <a:solidFill>
                  <a:srgbClr val="2F3338"/>
                </a:solidFill>
                <a:latin typeface="Segoe UI"/>
              </a:rPr>
              <a:t>minim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endParaRPr lang="en-US" sz="16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600" b="1" dirty="0">
                <a:solidFill>
                  <a:srgbClr val="1F4E79"/>
                </a:solidFill>
                <a:latin typeface="Consolas"/>
              </a:rPr>
              <a:t>classify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1600" dirty="0" err="1" smtClean="0">
                <a:solidFill>
                  <a:srgbClr val="2F3338"/>
                </a:solidFill>
                <a:latin typeface="Segoe UI"/>
              </a:rPr>
              <a:t>arat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16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lang="en-US" sz="1600" dirty="0" err="1" smtClean="0">
                <a:solidFill>
                  <a:srgbClr val="2F3338"/>
                </a:solidFill>
                <a:latin typeface="Segoe UI"/>
              </a:rPr>
              <a:t>ia</a:t>
            </a:r>
            <a:r>
              <a:rPr lang="en-US" sz="16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cazurilor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600" b="1" dirty="0" err="1">
                <a:solidFill>
                  <a:srgbClr val="1F4E79"/>
                </a:solidFill>
                <a:latin typeface="Consolas"/>
              </a:rPr>
              <a:t>quickCheckWith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1600" dirty="0" err="1" smtClean="0">
                <a:solidFill>
                  <a:srgbClr val="2F3338"/>
                </a:solidFill>
                <a:latin typeface="Segoe UI"/>
              </a:rPr>
              <a:t>ruleaz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16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cu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parametri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 custom (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, </a:t>
            </a:r>
            <a:r>
              <a:rPr lang="en-US" sz="160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lang="en-US" sz="1600" dirty="0">
                <a:solidFill>
                  <a:srgbClr val="2F3338"/>
                </a:solidFill>
                <a:latin typeface="Segoe UI"/>
              </a:rPr>
              <a:t>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4702" y="2887133"/>
            <a:ext cx="6261098" cy="1693334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ontent Placeholder 5"/>
          <p:cNvSpPr txBox="1">
            <a:spLocks/>
          </p:cNvSpPr>
          <p:nvPr/>
        </p:nvSpPr>
        <p:spPr>
          <a:xfrm>
            <a:off x="5791200" y="2958272"/>
            <a:ext cx="6587065" cy="2910821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vi-VN" sz="1400" dirty="0">
                <a:solidFill>
                  <a:schemeClr val="bg1">
                    <a:lumMod val="50000"/>
                  </a:schemeClr>
                </a:solidFill>
                <a:latin typeface="Consolas"/>
              </a:rPr>
              <a:t>-- quickCheckWith + maxSuccess </a:t>
            </a:r>
            <a:r>
              <a:rPr lang="ro-RO" sz="1400" dirty="0" smtClean="0">
                <a:solidFill>
                  <a:schemeClr val="bg1">
                    <a:lumMod val="50000"/>
                  </a:schemeClr>
                </a:solidFill>
                <a:latin typeface="Consolas"/>
              </a:rPr>
              <a:t>&amp;</a:t>
            </a:r>
            <a:r>
              <a:rPr lang="vi-VN" sz="1400" dirty="0" smtClean="0">
                <a:solidFill>
                  <a:schemeClr val="bg1">
                    <a:lumMod val="50000"/>
                  </a:schemeClr>
                </a:solidFill>
                <a:latin typeface="Consolas"/>
              </a:rPr>
              <a:t> </a:t>
            </a:r>
            <a:r>
              <a:rPr lang="vi-VN" sz="1400" dirty="0">
                <a:solidFill>
                  <a:schemeClr val="bg1">
                    <a:lumMod val="50000"/>
                  </a:schemeClr>
                </a:solidFill>
                <a:latin typeface="Consolas"/>
              </a:rPr>
              <a:t>maxSize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vi-VN" sz="1400" dirty="0">
                <a:solidFill>
                  <a:srgbClr val="569CD6"/>
                </a:solidFill>
                <a:latin typeface="Consolas"/>
              </a:rPr>
              <a:t>runProperty :: Testable prop =&gt; String -&gt; prop -&gt; IO 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vi-VN" sz="1400" dirty="0">
                <a:solidFill>
                  <a:srgbClr val="569CD6"/>
                </a:solidFill>
                <a:latin typeface="Consolas"/>
              </a:rPr>
              <a:t>runProperty descriere prop = 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vi-VN" sz="1400" dirty="0">
                <a:solidFill>
                  <a:srgbClr val="569CD6"/>
                </a:solidFill>
                <a:latin typeface="Consolas"/>
              </a:rPr>
              <a:t>  putStrLn ("-- " ++ descriere)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vi-VN" sz="1400" dirty="0">
                <a:solidFill>
                  <a:srgbClr val="569CD6"/>
                </a:solidFill>
                <a:latin typeface="Consolas"/>
              </a:rPr>
              <a:t>  </a:t>
            </a:r>
            <a:r>
              <a:rPr lang="vi-VN" sz="1400" b="1" i="1" dirty="0">
                <a:solidFill>
                  <a:srgbClr val="569CD6"/>
                </a:solidFill>
                <a:latin typeface="Consolas"/>
              </a:rPr>
              <a:t>quickCheckWith</a:t>
            </a:r>
            <a:r>
              <a:rPr lang="vi-VN" sz="1400" dirty="0">
                <a:solidFill>
                  <a:srgbClr val="569CD6"/>
                </a:solidFill>
                <a:latin typeface="Consolas"/>
              </a:rPr>
              <a:t> stdArgs {maxSuccess = 120, maxSize = 12} prop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vi-VN" sz="1400" dirty="0">
                <a:solidFill>
                  <a:srgbClr val="569CD6"/>
                </a:solidFill>
                <a:latin typeface="Consolas"/>
              </a:rPr>
              <a:t>  putStrLn ""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7227152" y="1989667"/>
            <a:ext cx="4693915" cy="3667824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Arhitectura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modulului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testat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5839" y="2057400"/>
            <a:ext cx="7022290" cy="324490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7147" y="2108202"/>
            <a:ext cx="6658223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vi-VN" sz="1400" b="1" dirty="0" smtClean="0">
                <a:solidFill>
                  <a:srgbClr val="2F3338"/>
                </a:solidFill>
                <a:latin typeface="Segoe UI"/>
              </a:rPr>
              <a:t>Expr.hs</a:t>
            </a:r>
            <a:r>
              <a:rPr lang="ro-RO" sz="1400" b="1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Definește </a:t>
            </a:r>
            <a:r>
              <a:rPr lang="vi-VN" sz="1400" dirty="0">
                <a:solidFill>
                  <a:srgbClr val="2F3338"/>
                </a:solidFill>
                <a:latin typeface="Segoe UI"/>
              </a:rPr>
              <a:t>AST-ul expresiilor și funcțiile structurale folosite în teste:</a:t>
            </a: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  size, depth, operatorCount, freeVars și substitute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.</a:t>
            </a:r>
            <a:endParaRPr lang="vi-VN" sz="1400" dirty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vi-VN" sz="1400" b="1" dirty="0" smtClean="0">
                <a:solidFill>
                  <a:srgbClr val="2F3338"/>
                </a:solidFill>
                <a:latin typeface="Segoe UI"/>
              </a:rPr>
              <a:t>Eval.hs</a:t>
            </a:r>
            <a:r>
              <a:rPr lang="ro-RO" sz="1400" b="1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Conține </a:t>
            </a:r>
            <a:r>
              <a:rPr lang="vi-VN" sz="1400" dirty="0">
                <a:solidFill>
                  <a:srgbClr val="2F3338"/>
                </a:solidFill>
                <a:latin typeface="Segoe UI"/>
              </a:rPr>
              <a:t>evaluatorul sigur al expresiilor:</a:t>
            </a: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  eval :: Env -&gt; Expr -&gt; Maybe Int.</a:t>
            </a: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  Rezultatul este Nothing dacă o variabilă nu are valoare în mediu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.</a:t>
            </a:r>
            <a:endParaRPr lang="vi-VN" sz="1400" dirty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vi-VN" sz="1400" b="1" dirty="0" smtClean="0">
                <a:solidFill>
                  <a:srgbClr val="2F3338"/>
                </a:solidFill>
                <a:latin typeface="Segoe UI"/>
              </a:rPr>
              <a:t>Simplify.hs</a:t>
            </a:r>
            <a:r>
              <a:rPr lang="ro-RO" sz="1400" b="1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Aplică </a:t>
            </a:r>
            <a:r>
              <a:rPr lang="vi-VN" sz="1400" dirty="0">
                <a:solidFill>
                  <a:srgbClr val="2F3338"/>
                </a:solidFill>
                <a:latin typeface="Segoe UI"/>
              </a:rPr>
              <a:t>reguli algebrice de simplificare până când expresia ajunge</a:t>
            </a: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  la o formă stabilă, adică la punct fix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.</a:t>
            </a:r>
            <a:endParaRPr lang="vi-VN" sz="1400" dirty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vi-VN" sz="1400" b="1" dirty="0" smtClean="0">
                <a:solidFill>
                  <a:srgbClr val="2F3338"/>
                </a:solidFill>
                <a:latin typeface="Segoe UI"/>
              </a:rPr>
              <a:t>Pretty.hs</a:t>
            </a:r>
            <a:r>
              <a:rPr lang="ro-RO" sz="1400" b="1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Transformă </a:t>
            </a:r>
            <a:r>
              <a:rPr lang="vi-VN" sz="1400" dirty="0">
                <a:solidFill>
                  <a:srgbClr val="2F3338"/>
                </a:solidFill>
                <a:latin typeface="Segoe UI"/>
              </a:rPr>
              <a:t>AST-ul înapoi în text, folosind reguli de precedență</a:t>
            </a: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  pentru a pune parantezele corect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.</a:t>
            </a:r>
            <a:endParaRPr lang="vi-VN" sz="1400" dirty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vi-VN" sz="1400" b="1" dirty="0" smtClean="0">
                <a:solidFill>
                  <a:srgbClr val="2F3338"/>
                </a:solidFill>
                <a:latin typeface="Segoe UI"/>
              </a:rPr>
              <a:t>Parser.hs</a:t>
            </a:r>
            <a:r>
              <a:rPr lang="ro-RO" sz="1400" b="1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Transformă </a:t>
            </a:r>
            <a:r>
              <a:rPr lang="vi-VN" sz="1400" dirty="0">
                <a:solidFill>
                  <a:srgbClr val="2F3338"/>
                </a:solidFill>
                <a:latin typeface="Segoe UI"/>
              </a:rPr>
              <a:t>textul introdus de utilizator în AST și respectă</a:t>
            </a: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  prioritățile operatorilor: +, -, *, negare și paranteze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.</a:t>
            </a:r>
            <a:endParaRPr lang="vi-VN" sz="1400" dirty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vi-VN" sz="1400" b="1" dirty="0" smtClean="0">
                <a:solidFill>
                  <a:srgbClr val="2F3338"/>
                </a:solidFill>
                <a:latin typeface="Segoe UI"/>
              </a:rPr>
              <a:t>Spec.hs</a:t>
            </a:r>
            <a:r>
              <a:rPr lang="ro-RO" sz="1400" b="1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lang="vi-VN" sz="1400" dirty="0" smtClean="0">
                <a:solidFill>
                  <a:srgbClr val="2F3338"/>
                </a:solidFill>
                <a:latin typeface="Segoe UI"/>
              </a:rPr>
              <a:t>Conține </a:t>
            </a:r>
            <a:r>
              <a:rPr lang="vi-VN" sz="1400" dirty="0">
                <a:solidFill>
                  <a:srgbClr val="2F3338"/>
                </a:solidFill>
                <a:latin typeface="Segoe UI"/>
              </a:rPr>
              <a:t>generatoarele custom și cele 19 proprietăți QuickCheck</a:t>
            </a:r>
          </a:p>
          <a:p>
            <a:pPr>
              <a:spcAft>
                <a:spcPts val="200"/>
              </a:spcAft>
            </a:pPr>
            <a:r>
              <a:rPr lang="vi-VN" sz="1400" dirty="0">
                <a:solidFill>
                  <a:srgbClr val="2F3338"/>
                </a:solidFill>
                <a:latin typeface="Segoe UI"/>
              </a:rPr>
              <a:t>  care verifică automat comportamentul modulelor.</a:t>
            </a:r>
            <a:endParaRPr lang="vi-VN" sz="140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45686" y="2118061"/>
            <a:ext cx="6096000" cy="35394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b="1" dirty="0">
                <a:latin typeface="Arial Narrow" pitchFamily="34" charset="0"/>
              </a:rPr>
              <a:t>Input:       "1 * x + -(-y)"</a:t>
            </a:r>
          </a:p>
          <a:p>
            <a:r>
              <a:rPr lang="en-US" sz="1400" b="1" dirty="0">
                <a:latin typeface="Arial Narrow" pitchFamily="34" charset="0"/>
              </a:rPr>
              <a:t>                  |</a:t>
            </a:r>
          </a:p>
          <a:p>
            <a:r>
              <a:rPr lang="en-US" sz="1400" b="1" dirty="0">
                <a:latin typeface="Arial Narrow" pitchFamily="34" charset="0"/>
              </a:rPr>
              <a:t>             </a:t>
            </a:r>
            <a:r>
              <a:rPr lang="en-US" sz="1400" b="1" dirty="0" err="1">
                <a:latin typeface="Arial Narrow" pitchFamily="34" charset="0"/>
              </a:rPr>
              <a:t>Parser.hs</a:t>
            </a:r>
            <a:endParaRPr lang="en-US" sz="1400" b="1" dirty="0">
              <a:latin typeface="Arial Narrow" pitchFamily="34" charset="0"/>
            </a:endParaRPr>
          </a:p>
          <a:p>
            <a:r>
              <a:rPr lang="en-US" sz="1400" b="1" dirty="0">
                <a:latin typeface="Arial Narrow" pitchFamily="34" charset="0"/>
              </a:rPr>
              <a:t>                  |</a:t>
            </a:r>
          </a:p>
          <a:p>
            <a:r>
              <a:rPr lang="en-US" sz="1400" b="1" dirty="0">
                <a:latin typeface="Arial Narrow" pitchFamily="34" charset="0"/>
              </a:rPr>
              <a:t>                  -&gt; Add (</a:t>
            </a:r>
            <a:r>
              <a:rPr lang="en-US" sz="1400" b="1" dirty="0" err="1">
                <a:latin typeface="Arial Narrow" pitchFamily="34" charset="0"/>
              </a:rPr>
              <a:t>Mul</a:t>
            </a:r>
            <a:r>
              <a:rPr lang="en-US" sz="1400" b="1" dirty="0">
                <a:latin typeface="Arial Narrow" pitchFamily="34" charset="0"/>
              </a:rPr>
              <a:t> (</a:t>
            </a:r>
            <a:r>
              <a:rPr lang="en-US" sz="1400" b="1" dirty="0" err="1">
                <a:latin typeface="Arial Narrow" pitchFamily="34" charset="0"/>
              </a:rPr>
              <a:t>Const</a:t>
            </a:r>
            <a:r>
              <a:rPr lang="en-US" sz="1400" b="1" dirty="0">
                <a:latin typeface="Arial Narrow" pitchFamily="34" charset="0"/>
              </a:rPr>
              <a:t> 1) (</a:t>
            </a:r>
            <a:r>
              <a:rPr lang="en-US" sz="1400" b="1" dirty="0" err="1">
                <a:latin typeface="Arial Narrow" pitchFamily="34" charset="0"/>
              </a:rPr>
              <a:t>Var</a:t>
            </a:r>
            <a:r>
              <a:rPr lang="en-US" sz="1400" b="1" dirty="0">
                <a:latin typeface="Arial Narrow" pitchFamily="34" charset="0"/>
              </a:rPr>
              <a:t> "x")) (</a:t>
            </a:r>
            <a:r>
              <a:rPr lang="en-US" sz="1400" b="1" dirty="0" err="1">
                <a:latin typeface="Arial Narrow" pitchFamily="34" charset="0"/>
              </a:rPr>
              <a:t>Neg</a:t>
            </a:r>
            <a:r>
              <a:rPr lang="en-US" sz="1400" b="1" dirty="0">
                <a:latin typeface="Arial Narrow" pitchFamily="34" charset="0"/>
              </a:rPr>
              <a:t> (</a:t>
            </a:r>
            <a:r>
              <a:rPr lang="en-US" sz="1400" b="1" dirty="0" err="1">
                <a:latin typeface="Arial Narrow" pitchFamily="34" charset="0"/>
              </a:rPr>
              <a:t>Neg</a:t>
            </a:r>
            <a:r>
              <a:rPr lang="en-US" sz="1400" b="1" dirty="0">
                <a:latin typeface="Arial Narrow" pitchFamily="34" charset="0"/>
              </a:rPr>
              <a:t> (</a:t>
            </a:r>
            <a:r>
              <a:rPr lang="en-US" sz="1400" b="1" dirty="0" err="1">
                <a:latin typeface="Arial Narrow" pitchFamily="34" charset="0"/>
              </a:rPr>
              <a:t>Var</a:t>
            </a:r>
            <a:r>
              <a:rPr lang="en-US" sz="1400" b="1" dirty="0">
                <a:latin typeface="Arial Narrow" pitchFamily="34" charset="0"/>
              </a:rPr>
              <a:t> "y")))</a:t>
            </a:r>
          </a:p>
          <a:p>
            <a:r>
              <a:rPr lang="en-US" sz="1400" b="1" dirty="0">
                <a:latin typeface="Arial Narrow" pitchFamily="34" charset="0"/>
              </a:rPr>
              <a:t>                  |</a:t>
            </a:r>
          </a:p>
          <a:p>
            <a:r>
              <a:rPr lang="en-US" sz="1400" b="1" dirty="0">
                <a:latin typeface="Arial Narrow" pitchFamily="34" charset="0"/>
              </a:rPr>
              <a:t>             </a:t>
            </a:r>
            <a:r>
              <a:rPr lang="en-US" sz="1400" b="1" dirty="0" err="1">
                <a:latin typeface="Arial Narrow" pitchFamily="34" charset="0"/>
              </a:rPr>
              <a:t>Simplify.hs</a:t>
            </a:r>
            <a:endParaRPr lang="en-US" sz="1400" b="1" dirty="0">
              <a:latin typeface="Arial Narrow" pitchFamily="34" charset="0"/>
            </a:endParaRPr>
          </a:p>
          <a:p>
            <a:r>
              <a:rPr lang="en-US" sz="1400" b="1" dirty="0">
                <a:latin typeface="Arial Narrow" pitchFamily="34" charset="0"/>
              </a:rPr>
              <a:t>                  |</a:t>
            </a:r>
          </a:p>
          <a:p>
            <a:r>
              <a:rPr lang="en-US" sz="1400" b="1" dirty="0">
                <a:latin typeface="Arial Narrow" pitchFamily="34" charset="0"/>
              </a:rPr>
              <a:t>                  -&gt; Add (</a:t>
            </a:r>
            <a:r>
              <a:rPr lang="en-US" sz="1400" b="1" dirty="0" err="1">
                <a:latin typeface="Arial Narrow" pitchFamily="34" charset="0"/>
              </a:rPr>
              <a:t>Var</a:t>
            </a:r>
            <a:r>
              <a:rPr lang="en-US" sz="1400" b="1" dirty="0">
                <a:latin typeface="Arial Narrow" pitchFamily="34" charset="0"/>
              </a:rPr>
              <a:t> "x") (</a:t>
            </a:r>
            <a:r>
              <a:rPr lang="en-US" sz="1400" b="1" dirty="0" err="1">
                <a:latin typeface="Arial Narrow" pitchFamily="34" charset="0"/>
              </a:rPr>
              <a:t>Var</a:t>
            </a:r>
            <a:r>
              <a:rPr lang="en-US" sz="1400" b="1" dirty="0">
                <a:latin typeface="Arial Narrow" pitchFamily="34" charset="0"/>
              </a:rPr>
              <a:t> "y")</a:t>
            </a:r>
          </a:p>
          <a:p>
            <a:r>
              <a:rPr lang="en-US" sz="1400" b="1" dirty="0">
                <a:latin typeface="Arial Narrow" pitchFamily="34" charset="0"/>
              </a:rPr>
              <a:t>                  |</a:t>
            </a:r>
          </a:p>
          <a:p>
            <a:r>
              <a:rPr lang="en-US" sz="1400" b="1" dirty="0">
                <a:latin typeface="Arial Narrow" pitchFamily="34" charset="0"/>
              </a:rPr>
              <a:t>         </a:t>
            </a:r>
            <a:r>
              <a:rPr lang="ro-RO" sz="1400" b="1" dirty="0" smtClean="0">
                <a:latin typeface="Arial Narrow" pitchFamily="34" charset="0"/>
              </a:rPr>
              <a:t>--------------------</a:t>
            </a:r>
            <a:endParaRPr lang="en-US" sz="1400" b="1" dirty="0">
              <a:latin typeface="Arial Narrow" pitchFamily="34" charset="0"/>
            </a:endParaRPr>
          </a:p>
          <a:p>
            <a:r>
              <a:rPr lang="en-US" sz="1400" b="1" dirty="0">
                <a:latin typeface="Arial Narrow" pitchFamily="34" charset="0"/>
              </a:rPr>
              <a:t>         |                 |</a:t>
            </a:r>
          </a:p>
          <a:p>
            <a:r>
              <a:rPr lang="en-US" sz="1400" b="1" dirty="0">
                <a:latin typeface="Arial Narrow" pitchFamily="34" charset="0"/>
              </a:rPr>
              <a:t>      </a:t>
            </a:r>
            <a:r>
              <a:rPr lang="en-US" sz="1400" b="1" dirty="0" err="1">
                <a:latin typeface="Arial Narrow" pitchFamily="34" charset="0"/>
              </a:rPr>
              <a:t>Eval.hs</a:t>
            </a:r>
            <a:r>
              <a:rPr lang="en-US" sz="1400" b="1" dirty="0">
                <a:latin typeface="Arial Narrow" pitchFamily="34" charset="0"/>
              </a:rPr>
              <a:t>           </a:t>
            </a:r>
            <a:r>
              <a:rPr lang="en-US" sz="1400" b="1" dirty="0" err="1">
                <a:latin typeface="Arial Narrow" pitchFamily="34" charset="0"/>
              </a:rPr>
              <a:t>Pretty.hs</a:t>
            </a:r>
            <a:endParaRPr lang="en-US" sz="1400" b="1" dirty="0">
              <a:latin typeface="Arial Narrow" pitchFamily="34" charset="0"/>
            </a:endParaRPr>
          </a:p>
          <a:p>
            <a:r>
              <a:rPr lang="en-US" sz="1400" b="1" dirty="0">
                <a:latin typeface="Arial Narrow" pitchFamily="34" charset="0"/>
              </a:rPr>
              <a:t>         |                 |</a:t>
            </a:r>
          </a:p>
          <a:p>
            <a:r>
              <a:rPr lang="en-US" sz="1400" b="1" dirty="0">
                <a:latin typeface="Arial Narrow" pitchFamily="34" charset="0"/>
              </a:rPr>
              <a:t>      -&gt; Just 11 </a:t>
            </a:r>
            <a:r>
              <a:rPr lang="en-US" sz="1400" b="1" dirty="0" smtClean="0">
                <a:latin typeface="Arial Narrow" pitchFamily="34" charset="0"/>
              </a:rPr>
              <a:t>       </a:t>
            </a:r>
            <a:r>
              <a:rPr lang="en-US" sz="1400" b="1" dirty="0">
                <a:latin typeface="Arial Narrow" pitchFamily="34" charset="0"/>
              </a:rPr>
              <a:t>-&gt; "x + </a:t>
            </a:r>
            <a:r>
              <a:rPr lang="en-US" sz="1400" b="1" dirty="0" smtClean="0">
                <a:latin typeface="Arial Narrow" pitchFamily="34" charset="0"/>
              </a:rPr>
              <a:t>y"</a:t>
            </a:r>
            <a:endParaRPr lang="ro-RO" sz="1400" b="1" dirty="0" smtClean="0">
              <a:latin typeface="Arial Narrow" pitchFamily="34" charset="0"/>
            </a:endParaRPr>
          </a:p>
          <a:p>
            <a:r>
              <a:rPr lang="ro-RO" sz="1400" b="1" dirty="0" smtClean="0">
                <a:latin typeface="Arial Narrow" pitchFamily="34" charset="0"/>
              </a:rPr>
              <a:t>      (ex: </a:t>
            </a:r>
            <a:r>
              <a:rPr lang="es-ES" sz="1400" b="1" dirty="0" err="1" smtClean="0">
                <a:latin typeface="Arial Narrow" pitchFamily="34" charset="0"/>
              </a:rPr>
              <a:t>pentru</a:t>
            </a:r>
            <a:r>
              <a:rPr lang="es-ES" sz="1400" b="1" dirty="0" smtClean="0">
                <a:latin typeface="Arial Narrow" pitchFamily="34" charset="0"/>
              </a:rPr>
              <a:t> x = 4, y = 7</a:t>
            </a:r>
            <a:r>
              <a:rPr lang="ro-RO" sz="1400" b="1" dirty="0" smtClean="0">
                <a:latin typeface="Arial Narrow" pitchFamily="34" charset="0"/>
              </a:rPr>
              <a:t>)</a:t>
            </a:r>
            <a:endParaRPr lang="en-US" sz="1400" b="1" dirty="0">
              <a:latin typeface="Arial Narrow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Modulul</a:t>
            </a:r>
            <a:r>
              <a:rPr sz="3400" dirty="0"/>
              <a:t> </a:t>
            </a:r>
            <a:r>
              <a:rPr sz="3400" dirty="0" err="1"/>
              <a:t>testat</a:t>
            </a:r>
            <a:r>
              <a:rPr sz="3400" dirty="0"/>
              <a:t>: AST </a:t>
            </a:r>
            <a:r>
              <a:rPr lang="ro-RO" sz="3400" dirty="0" err="1"/>
              <a:t>ș</a:t>
            </a:r>
            <a:r>
              <a:rPr sz="3400" dirty="0" smtClean="0"/>
              <a:t>i </a:t>
            </a:r>
            <a:r>
              <a:rPr sz="3400" dirty="0"/>
              <a:t>evaluator</a:t>
            </a:r>
          </a:p>
        </p:txBody>
      </p:sp>
      <p:sp>
        <p:nvSpPr>
          <p:cNvPr id="9" name="Rounded Rectangle 2"/>
          <p:cNvSpPr/>
          <p:nvPr/>
        </p:nvSpPr>
        <p:spPr>
          <a:xfrm>
            <a:off x="1153160" y="1986280"/>
            <a:ext cx="2479040" cy="1971943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17752" y="2096007"/>
            <a:ext cx="4478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4EC9B0"/>
                </a:solidFill>
                <a:latin typeface="Consolas"/>
              </a:rPr>
              <a:t>AST (</a:t>
            </a:r>
            <a:r>
              <a:rPr sz="1400" b="1" i="0" dirty="0" err="1">
                <a:solidFill>
                  <a:srgbClr val="4EC9B0"/>
                </a:solidFill>
                <a:latin typeface="Consolas"/>
              </a:rPr>
              <a:t>Expr</a:t>
            </a:r>
            <a:r>
              <a:rPr sz="1400" b="1" i="0" dirty="0">
                <a:solidFill>
                  <a:srgbClr val="4EC9B0"/>
                </a:solidFill>
                <a:latin typeface="Consolas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</p:txBody>
      </p:sp>
      <p:sp>
        <p:nvSpPr>
          <p:cNvPr id="11" name="Rounded Rectangle 4"/>
          <p:cNvSpPr/>
          <p:nvPr/>
        </p:nvSpPr>
        <p:spPr>
          <a:xfrm>
            <a:off x="84667" y="4018787"/>
            <a:ext cx="5877221" cy="1629705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8600" y="4213186"/>
            <a:ext cx="55681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4EC9B0"/>
                </a:solidFill>
                <a:latin typeface="Consolas"/>
              </a:rPr>
              <a:t>Evaluator (fragment)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9CDCFE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(Var x)   =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x env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6A9955"/>
                </a:solidFill>
                <a:latin typeface="Consolas"/>
              </a:rPr>
              <a:t>-- Nothing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daca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o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variabila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lipseste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din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mediu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13" name="Rounded Rectangle 6"/>
          <p:cNvSpPr/>
          <p:nvPr/>
        </p:nvSpPr>
        <p:spPr>
          <a:xfrm>
            <a:off x="6346952" y="1986280"/>
            <a:ext cx="4808728" cy="365760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2399" y="2105152"/>
            <a:ext cx="44881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4E79"/>
                </a:solidFill>
                <a:latin typeface="Segoe UI"/>
              </a:rPr>
              <a:t>Arbore pentru: 1 * x + -(-y)</a:t>
            </a:r>
          </a:p>
        </p:txBody>
      </p:sp>
      <p:sp>
        <p:nvSpPr>
          <p:cNvPr id="18" name="Rounded Rectangle 11"/>
          <p:cNvSpPr/>
          <p:nvPr/>
        </p:nvSpPr>
        <p:spPr>
          <a:xfrm>
            <a:off x="703275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1</a:t>
            </a:r>
          </a:p>
        </p:txBody>
      </p:sp>
      <p:sp>
        <p:nvSpPr>
          <p:cNvPr id="19" name="Rounded Rectangle 12"/>
          <p:cNvSpPr/>
          <p:nvPr/>
        </p:nvSpPr>
        <p:spPr>
          <a:xfrm>
            <a:off x="7874000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x</a:t>
            </a:r>
          </a:p>
        </p:txBody>
      </p:sp>
      <p:cxnSp>
        <p:nvCxnSpPr>
          <p:cNvPr id="22" name="Connector 15"/>
          <p:cNvCxnSpPr>
            <a:cxnSpLocks/>
            <a:endCxn id="16" idx="0"/>
          </p:cNvCxnSpPr>
          <p:nvPr/>
        </p:nvCxnSpPr>
        <p:spPr>
          <a:xfrm flipH="1">
            <a:off x="7810596" y="2900680"/>
            <a:ext cx="977804" cy="48463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16"/>
          <p:cNvCxnSpPr>
            <a:cxnSpLocks/>
          </p:cNvCxnSpPr>
          <p:nvPr/>
        </p:nvCxnSpPr>
        <p:spPr>
          <a:xfrm>
            <a:off x="8788400" y="2900680"/>
            <a:ext cx="907690" cy="59484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17"/>
          <p:cNvCxnSpPr>
            <a:cxnSpLocks/>
            <a:endCxn id="18" idx="0"/>
          </p:cNvCxnSpPr>
          <p:nvPr/>
        </p:nvCxnSpPr>
        <p:spPr>
          <a:xfrm flipH="1">
            <a:off x="7389972" y="3568192"/>
            <a:ext cx="420020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8"/>
          <p:cNvCxnSpPr>
            <a:cxnSpLocks/>
            <a:endCxn id="19" idx="0"/>
          </p:cNvCxnSpPr>
          <p:nvPr/>
        </p:nvCxnSpPr>
        <p:spPr>
          <a:xfrm>
            <a:off x="7809992" y="3568192"/>
            <a:ext cx="421228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9"/>
          <p:cNvCxnSpPr>
            <a:cxnSpLocks/>
          </p:cNvCxnSpPr>
          <p:nvPr/>
        </p:nvCxnSpPr>
        <p:spPr>
          <a:xfrm>
            <a:off x="9766808" y="3568192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0"/>
          <p:cNvCxnSpPr>
            <a:cxnSpLocks/>
          </p:cNvCxnSpPr>
          <p:nvPr/>
        </p:nvCxnSpPr>
        <p:spPr>
          <a:xfrm>
            <a:off x="9766808" y="4226560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44327" y="5311227"/>
            <a:ext cx="44881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i="0" dirty="0" smtClean="0">
                <a:solidFill>
                  <a:srgbClr val="4B5563"/>
                </a:solidFill>
                <a:latin typeface="Segoe UI"/>
              </a:rPr>
              <a:t>R</a:t>
            </a:r>
            <a:r>
              <a:rPr lang="ro-RO" sz="1200" i="0" dirty="0" smtClean="0">
                <a:solidFill>
                  <a:srgbClr val="4B5563"/>
                </a:solidFill>
                <a:latin typeface="Segoe UI"/>
              </a:rPr>
              <a:t>ă</a:t>
            </a:r>
            <a:r>
              <a:rPr sz="1200" i="0" dirty="0" smtClean="0">
                <a:solidFill>
                  <a:srgbClr val="4B5563"/>
                </a:solidFill>
                <a:latin typeface="Segoe UI"/>
              </a:rPr>
              <a:t>d</a:t>
            </a:r>
            <a:r>
              <a:rPr lang="ro-RO" sz="1200" i="0" dirty="0" smtClean="0">
                <a:solidFill>
                  <a:srgbClr val="4B5563"/>
                </a:solidFill>
                <a:latin typeface="Segoe UI"/>
              </a:rPr>
              <a:t>ă</a:t>
            </a:r>
            <a:r>
              <a:rPr sz="1200" i="0" dirty="0" err="1" smtClean="0">
                <a:solidFill>
                  <a:srgbClr val="4B5563"/>
                </a:solidFill>
                <a:latin typeface="Segoe UI"/>
              </a:rPr>
              <a:t>cina</a:t>
            </a:r>
            <a:r>
              <a:rPr sz="1200" i="0" dirty="0">
                <a:solidFill>
                  <a:srgbClr val="4B5563"/>
                </a:solidFill>
                <a:latin typeface="Segoe UI"/>
              </a:rPr>
              <a:t>:</a:t>
            </a:r>
            <a:r>
              <a:rPr sz="1200" b="1" i="0" dirty="0">
                <a:solidFill>
                  <a:srgbClr val="4B5563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Add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 |  </a:t>
            </a:r>
            <a:r>
              <a:rPr sz="1200" b="0" i="0" dirty="0" err="1">
                <a:solidFill>
                  <a:srgbClr val="4B5563"/>
                </a:solidFill>
                <a:latin typeface="Segoe UI"/>
              </a:rPr>
              <a:t>Subarbori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: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Mul(1,x)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</a:t>
            </a:r>
            <a:r>
              <a:rPr lang="ro-RO" sz="1200" dirty="0" err="1">
                <a:solidFill>
                  <a:srgbClr val="4B5563"/>
                </a:solidFill>
                <a:latin typeface="Segoe UI"/>
              </a:rPr>
              <a:t>ș</a:t>
            </a:r>
            <a:r>
              <a:rPr sz="1200" b="0" i="0" dirty="0" smtClean="0">
                <a:solidFill>
                  <a:srgbClr val="4B5563"/>
                </a:solidFill>
                <a:latin typeface="Segoe UI"/>
              </a:rPr>
              <a:t>i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Neg(Neg(y))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8431784" y="271780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Add</a:t>
            </a:r>
          </a:p>
        </p:txBody>
      </p:sp>
      <p:sp>
        <p:nvSpPr>
          <p:cNvPr id="17" name="Rounded Rectangle 10"/>
          <p:cNvSpPr/>
          <p:nvPr/>
        </p:nvSpPr>
        <p:spPr>
          <a:xfrm>
            <a:off x="9410192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0" name="Rounded Rectangle 13"/>
          <p:cNvSpPr/>
          <p:nvPr/>
        </p:nvSpPr>
        <p:spPr>
          <a:xfrm>
            <a:off x="941019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1" name="Rounded Rectangle 14"/>
          <p:cNvSpPr/>
          <p:nvPr/>
        </p:nvSpPr>
        <p:spPr>
          <a:xfrm>
            <a:off x="9410192" y="4702048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y</a:t>
            </a:r>
          </a:p>
        </p:txBody>
      </p:sp>
      <p:sp>
        <p:nvSpPr>
          <p:cNvPr id="16" name="Rounded Rectangle 9"/>
          <p:cNvSpPr/>
          <p:nvPr/>
        </p:nvSpPr>
        <p:spPr>
          <a:xfrm>
            <a:off x="7453376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Mul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52903" y="5753687"/>
            <a:ext cx="9120293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Modelarea cu tipuri algebrice face structura expresiilor explicită și ușor de parcurs recursiv.</a:t>
            </a:r>
          </a:p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Funcții precum size, depth și operatorCount folosesc direct forma arborelui.</a:t>
            </a:r>
            <a:endParaRPr lang="vi-VN" sz="1500" dirty="0">
              <a:solidFill>
                <a:srgbClr val="2F3338"/>
              </a:solidFill>
              <a:latin typeface="Segoe UI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0067" y="2394689"/>
            <a:ext cx="1981200" cy="1466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Evaluatorul</a:t>
            </a:r>
            <a:r>
              <a:rPr sz="3500" dirty="0">
                <a:solidFill>
                  <a:srgbClr val="2F3338"/>
                </a:solidFill>
              </a:rPr>
              <a:t>: </a:t>
            </a:r>
            <a:r>
              <a:rPr sz="3500" dirty="0" err="1">
                <a:solidFill>
                  <a:srgbClr val="2F3338"/>
                </a:solidFill>
              </a:rPr>
              <a:t>semantica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smtClean="0">
                <a:solidFill>
                  <a:srgbClr val="2F3338"/>
                </a:solidFill>
              </a:rPr>
              <a:t>opera</a:t>
            </a:r>
            <a:r>
              <a:rPr lang="ro-RO" sz="3500" dirty="0" smtClean="0">
                <a:solidFill>
                  <a:srgbClr val="2F3338"/>
                </a:solidFill>
              </a:rPr>
              <a:t>ț</a:t>
            </a:r>
            <a:r>
              <a:rPr sz="3500" dirty="0" err="1" smtClean="0">
                <a:solidFill>
                  <a:srgbClr val="2F3338"/>
                </a:solidFill>
              </a:rPr>
              <a:t>ional</a:t>
            </a:r>
            <a:r>
              <a:rPr lang="ro-RO" sz="3500" dirty="0" smtClean="0">
                <a:solidFill>
                  <a:srgbClr val="2F3338"/>
                </a:solidFill>
              </a:rPr>
              <a:t>ă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59000"/>
            <a:ext cx="10058400" cy="17830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261872" y="2250440"/>
            <a:ext cx="97292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Fragment din Eval.hs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524760"/>
            <a:ext cx="9729216" cy="1272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400" dirty="0" err="1">
                <a:solidFill>
                  <a:srgbClr val="D4D4D4"/>
                </a:solidFill>
                <a:latin typeface="Consolas"/>
              </a:rPr>
              <a:t>eval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::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Env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-&gt;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-&gt; Maybe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Int</a:t>
            </a:r>
            <a:endParaRPr lang="en-US" sz="140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400" dirty="0" err="1">
                <a:solidFill>
                  <a:srgbClr val="D4D4D4"/>
                </a:solidFill>
                <a:latin typeface="Consolas"/>
              </a:rPr>
              <a:t>eval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env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=</a:t>
            </a:r>
          </a:p>
          <a:p>
            <a:pPr>
              <a:spcAft>
                <a:spcPts val="20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case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of</a:t>
            </a:r>
          </a:p>
          <a:p>
            <a:pPr>
              <a:spcAft>
                <a:spcPts val="20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 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Var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x   -&gt;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x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env</a:t>
            </a:r>
            <a:endParaRPr lang="en-US" sz="140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  Add a b -&gt; liftA2 (+) (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eval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env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a) (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eval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env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b)</a:t>
            </a:r>
            <a:endParaRPr lang="en-US" sz="140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097280" y="4079239"/>
            <a:ext cx="10058400" cy="136482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325880" y="4307839"/>
            <a:ext cx="9601200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Maybe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encodeaz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explicit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ecul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par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ial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(Nothing)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O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pera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binare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esc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doar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dac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ambele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subexpresii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sunt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evaluabile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D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esign-ul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evit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excep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runtime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nedefinite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Simplificatorul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lang="ro-RO" sz="3500" dirty="0" err="1">
                <a:solidFill>
                  <a:srgbClr val="2F3338"/>
                </a:solidFill>
              </a:rPr>
              <a:t>ș</a:t>
            </a:r>
            <a:r>
              <a:rPr sz="3500" dirty="0" smtClean="0">
                <a:solidFill>
                  <a:srgbClr val="2F3338"/>
                </a:solidFill>
              </a:rPr>
              <a:t>i </a:t>
            </a:r>
            <a:r>
              <a:rPr sz="3500" dirty="0" err="1">
                <a:solidFill>
                  <a:srgbClr val="2F3338"/>
                </a:solidFill>
              </a:rPr>
              <a:t>regulile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algebrice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27982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2F3338"/>
                </a:solidFill>
                <a:latin typeface="Segoe UI"/>
              </a:rPr>
              <a:t>Simplificarea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aplic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reguli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la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stabilizare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(fixpoint).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1" y="2514600"/>
            <a:ext cx="4846320" cy="35661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2514600"/>
            <a:ext cx="4846320" cy="35661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79790" y="3076880"/>
            <a:ext cx="3832011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dirty="0">
                <a:solidFill>
                  <a:srgbClr val="2F3338"/>
                </a:solidFill>
                <a:latin typeface="Segoe UI"/>
              </a:rPr>
              <a:t>- x + 0 -&gt; x          - 0 + x -&gt; x</a:t>
            </a:r>
          </a:p>
          <a:p>
            <a:pPr>
              <a:spcAft>
                <a:spcPts val="200"/>
              </a:spcAft>
            </a:pPr>
            <a:r>
              <a:rPr lang="en-US" dirty="0">
                <a:solidFill>
                  <a:srgbClr val="2F3338"/>
                </a:solidFill>
                <a:latin typeface="Segoe UI"/>
              </a:rPr>
              <a:t>- x * 1 -&gt; x          </a:t>
            </a:r>
            <a:r>
              <a:rPr lang="ro-RO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dirty="0" smtClean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dirty="0">
                <a:solidFill>
                  <a:srgbClr val="2F3338"/>
                </a:solidFill>
                <a:latin typeface="Segoe UI"/>
              </a:rPr>
              <a:t>1 * x -&gt; x</a:t>
            </a:r>
          </a:p>
          <a:p>
            <a:pPr>
              <a:spcAft>
                <a:spcPts val="200"/>
              </a:spcAft>
            </a:pPr>
            <a:r>
              <a:rPr lang="en-US" dirty="0">
                <a:solidFill>
                  <a:srgbClr val="2F3338"/>
                </a:solidFill>
                <a:latin typeface="Segoe UI"/>
              </a:rPr>
              <a:t>- x * 0 -&gt; 0      </a:t>
            </a:r>
            <a:r>
              <a:rPr lang="ro-RO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dirty="0" smtClean="0">
                <a:solidFill>
                  <a:srgbClr val="2F3338"/>
                </a:solidFill>
                <a:latin typeface="Segoe UI"/>
              </a:rPr>
              <a:t>    </a:t>
            </a:r>
            <a:r>
              <a:rPr lang="en-US" dirty="0">
                <a:solidFill>
                  <a:srgbClr val="2F3338"/>
                </a:solidFill>
                <a:latin typeface="Segoe UI"/>
              </a:rPr>
              <a:t>- 0 * x -&gt; 0</a:t>
            </a:r>
          </a:p>
          <a:p>
            <a:pPr>
              <a:spcAft>
                <a:spcPts val="200"/>
              </a:spcAft>
            </a:pPr>
            <a:r>
              <a:rPr lang="en-US" dirty="0">
                <a:solidFill>
                  <a:srgbClr val="2F3338"/>
                </a:solidFill>
                <a:latin typeface="Segoe UI"/>
              </a:rPr>
              <a:t>- x * (-1) -&gt; -x      - (-1) * x -&gt; -x</a:t>
            </a:r>
          </a:p>
          <a:p>
            <a:pPr>
              <a:spcAft>
                <a:spcPts val="200"/>
              </a:spcAft>
            </a:pPr>
            <a:r>
              <a:rPr lang="en-US" dirty="0">
                <a:solidFill>
                  <a:srgbClr val="2F3338"/>
                </a:solidFill>
                <a:latin typeface="Segoe UI"/>
              </a:rPr>
              <a:t>- x - x -&gt; 0</a:t>
            </a:r>
          </a:p>
          <a:p>
            <a:pPr>
              <a:spcAft>
                <a:spcPts val="200"/>
              </a:spcAft>
            </a:pPr>
            <a:r>
              <a:rPr lang="en-US" dirty="0">
                <a:solidFill>
                  <a:srgbClr val="2F3338"/>
                </a:solidFill>
                <a:latin typeface="Segoe UI"/>
              </a:rPr>
              <a:t>- --x -&gt; x</a:t>
            </a:r>
          </a:p>
          <a:p>
            <a:pPr>
              <a:spcAft>
                <a:spcPts val="200"/>
              </a:spcAft>
            </a:pPr>
            <a:r>
              <a:rPr lang="en-US" dirty="0">
                <a:solidFill>
                  <a:srgbClr val="2F3338"/>
                </a:solidFill>
                <a:latin typeface="Segoe UI"/>
              </a:rPr>
              <a:t>- 0 - e -&gt; -e</a:t>
            </a:r>
            <a:endParaRPr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766560" y="3382851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+ Const b -&gt; Const (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a+b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* Const b -&gt; Const (a*b)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- Const b -&gt; Const (a-b)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regulile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sunt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aplicate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recursiv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pe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subarbori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15733" y="2892214"/>
            <a:ext cx="2599268" cy="369332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>
                <a:solidFill>
                  <a:srgbClr val="2F3338"/>
                </a:solidFill>
              </a:rPr>
              <a:t>Pretty + Parser: round-trip semantic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6746" y="1943099"/>
            <a:ext cx="11873653" cy="41859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216746" y="2489482"/>
            <a:ext cx="960120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ro-RO" b="1" dirty="0">
                <a:solidFill>
                  <a:srgbClr val="2F3338"/>
                </a:solidFill>
                <a:latin typeface="Segoe UI"/>
              </a:rPr>
              <a:t>Ce fac modulele</a:t>
            </a:r>
          </a:p>
          <a:p>
            <a:pPr>
              <a:spcAft>
                <a:spcPts val="200"/>
              </a:spcAft>
            </a:pPr>
            <a:r>
              <a:rPr lang="vi-VN" dirty="0" smtClean="0">
                <a:solidFill>
                  <a:srgbClr val="2F3338"/>
                </a:solidFill>
                <a:latin typeface="Segoe UI"/>
              </a:rPr>
              <a:t>Pretty.hs</a:t>
            </a:r>
            <a:endParaRPr lang="vi-VN" dirty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vi-VN" dirty="0">
                <a:solidFill>
                  <a:srgbClr val="2F3338"/>
                </a:solidFill>
                <a:latin typeface="Segoe UI"/>
              </a:rPr>
              <a:t>- transformă AST-ul în text lizibil</a:t>
            </a:r>
          </a:p>
          <a:p>
            <a:pPr>
              <a:spcAft>
                <a:spcPts val="200"/>
              </a:spcAft>
            </a:pPr>
            <a:r>
              <a:rPr lang="vi-VN" dirty="0">
                <a:solidFill>
                  <a:srgbClr val="2F3338"/>
                </a:solidFill>
                <a:latin typeface="Segoe UI"/>
              </a:rPr>
              <a:t>- adaugă paranteze doar când sunt necesare</a:t>
            </a:r>
          </a:p>
          <a:p>
            <a:pPr>
              <a:spcAft>
                <a:spcPts val="200"/>
              </a:spcAft>
            </a:pPr>
            <a:r>
              <a:rPr lang="vi-VN" dirty="0">
                <a:solidFill>
                  <a:srgbClr val="2F3338"/>
                </a:solidFill>
                <a:latin typeface="Segoe UI"/>
              </a:rPr>
              <a:t>- folosește priorități: addPrec, mulPrec, negPrec, atomPrec</a:t>
            </a:r>
          </a:p>
          <a:p>
            <a:pPr>
              <a:spcAft>
                <a:spcPts val="200"/>
              </a:spcAft>
            </a:pPr>
            <a:endParaRPr lang="vi-VN" dirty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vi-VN" dirty="0">
                <a:solidFill>
                  <a:srgbClr val="2F3338"/>
                </a:solidFill>
                <a:latin typeface="Segoe UI"/>
              </a:rPr>
              <a:t>Parser.hs</a:t>
            </a:r>
          </a:p>
          <a:p>
            <a:pPr>
              <a:spcAft>
                <a:spcPts val="200"/>
              </a:spcAft>
            </a:pPr>
            <a:r>
              <a:rPr lang="vi-VN" dirty="0">
                <a:solidFill>
                  <a:srgbClr val="2F3338"/>
                </a:solidFill>
                <a:latin typeface="Segoe UI"/>
              </a:rPr>
              <a:t>- transformă textul înapoi în Expr</a:t>
            </a:r>
          </a:p>
          <a:p>
            <a:pPr>
              <a:spcAft>
                <a:spcPts val="200"/>
              </a:spcAft>
            </a:pPr>
            <a:r>
              <a:rPr lang="vi-VN" dirty="0">
                <a:solidFill>
                  <a:srgbClr val="2F3338"/>
                </a:solidFill>
                <a:latin typeface="Segoe UI"/>
              </a:rPr>
              <a:t>- respectă precedența operatorilor</a:t>
            </a:r>
          </a:p>
          <a:p>
            <a:pPr>
              <a:spcAft>
                <a:spcPts val="200"/>
              </a:spcAft>
            </a:pPr>
            <a:r>
              <a:rPr lang="vi-VN" dirty="0">
                <a:solidFill>
                  <a:srgbClr val="2F3338"/>
                </a:solidFill>
                <a:latin typeface="Segoe UI"/>
              </a:rPr>
              <a:t>- acceptă variabile, constante, paranteze și negare unară</a:t>
            </a:r>
            <a:endParaRPr lang="vi-VN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48400" y="2549366"/>
            <a:ext cx="5621867" cy="2721134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6298183" y="2791515"/>
            <a:ext cx="57922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 dirty="0" err="1">
                <a:solidFill>
                  <a:srgbClr val="9CDCFE"/>
                </a:solidFill>
                <a:latin typeface="Consolas"/>
              </a:rPr>
              <a:t>Proprietate</a:t>
            </a:r>
            <a:r>
              <a:rPr sz="1600" b="1" i="0" dirty="0">
                <a:solidFill>
                  <a:srgbClr val="9CDCFE"/>
                </a:solidFill>
                <a:latin typeface="Consolas"/>
              </a:rPr>
              <a:t> </a:t>
            </a:r>
            <a:r>
              <a:rPr sz="1600" b="1" i="0" dirty="0" err="1" smtClean="0">
                <a:solidFill>
                  <a:srgbClr val="9CDCFE"/>
                </a:solidFill>
                <a:latin typeface="Consolas"/>
              </a:rPr>
              <a:t>validat</a:t>
            </a:r>
            <a:r>
              <a:rPr lang="ro-RO" sz="1600" b="1" i="0" dirty="0" smtClean="0">
                <a:solidFill>
                  <a:srgbClr val="9CDCFE"/>
                </a:solidFill>
                <a:latin typeface="Consolas"/>
              </a:rPr>
              <a:t>ă</a:t>
            </a:r>
            <a:endParaRPr sz="1600" b="1" i="0" dirty="0">
              <a:solidFill>
                <a:srgbClr val="9CDCFE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95702" y="3604721"/>
            <a:ext cx="4927261" cy="61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600" dirty="0" err="1">
                <a:solidFill>
                  <a:srgbClr val="D4D4D4"/>
                </a:solidFill>
                <a:latin typeface="Consolas"/>
              </a:rPr>
              <a:t>parseExpr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 (pretty </a:t>
            </a:r>
            <a:r>
              <a:rPr lang="en-US" sz="160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) = Just parsed</a:t>
            </a:r>
          </a:p>
          <a:p>
            <a:pPr>
              <a:spcAft>
                <a:spcPts val="200"/>
              </a:spcAft>
            </a:pPr>
            <a:r>
              <a:rPr lang="en-US" sz="1600" dirty="0" err="1">
                <a:solidFill>
                  <a:srgbClr val="D4D4D4"/>
                </a:solidFill>
                <a:latin typeface="Consolas"/>
              </a:rPr>
              <a:t>eval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600" dirty="0" err="1">
                <a:solidFill>
                  <a:srgbClr val="D4D4D4"/>
                </a:solidFill>
                <a:latin typeface="Consolas"/>
              </a:rPr>
              <a:t>env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 parsed == </a:t>
            </a:r>
            <a:r>
              <a:rPr lang="en-US" sz="1600" dirty="0" err="1">
                <a:solidFill>
                  <a:srgbClr val="D4D4D4"/>
                </a:solidFill>
                <a:latin typeface="Consolas"/>
              </a:rPr>
              <a:t>eval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600" dirty="0" err="1">
                <a:solidFill>
                  <a:srgbClr val="D4D4D4"/>
                </a:solidFill>
                <a:latin typeface="Consolas"/>
              </a:rPr>
              <a:t>env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600" dirty="0" err="1">
                <a:solidFill>
                  <a:srgbClr val="D4D4D4"/>
                </a:solidFill>
                <a:latin typeface="Consolas"/>
              </a:rPr>
              <a:t>exp</a:t>
            </a:r>
            <a:endParaRPr lang="en-US" sz="1600" dirty="0">
              <a:solidFill>
                <a:srgbClr val="D4D4D4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dirty="0" err="1">
                <a:solidFill>
                  <a:schemeClr val="tx1"/>
                </a:solidFill>
              </a:rPr>
              <a:t>Generatoarele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>
                <a:solidFill>
                  <a:schemeClr val="tx1"/>
                </a:solidFill>
              </a:rPr>
              <a:t>proprii</a:t>
            </a:r>
            <a:r>
              <a:rPr sz="3200" dirty="0">
                <a:solidFill>
                  <a:schemeClr val="tx1"/>
                </a:solidFill>
              </a:rPr>
              <a:t> (de </a:t>
            </a:r>
            <a:r>
              <a:rPr sz="3200" dirty="0" err="1">
                <a:solidFill>
                  <a:schemeClr val="tx1"/>
                </a:solidFill>
              </a:rPr>
              <a:t>ce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 smtClean="0">
                <a:solidFill>
                  <a:schemeClr val="tx1"/>
                </a:solidFill>
              </a:rPr>
              <a:t>conteaz</a:t>
            </a:r>
            <a:r>
              <a:rPr lang="ro-RO" sz="3200" dirty="0" smtClean="0">
                <a:solidFill>
                  <a:schemeClr val="tx1"/>
                </a:solidFill>
              </a:rPr>
              <a:t>ă</a:t>
            </a:r>
            <a:r>
              <a:rPr sz="3200" dirty="0" smtClean="0">
                <a:solidFill>
                  <a:schemeClr val="tx1"/>
                </a:solidFill>
              </a:rPr>
              <a:t>)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14173"/>
            <a:ext cx="101473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 dirty="0" err="1">
                <a:solidFill>
                  <a:srgbClr val="2F2F2F"/>
                </a:solidFill>
                <a:latin typeface="Calibri"/>
              </a:rPr>
              <a:t>Generatoarele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sunt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scrise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1" i="0" dirty="0">
                <a:solidFill>
                  <a:srgbClr val="2F2F2F"/>
                </a:solidFill>
                <a:latin typeface="Calibri"/>
              </a:rPr>
              <a:t>manual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, nu derivate automat. Un generator automat (</a:t>
            </a:r>
            <a:r>
              <a:rPr sz="1600" b="1" i="0" dirty="0" err="1">
                <a:solidFill>
                  <a:srgbClr val="2F2F2F"/>
                </a:solidFill>
                <a:latin typeface="Consolas"/>
              </a:rPr>
              <a:t>genericArbitrary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) nu </a:t>
            </a:r>
            <a:r>
              <a:rPr sz="1600" b="0" i="0" dirty="0" err="1" smtClean="0">
                <a:solidFill>
                  <a:srgbClr val="2F2F2F"/>
                </a:solidFill>
                <a:latin typeface="Calibri"/>
              </a:rPr>
              <a:t>cunoa</a:t>
            </a:r>
            <a:r>
              <a:rPr lang="ro-RO" sz="1600" b="0" i="0" dirty="0" smtClean="0">
                <a:solidFill>
                  <a:srgbClr val="2F2F2F"/>
                </a:solidFill>
                <a:latin typeface="Calibri"/>
              </a:rPr>
              <a:t>ș</a:t>
            </a:r>
            <a:r>
              <a:rPr sz="1600" b="0" i="0" dirty="0" err="1" smtClean="0">
                <a:solidFill>
                  <a:srgbClr val="2F2F2F"/>
                </a:solidFill>
                <a:latin typeface="Calibri"/>
              </a:rPr>
              <a:t>te</a:t>
            </a:r>
            <a:r>
              <a:rPr sz="1600" b="0" i="0" dirty="0" smtClean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domeniul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lang="ro-RO" sz="1600" dirty="0" err="1">
                <a:solidFill>
                  <a:srgbClr val="2F2F2F"/>
                </a:solidFill>
                <a:latin typeface="Calibri"/>
              </a:rPr>
              <a:t>ș</a:t>
            </a:r>
            <a:r>
              <a:rPr sz="1600" b="0" i="0" dirty="0" smtClean="0">
                <a:solidFill>
                  <a:srgbClr val="2F2F2F"/>
                </a:solidFill>
                <a:latin typeface="Calibri"/>
              </a:rPr>
              <a:t>i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poate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produce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expresii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dezechilibrate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86180" y="2759395"/>
            <a:ext cx="4864608" cy="1965960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50772" y="2809748"/>
            <a:ext cx="4535424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genSmallInt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:: Gen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Int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genSmallInt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=</a:t>
            </a:r>
            <a:r>
              <a:rPr sz="600" b="0" i="0" dirty="0" smtClean="0">
                <a:solidFill>
                  <a:srgbClr val="D4D4D4"/>
                </a:solidFill>
                <a:latin typeface="Consolas"/>
              </a:rPr>
              <a:t> </a:t>
            </a:r>
            <a:endParaRPr sz="600" b="0" i="0" dirty="0">
              <a:solidFill>
                <a:srgbClr val="D4D4D4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 dirty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(-4, 4))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  -- 83%: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numere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mici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usor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de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citit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(-12, 12))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-- 17%: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numere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mai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mari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6" name="Rectangle 5"/>
          <p:cNvSpPr/>
          <p:nvPr/>
        </p:nvSpPr>
        <p:spPr>
          <a:xfrm>
            <a:off x="6379972" y="2759394"/>
            <a:ext cx="4864608" cy="3108005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4564" y="2809748"/>
            <a:ext cx="4535424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7030A0"/>
                </a:solidFill>
                <a:latin typeface="Consolas"/>
              </a:rPr>
              <a:t>genExpr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>
                <a:solidFill>
                  <a:schemeClr val="bg1"/>
                </a:solidFill>
                <a:latin typeface="Consolas"/>
              </a:rPr>
              <a:t>:: </a:t>
            </a:r>
            <a:r>
              <a:rPr lang="en-US" sz="1400" b="1" dirty="0">
                <a:solidFill>
                  <a:srgbClr val="C00000"/>
                </a:solidFill>
                <a:latin typeface="Consolas"/>
              </a:rPr>
              <a:t>Gen </a:t>
            </a:r>
            <a:r>
              <a:rPr lang="en-US" sz="1400" b="1" dirty="0" err="1">
                <a:solidFill>
                  <a:srgbClr val="C00000"/>
                </a:solidFill>
                <a:latin typeface="Consolas"/>
              </a:rPr>
              <a:t>Expr</a:t>
            </a:r>
            <a:endParaRPr lang="en-US" sz="1400" b="1" dirty="0">
              <a:solidFill>
                <a:srgbClr val="C0000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chemeClr val="bg1">
                    <a:lumMod val="95000"/>
                  </a:schemeClr>
                </a:solidFill>
                <a:latin typeface="Consolas"/>
              </a:rPr>
              <a:t>genExpr</a:t>
            </a:r>
            <a:r>
              <a:rPr lang="en-US" sz="1400" b="1" dirty="0">
                <a:solidFill>
                  <a:schemeClr val="bg1">
                    <a:lumMod val="95000"/>
                  </a:schemeClr>
                </a:solidFill>
                <a:latin typeface="Consolas"/>
              </a:rPr>
              <a:t> = sized go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4EC9B0"/>
                </a:solidFill>
                <a:latin typeface="Consolas"/>
              </a:rPr>
              <a:t>  </a:t>
            </a:r>
            <a:r>
              <a:rPr lang="en-US" sz="1400" b="1" dirty="0">
                <a:solidFill>
                  <a:srgbClr val="C00000"/>
                </a:solidFill>
                <a:latin typeface="Consolas"/>
              </a:rPr>
              <a:t>where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4EC9B0"/>
                </a:solidFill>
                <a:latin typeface="Consolas"/>
              </a:rPr>
              <a:t>    </a:t>
            </a: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onsolas"/>
              </a:rPr>
              <a:t>go 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onsolas"/>
              </a:rPr>
              <a:t>      | n &lt;= 0 = terminal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onsolas"/>
              </a:rPr>
              <a:t>      | otherwise =</a:t>
            </a:r>
            <a:r>
              <a:rPr sz="600" b="0" i="0" dirty="0" smtClean="0">
                <a:solidFill>
                  <a:schemeClr val="bg1">
                    <a:lumMod val="85000"/>
                  </a:schemeClr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 smtClean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 dirty="0" smtClean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, terminal)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   -- 26%: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Const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sau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Var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(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opreste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recursivitatea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 dirty="0" smtClean="0">
                <a:solidFill>
                  <a:srgbClr val="B5CEA8"/>
                </a:solidFill>
                <a:latin typeface="Consolas"/>
              </a:rPr>
              <a:t>2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1" i="0" dirty="0" err="1" smtClean="0">
                <a:solidFill>
                  <a:srgbClr val="569CD6"/>
                </a:solidFill>
                <a:latin typeface="Consolas"/>
              </a:rPr>
              <a:t>Neg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    -- 11%: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negatie</a:t>
            </a:r>
            <a:endParaRPr sz="1300" b="0" i="0" dirty="0" smtClean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 dirty="0" smtClean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 dirty="0" smtClean="0">
                <a:solidFill>
                  <a:srgbClr val="569CD6"/>
                </a:solidFill>
                <a:latin typeface="Consolas"/>
              </a:rPr>
              <a:t>Add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-- 21%: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adunare</a:t>
            </a:r>
            <a:endParaRPr sz="1300" b="0" i="0" dirty="0" smtClean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 dirty="0" smtClean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 dirty="0" smtClean="0">
                <a:solidFill>
                  <a:srgbClr val="569CD6"/>
                </a:solidFill>
                <a:latin typeface="Consolas"/>
              </a:rPr>
              <a:t>Sub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-- 21%: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scadere</a:t>
            </a:r>
            <a:endParaRPr sz="1300" b="0" i="0" dirty="0" smtClean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 dirty="0" smtClean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 dirty="0" err="1" smtClean="0">
                <a:solidFill>
                  <a:srgbClr val="569CD6"/>
                </a:solidFill>
                <a:latin typeface="Consolas"/>
              </a:rPr>
              <a:t>Mul</a:t>
            </a: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 dirty="0" smtClean="0">
                <a:solidFill>
                  <a:srgbClr val="6A9955"/>
                </a:solidFill>
                <a:latin typeface="Consolas"/>
              </a:rPr>
              <a:t> -- 21%: </a:t>
            </a:r>
            <a:r>
              <a:rPr sz="1300" b="0" i="0" dirty="0" err="1" smtClean="0">
                <a:solidFill>
                  <a:srgbClr val="6A9955"/>
                </a:solidFill>
                <a:latin typeface="Consolas"/>
              </a:rPr>
              <a:t>inmultire</a:t>
            </a:r>
            <a:endParaRPr sz="1300" b="0" i="0" dirty="0" smtClean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 smtClean="0">
                <a:solidFill>
                  <a:srgbClr val="D4D4D4"/>
                </a:solidFill>
                <a:latin typeface="Consolas"/>
              </a:rPr>
              <a:t>  ]</a:t>
            </a:r>
            <a:endParaRPr sz="1300" b="0" i="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4868011"/>
            <a:ext cx="1005840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 dirty="0">
                <a:solidFill>
                  <a:srgbClr val="2F2F2F"/>
                </a:solidFill>
                <a:latin typeface="Calibri"/>
              </a:rPr>
              <a:t>De </a:t>
            </a:r>
            <a:r>
              <a:rPr sz="1600" b="1" i="0" dirty="0" err="1">
                <a:solidFill>
                  <a:srgbClr val="2F2F2F"/>
                </a:solidFill>
                <a:latin typeface="Calibri"/>
              </a:rPr>
              <a:t>ce</a:t>
            </a:r>
            <a:r>
              <a:rPr sz="16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2F2F2F"/>
                </a:solidFill>
                <a:latin typeface="Calibri"/>
              </a:rPr>
              <a:t>aceste</a:t>
            </a:r>
            <a:r>
              <a:rPr sz="16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2F2F2F"/>
                </a:solidFill>
                <a:latin typeface="Calibri"/>
              </a:rPr>
              <a:t>ponderi</a:t>
            </a:r>
            <a:r>
              <a:rPr sz="1600" b="1" i="0" dirty="0">
                <a:solidFill>
                  <a:srgbClr val="2F2F2F"/>
                </a:solidFill>
                <a:latin typeface="Calibri"/>
              </a:rPr>
              <a:t>:</a:t>
            </a:r>
          </a:p>
          <a:p>
            <a:r>
              <a:rPr lang="it-IT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400" b="1" dirty="0">
                <a:solidFill>
                  <a:srgbClr val="2F3338"/>
                </a:solidFill>
                <a:latin typeface="Segoe UI"/>
              </a:rPr>
              <a:t>terminalele</a:t>
            </a:r>
            <a:r>
              <a:rPr lang="it-IT" sz="1400" dirty="0">
                <a:solidFill>
                  <a:srgbClr val="2F3338"/>
                </a:solidFill>
                <a:latin typeface="Segoe UI"/>
              </a:rPr>
              <a:t> au pondere mai mare pentru a opri recursivitatea</a:t>
            </a:r>
          </a:p>
          <a:p>
            <a:r>
              <a:rPr lang="it-IT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400" b="1" dirty="0">
                <a:solidFill>
                  <a:srgbClr val="2F3338"/>
                </a:solidFill>
                <a:latin typeface="Segoe UI"/>
              </a:rPr>
              <a:t>Neg</a:t>
            </a:r>
            <a:r>
              <a:rPr lang="it-IT" sz="1400" dirty="0">
                <a:solidFill>
                  <a:srgbClr val="2F3338"/>
                </a:solidFill>
                <a:latin typeface="Segoe UI"/>
              </a:rPr>
              <a:t> are pondere mai </a:t>
            </a:r>
            <a:r>
              <a:rPr lang="it-IT" sz="1400" dirty="0" smtClean="0">
                <a:solidFill>
                  <a:srgbClr val="2F3338"/>
                </a:solidFill>
                <a:latin typeface="Segoe UI"/>
              </a:rPr>
              <a:t>mic</a:t>
            </a:r>
            <a:r>
              <a:rPr lang="ro-RO" sz="14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it-IT" sz="14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it-IT" sz="1400" dirty="0">
                <a:solidFill>
                  <a:srgbClr val="2F3338"/>
                </a:solidFill>
                <a:latin typeface="Segoe UI"/>
              </a:rPr>
              <a:t>(un singur subarbore)</a:t>
            </a:r>
          </a:p>
          <a:p>
            <a:r>
              <a:rPr lang="it-IT" sz="14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400" b="1" dirty="0">
                <a:solidFill>
                  <a:srgbClr val="2F3338"/>
                </a:solidFill>
                <a:latin typeface="Segoe UI"/>
              </a:rPr>
              <a:t>operatorii</a:t>
            </a:r>
            <a:r>
              <a:rPr lang="it-IT" sz="1400" dirty="0">
                <a:solidFill>
                  <a:srgbClr val="2F3338"/>
                </a:solidFill>
                <a:latin typeface="Segoe UI"/>
              </a:rPr>
              <a:t> binari sunt egali, nu </a:t>
            </a:r>
            <a:r>
              <a:rPr lang="it-IT" sz="1400" dirty="0" smtClean="0">
                <a:solidFill>
                  <a:srgbClr val="2F3338"/>
                </a:solidFill>
                <a:latin typeface="Segoe UI"/>
              </a:rPr>
              <a:t>favoriz</a:t>
            </a:r>
            <a:r>
              <a:rPr lang="ro-RO" sz="14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it-IT" sz="1400" dirty="0" smtClean="0">
                <a:solidFill>
                  <a:srgbClr val="2F3338"/>
                </a:solidFill>
                <a:latin typeface="Segoe UI"/>
              </a:rPr>
              <a:t>m </a:t>
            </a:r>
            <a:r>
              <a:rPr lang="it-IT" sz="1400" dirty="0">
                <a:solidFill>
                  <a:srgbClr val="2F3338"/>
                </a:solidFill>
                <a:latin typeface="Segoe UI"/>
              </a:rPr>
              <a:t>niciun operator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genExpr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genClosedExpr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genEnvFor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38680"/>
            <a:ext cx="9773920" cy="400812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325880" y="2321559"/>
            <a:ext cx="9329651" cy="61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folose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te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sized + frequency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recursivita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lang="ro-RO" sz="16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iei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constructorilor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produce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(utile in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de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substitu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3235960"/>
            <a:ext cx="9329651" cy="1676866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1490471" y="3327400"/>
            <a:ext cx="9009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genEnvFor (mediu complet pentru variabilele libere)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3601720"/>
            <a:ext cx="9009777" cy="1272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400" dirty="0" err="1">
                <a:solidFill>
                  <a:srgbClr val="D4D4D4"/>
                </a:solidFill>
                <a:latin typeface="Consolas"/>
              </a:rPr>
              <a:t>genEnvFor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::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-&gt; Gen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Env</a:t>
            </a:r>
            <a:endParaRPr lang="en-US" sz="140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400" dirty="0" err="1">
                <a:solidFill>
                  <a:srgbClr val="D4D4D4"/>
                </a:solidFill>
                <a:latin typeface="Consolas"/>
              </a:rPr>
              <a:t>genEnvFor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= do</a:t>
            </a:r>
          </a:p>
          <a:p>
            <a:pPr>
              <a:spcAft>
                <a:spcPts val="20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let names =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Set.toList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(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freeVars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values &lt;-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vectorOf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(length names) 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genSmallInt</a:t>
            </a:r>
            <a:endParaRPr lang="en-US" sz="140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pure (</a:t>
            </a:r>
            <a:r>
              <a:rPr lang="en-US" sz="1400" dirty="0" err="1">
                <a:solidFill>
                  <a:srgbClr val="D4D4D4"/>
                </a:solidFill>
                <a:latin typeface="Consolas"/>
              </a:rPr>
              <a:t>Map.fromList</a:t>
            </a:r>
            <a:r>
              <a:rPr lang="en-US" sz="1400" dirty="0">
                <a:solidFill>
                  <a:srgbClr val="D4D4D4"/>
                </a:solidFill>
                <a:latin typeface="Consolas"/>
              </a:rPr>
              <a:t> (zip names values))</a:t>
            </a:r>
            <a:endParaRPr sz="1400" b="0" i="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5247640"/>
            <a:ext cx="93296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generatorului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+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medii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complete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reduc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fals-pozitivele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cresc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relevan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testelor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shrinkExpr</a:t>
            </a:r>
            <a:r>
              <a:rPr sz="3400" dirty="0"/>
              <a:t>: </a:t>
            </a:r>
            <a:r>
              <a:rPr sz="3400" dirty="0" err="1"/>
              <a:t>contraexemple</a:t>
            </a:r>
            <a:r>
              <a:rPr sz="3400" dirty="0"/>
              <a:t> </a:t>
            </a:r>
            <a:r>
              <a:rPr sz="3400" dirty="0" err="1"/>
              <a:t>minimale</a:t>
            </a:r>
            <a:endParaRPr sz="3400" dirty="0"/>
          </a:p>
        </p:txBody>
      </p:sp>
      <p:sp>
        <p:nvSpPr>
          <p:cNvPr id="6" name="Rounded Rectangle 3"/>
          <p:cNvSpPr/>
          <p:nvPr/>
        </p:nvSpPr>
        <p:spPr>
          <a:xfrm>
            <a:off x="1097280" y="2267712"/>
            <a:ext cx="10058400" cy="160020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61872" y="2377440"/>
            <a:ext cx="97292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 dirty="0" err="1">
                <a:solidFill>
                  <a:srgbClr val="4EC9B0"/>
                </a:solidFill>
                <a:latin typeface="Consolas"/>
              </a:rPr>
              <a:t>shrinkExpr</a:t>
            </a:r>
            <a:r>
              <a:rPr b="1" i="0" dirty="0">
                <a:solidFill>
                  <a:srgbClr val="4EC9B0"/>
                </a:solidFill>
                <a:latin typeface="Consolas"/>
              </a:rPr>
              <a:t> (Add a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lang="en-US" sz="1600" dirty="0">
                <a:solidFill>
                  <a:srgbClr val="D4D4D4"/>
                </a:solidFill>
                <a:latin typeface="Consolas"/>
              </a:rPr>
              <a:t>Add a b -&gt;</a:t>
            </a:r>
          </a:p>
          <a:p>
            <a:r>
              <a:rPr lang="en-US" sz="1600" dirty="0">
                <a:solidFill>
                  <a:srgbClr val="D4D4D4"/>
                </a:solidFill>
                <a:latin typeface="Consolas"/>
              </a:rPr>
              <a:t>  [a, b]</a:t>
            </a:r>
          </a:p>
          <a:p>
            <a:r>
              <a:rPr lang="en-US" sz="1600" dirty="0">
                <a:solidFill>
                  <a:srgbClr val="D4D4D4"/>
                </a:solidFill>
                <a:latin typeface="Consolas"/>
              </a:rPr>
              <a:t>    ++ [Add a' b | a' &lt;- </a:t>
            </a:r>
            <a:r>
              <a:rPr lang="en-US" sz="1600" dirty="0" err="1">
                <a:solidFill>
                  <a:srgbClr val="D4D4D4"/>
                </a:solidFill>
                <a:latin typeface="Consolas"/>
              </a:rPr>
              <a:t>shrinkExpr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 a]</a:t>
            </a:r>
          </a:p>
          <a:p>
            <a:r>
              <a:rPr lang="en-US" sz="1600" dirty="0">
                <a:solidFill>
                  <a:srgbClr val="D4D4D4"/>
                </a:solidFill>
                <a:latin typeface="Consolas"/>
              </a:rPr>
              <a:t>    ++ [Add a b' | b' &lt;- </a:t>
            </a:r>
            <a:r>
              <a:rPr lang="en-US" sz="1600" dirty="0" err="1">
                <a:solidFill>
                  <a:srgbClr val="D4D4D4"/>
                </a:solidFill>
                <a:latin typeface="Consolas"/>
              </a:rPr>
              <a:t>shrinkExpr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> b]</a:t>
            </a:r>
            <a:endParaRPr sz="1600" b="0" i="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8" name="Rounded Rectangle 5"/>
          <p:cNvSpPr/>
          <p:nvPr/>
        </p:nvSpPr>
        <p:spPr>
          <a:xfrm>
            <a:off x="1097280" y="4069080"/>
            <a:ext cx="4864608" cy="201168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6"/>
          <p:cNvSpPr/>
          <p:nvPr/>
        </p:nvSpPr>
        <p:spPr>
          <a:xfrm>
            <a:off x="6291072" y="4069080"/>
            <a:ext cx="4864608" cy="2011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8447" y="4279392"/>
            <a:ext cx="47636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F</a:t>
            </a:r>
            <a:r>
              <a:rPr lang="ro-RO" sz="2000" b="1" i="0" dirty="0" smtClean="0">
                <a:solidFill>
                  <a:srgbClr val="9A3412"/>
                </a:solidFill>
                <a:latin typeface="Segoe UI"/>
              </a:rPr>
              <a:t>ă</a:t>
            </a: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r</a:t>
            </a:r>
            <a:r>
              <a:rPr lang="ro-RO" sz="2000" b="1" i="0" dirty="0" smtClean="0">
                <a:solidFill>
                  <a:srgbClr val="9A3412"/>
                </a:solidFill>
                <a:latin typeface="Segoe UI"/>
              </a:rPr>
              <a:t>ă</a:t>
            </a: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 </a:t>
            </a:r>
            <a:r>
              <a:rPr sz="2000" b="1" i="0" dirty="0">
                <a:solidFill>
                  <a:srgbClr val="9A3412"/>
                </a:solidFill>
                <a:latin typeface="Segoe UI"/>
              </a:rPr>
              <a:t>shrink</a:t>
            </a:r>
          </a:p>
          <a:p>
            <a:r>
              <a:rPr lang="en-US" sz="1400" dirty="0">
                <a:solidFill>
                  <a:srgbClr val="2F3338"/>
                </a:solidFill>
                <a:latin typeface="Consolas"/>
              </a:rPr>
              <a:t>Add (</a:t>
            </a:r>
            <a:r>
              <a:rPr lang="en-US" sz="1400" dirty="0" err="1">
                <a:solidFill>
                  <a:srgbClr val="2F3338"/>
                </a:solidFill>
                <a:latin typeface="Consolas"/>
              </a:rPr>
              <a:t>Mul</a:t>
            </a:r>
            <a:r>
              <a:rPr lang="en-US" sz="1400" dirty="0">
                <a:solidFill>
                  <a:srgbClr val="2F3338"/>
                </a:solidFill>
                <a:latin typeface="Consolas"/>
              </a:rPr>
              <a:t> (Add (</a:t>
            </a:r>
            <a:r>
              <a:rPr lang="en-US" sz="1400" dirty="0" err="1">
                <a:solidFill>
                  <a:srgbClr val="2F3338"/>
                </a:solidFill>
                <a:latin typeface="Consolas"/>
              </a:rPr>
              <a:t>Var</a:t>
            </a:r>
            <a:r>
              <a:rPr lang="en-US" sz="1400" dirty="0">
                <a:solidFill>
                  <a:srgbClr val="2F3338"/>
                </a:solidFill>
                <a:latin typeface="Consolas"/>
              </a:rPr>
              <a:t> "x") (</a:t>
            </a:r>
            <a:r>
              <a:rPr lang="en-US" sz="1400" dirty="0" err="1">
                <a:solidFill>
                  <a:srgbClr val="2F3338"/>
                </a:solidFill>
                <a:latin typeface="Consolas"/>
              </a:rPr>
              <a:t>Const</a:t>
            </a:r>
            <a:r>
              <a:rPr lang="en-US" sz="1400" dirty="0">
                <a:solidFill>
                  <a:srgbClr val="2F3338"/>
                </a:solidFill>
                <a:latin typeface="Consolas"/>
              </a:rPr>
              <a:t> 3)) (</a:t>
            </a:r>
            <a:r>
              <a:rPr lang="en-US" sz="1400" dirty="0" err="1">
                <a:solidFill>
                  <a:srgbClr val="2F3338"/>
                </a:solidFill>
                <a:latin typeface="Consolas"/>
              </a:rPr>
              <a:t>Const</a:t>
            </a:r>
            <a:r>
              <a:rPr lang="en-US" sz="1400" dirty="0">
                <a:solidFill>
                  <a:srgbClr val="2F3338"/>
                </a:solidFill>
                <a:latin typeface="Consolas"/>
              </a:rPr>
              <a:t> 2))</a:t>
            </a:r>
          </a:p>
          <a:p>
            <a:r>
              <a:rPr lang="en-US" sz="1400" dirty="0">
                <a:solidFill>
                  <a:srgbClr val="2F3338"/>
                </a:solidFill>
                <a:latin typeface="Consolas"/>
              </a:rPr>
              <a:t>    (Sub (</a:t>
            </a:r>
            <a:r>
              <a:rPr lang="en-US" sz="1400" dirty="0" err="1">
                <a:solidFill>
                  <a:srgbClr val="2F3338"/>
                </a:solidFill>
                <a:latin typeface="Consolas"/>
              </a:rPr>
              <a:t>Var</a:t>
            </a:r>
            <a:r>
              <a:rPr lang="en-US" sz="1400" dirty="0">
                <a:solidFill>
                  <a:srgbClr val="2F3338"/>
                </a:solidFill>
                <a:latin typeface="Consolas"/>
              </a:rPr>
              <a:t> "y") (</a:t>
            </a:r>
            <a:r>
              <a:rPr lang="en-US" sz="1400" dirty="0" err="1">
                <a:solidFill>
                  <a:srgbClr val="2F3338"/>
                </a:solidFill>
                <a:latin typeface="Consolas"/>
              </a:rPr>
              <a:t>Const</a:t>
            </a:r>
            <a:r>
              <a:rPr lang="en-US" sz="1400" dirty="0">
                <a:solidFill>
                  <a:srgbClr val="2F3338"/>
                </a:solidFill>
                <a:latin typeface="Consolas"/>
              </a:rPr>
              <a:t> 1))</a:t>
            </a:r>
            <a:endParaRPr sz="1400" b="0" i="0" dirty="0">
              <a:solidFill>
                <a:srgbClr val="2F3338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92240" y="4279392"/>
            <a:ext cx="44805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>
                <a:solidFill>
                  <a:srgbClr val="166534"/>
                </a:solidFill>
                <a:latin typeface="Segoe UI"/>
              </a:rPr>
              <a:t>Cu shrink</a:t>
            </a:r>
          </a:p>
          <a:p>
            <a:r>
              <a:rPr lang="sv-SE" sz="1600" b="1" dirty="0">
                <a:solidFill>
                  <a:srgbClr val="2F3338"/>
                </a:solidFill>
                <a:latin typeface="Consolas"/>
              </a:rPr>
              <a:t>Add (Var "x") (Const 0)</a:t>
            </a:r>
          </a:p>
          <a:p>
            <a:r>
              <a:rPr lang="pt-BR" sz="1400" i="1" dirty="0">
                <a:solidFill>
                  <a:srgbClr val="4B5563"/>
                </a:solidFill>
                <a:latin typeface="Segoe UI"/>
              </a:rPr>
              <a:t>Acelasi tip de problema, dar intr-o forma </a:t>
            </a:r>
            <a:r>
              <a:rPr lang="ro-RO" sz="1400" i="1" dirty="0" smtClean="0">
                <a:solidFill>
                  <a:srgbClr val="4B5563"/>
                </a:solidFill>
                <a:latin typeface="Segoe UI"/>
              </a:rPr>
              <a:t>redusă.</a:t>
            </a:r>
            <a:endParaRPr sz="1400" b="0" i="1" dirty="0">
              <a:solidFill>
                <a:srgbClr val="4B5563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Cele</a:t>
            </a:r>
            <a:r>
              <a:rPr sz="3400" dirty="0"/>
              <a:t> </a:t>
            </a:r>
            <a:r>
              <a:rPr sz="3400" dirty="0" smtClean="0"/>
              <a:t>1</a:t>
            </a:r>
            <a:r>
              <a:rPr lang="ro-RO" sz="3400" dirty="0" smtClean="0"/>
              <a:t>9</a:t>
            </a:r>
            <a:r>
              <a:rPr sz="3400" dirty="0" smtClean="0"/>
              <a:t> </a:t>
            </a:r>
            <a:r>
              <a:rPr sz="3400" dirty="0" err="1" smtClean="0"/>
              <a:t>propriet</a:t>
            </a:r>
            <a:r>
              <a:rPr lang="ro-RO" sz="3400" dirty="0" smtClean="0"/>
              <a:t>ă</a:t>
            </a:r>
            <a:r>
              <a:rPr lang="ro-RO" sz="3400" dirty="0"/>
              <a:t>ț</a:t>
            </a:r>
            <a:r>
              <a:rPr sz="3400" dirty="0" smtClean="0"/>
              <a:t>i </a:t>
            </a:r>
            <a:r>
              <a:rPr sz="3400" dirty="0"/>
              <a:t>(</a:t>
            </a:r>
            <a:r>
              <a:rPr sz="3400" dirty="0" err="1"/>
              <a:t>grupate</a:t>
            </a:r>
            <a:r>
              <a:rPr sz="3400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79473285-A0EB-EEFF-685E-F4C3C41121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998720" cy="416560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Corectitudine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semantic</a:t>
            </a:r>
            <a:r>
              <a:rPr lang="ro-RO" sz="1400" b="1" kern="1000" spc="10" dirty="0" smtClean="0">
                <a:solidFill>
                  <a:schemeClr val="tx1"/>
                </a:solidFill>
              </a:rPr>
              <a:t>ă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:</a:t>
            </a:r>
            <a:r>
              <a:rPr lang="en-US" sz="1400" b="1" kern="1000" spc="10" dirty="0"/>
              <a:t/>
            </a:r>
            <a:br>
              <a:rPr lang="en-US" sz="1400" b="1" kern="1000" spc="10" dirty="0"/>
            </a:br>
            <a:r>
              <a:rPr lang="en-US" sz="1400" b="1" kern="1000" spc="10" dirty="0"/>
              <a:t/>
            </a:r>
            <a:br>
              <a:rPr lang="en-US" sz="1400" b="1" kern="1000" spc="10" dirty="0"/>
            </a:br>
            <a:r>
              <a:rPr lang="en-US" sz="1400" b="1" kern="1000" spc="10" dirty="0" smtClean="0"/>
              <a:t>- </a:t>
            </a:r>
            <a:r>
              <a:rPr lang="en-US" sz="1400" kern="1000" spc="10" dirty="0" err="1" smtClean="0"/>
              <a:t>Simplificarea</a:t>
            </a:r>
            <a:r>
              <a:rPr lang="en-US" sz="1400" kern="1000" spc="10" dirty="0" smtClean="0"/>
              <a:t> p</a:t>
            </a:r>
            <a:r>
              <a:rPr lang="ro-RO" sz="1400" kern="1000" spc="10" dirty="0" smtClean="0"/>
              <a:t>ăs</a:t>
            </a:r>
            <a:r>
              <a:rPr lang="en-US" sz="1400" kern="1000" spc="10" dirty="0" err="1" smtClean="0"/>
              <a:t>treaz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 smtClean="0"/>
              <a:t>semantica</a:t>
            </a:r>
            <a:r>
              <a:rPr lang="en-US" sz="1400" kern="1000" spc="10" dirty="0" smtClean="0"/>
              <a:t/>
            </a:r>
            <a:br>
              <a:rPr lang="en-US" sz="1400" kern="1000" spc="10" dirty="0" smtClean="0"/>
            </a:br>
            <a:r>
              <a:rPr lang="en-US" sz="1400" kern="1000" spc="10" dirty="0" smtClean="0"/>
              <a:t>- Pretty-print </a:t>
            </a:r>
            <a:r>
              <a:rPr lang="en-US" sz="1400" kern="1000" spc="10" dirty="0" err="1" smtClean="0"/>
              <a:t>urmat</a:t>
            </a:r>
            <a:r>
              <a:rPr lang="en-US" sz="1400" kern="1000" spc="10" dirty="0" smtClean="0"/>
              <a:t> de </a:t>
            </a:r>
            <a:r>
              <a:rPr lang="en-US" sz="1400" kern="1000" spc="10" dirty="0" err="1" smtClean="0"/>
              <a:t>parsare</a:t>
            </a:r>
            <a:r>
              <a:rPr lang="en-US" sz="1400" kern="1000" spc="10" dirty="0" smtClean="0"/>
              <a:t> p</a:t>
            </a:r>
            <a:r>
              <a:rPr lang="ro-RO" sz="1400" kern="1000" spc="10" dirty="0" smtClean="0"/>
              <a:t>ă</a:t>
            </a:r>
            <a:r>
              <a:rPr lang="en-US" sz="1400" kern="1000" spc="10" dirty="0" err="1" smtClean="0"/>
              <a:t>streaz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 smtClean="0"/>
              <a:t>semantica</a:t>
            </a:r>
            <a:endParaRPr lang="en-US" sz="1400" kern="1000" spc="10" dirty="0" smtClean="0"/>
          </a:p>
          <a:p>
            <a:pPr>
              <a:spcBef>
                <a:spcPts val="600"/>
              </a:spcBef>
            </a:pPr>
            <a:r>
              <a:rPr lang="en-US" sz="1400" b="1" kern="1000" spc="10" dirty="0" err="1" smtClean="0">
                <a:solidFill>
                  <a:schemeClr val="tx1"/>
                </a:solidFill>
              </a:rPr>
              <a:t>Structurale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:</a:t>
            </a:r>
            <a:endParaRPr lang="en-US" sz="1400" kern="1000" spc="10" dirty="0" smtClean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 smtClean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este</a:t>
            </a:r>
            <a:r>
              <a:rPr lang="en-US" sz="1400" kern="1000" spc="10" dirty="0"/>
              <a:t> </a:t>
            </a:r>
            <a:r>
              <a:rPr lang="en-US" sz="1400" kern="1000" spc="10" dirty="0" smtClean="0"/>
              <a:t>idempotent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:</a:t>
            </a:r>
            <a:r>
              <a:rPr lang="en-US" sz="1400" kern="1000" spc="10" dirty="0"/>
              <a:t> simplify(simplify(e)) == simplify(e)</a:t>
            </a:r>
            <a:br>
              <a:rPr lang="en-US" sz="1400" kern="1000" spc="10" dirty="0"/>
            </a:br>
            <a:r>
              <a:rPr lang="en-US" sz="1400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nu </a:t>
            </a:r>
            <a:r>
              <a:rPr lang="en-US" sz="1400" kern="1000" spc="10" dirty="0" smtClean="0"/>
              <a:t>m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re</a:t>
            </a:r>
            <a:r>
              <a:rPr lang="ro-RO" sz="1400" kern="1000" spc="10" dirty="0" smtClean="0"/>
              <a:t>ș</a:t>
            </a:r>
            <a:r>
              <a:rPr lang="en-US" sz="1400" kern="1000" spc="10" dirty="0" err="1" smtClean="0"/>
              <a:t>te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/>
              <a:t>dimensiunea</a:t>
            </a:r>
            <a:r>
              <a:rPr lang="en-US" sz="1400" kern="1000" spc="10" dirty="0"/>
              <a:t> / </a:t>
            </a:r>
            <a:r>
              <a:rPr lang="en-US" sz="1400" kern="1000" spc="10" dirty="0" smtClean="0"/>
              <a:t>ad</a:t>
            </a:r>
            <a:r>
              <a:rPr lang="ro-RO" sz="1400" kern="1000" spc="10" dirty="0" smtClean="0"/>
              <a:t>â</a:t>
            </a:r>
            <a:r>
              <a:rPr lang="en-US" sz="1400" kern="1000" spc="10" dirty="0" err="1" smtClean="0"/>
              <a:t>ncimea</a:t>
            </a:r>
            <a:r>
              <a:rPr lang="en-US" sz="1400" kern="1000" spc="10" dirty="0" smtClean="0"/>
              <a:t> </a:t>
            </a:r>
            <a:r>
              <a:rPr lang="en-US" sz="1400" kern="1000" spc="10" dirty="0"/>
              <a:t>/ </a:t>
            </a:r>
            <a:r>
              <a:rPr lang="en-US" sz="1400" kern="1000" spc="10" dirty="0" err="1" smtClean="0"/>
              <a:t>num</a:t>
            </a:r>
            <a:r>
              <a:rPr lang="ro-RO" sz="1400" kern="1000" spc="10" dirty="0" smtClean="0"/>
              <a:t>ă</a:t>
            </a:r>
            <a:r>
              <a:rPr lang="en-US" sz="1400" kern="1000" spc="10" dirty="0" err="1" smtClean="0"/>
              <a:t>rul</a:t>
            </a:r>
            <a:r>
              <a:rPr lang="en-US" sz="1400" kern="1000" spc="10" dirty="0" smtClean="0"/>
              <a:t> </a:t>
            </a:r>
            <a:r>
              <a:rPr lang="en-US" sz="1400" kern="1000" spc="10" dirty="0"/>
              <a:t>de </a:t>
            </a:r>
            <a:r>
              <a:rPr lang="en-US" sz="1400" kern="1000" spc="10" dirty="0" err="1"/>
              <a:t>operatori</a:t>
            </a:r>
            <a:endParaRPr lang="en-US" sz="1400" kern="1000" spc="10" dirty="0"/>
          </a:p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Algebrice</a:t>
            </a:r>
            <a:r>
              <a:rPr lang="en-US" sz="1400" b="1" kern="1000" spc="10" dirty="0">
                <a:solidFill>
                  <a:schemeClr val="tx1"/>
                </a:solidFill>
              </a:rPr>
              <a:t> —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comutativitate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ro-RO" sz="1400" b="1" kern="1000" spc="10" dirty="0" err="1">
                <a:solidFill>
                  <a:schemeClr val="tx1"/>
                </a:solidFill>
              </a:rPr>
              <a:t>ș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i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asociativitate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endParaRPr lang="en-US" sz="1400" kern="1000" spc="10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+ b ≡ b +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* b ≡ b *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+ b) + c ≡ a + (b + c)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* b) * c ≡ a * (b * c)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="" xmlns:a16="http://schemas.microsoft.com/office/drawing/2014/main" id="{73C5F9BF-9E45-7174-B44C-B127805471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sz="1200" b="1" dirty="0">
                <a:solidFill>
                  <a:schemeClr val="tx1"/>
                </a:solidFill>
              </a:rPr>
              <a:t>Elemente neutre </a:t>
            </a:r>
            <a:r>
              <a:rPr lang="ro-RO" sz="1200" b="1" dirty="0" smtClean="0">
                <a:solidFill>
                  <a:schemeClr val="tx1"/>
                </a:solidFill>
              </a:rPr>
              <a:t>ș</a:t>
            </a:r>
            <a:r>
              <a:rPr lang="it-IT" sz="1200" b="1" dirty="0" smtClean="0">
                <a:solidFill>
                  <a:schemeClr val="tx1"/>
                </a:solidFill>
              </a:rPr>
              <a:t>i </a:t>
            </a:r>
            <a:r>
              <a:rPr lang="it-IT" sz="1200" b="1" dirty="0">
                <a:solidFill>
                  <a:schemeClr val="tx1"/>
                </a:solidFill>
              </a:rPr>
              <a:t>absorbante: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+ 0 ≡ e</a:t>
            </a:r>
          </a:p>
          <a:p>
            <a:r>
              <a:rPr lang="it-IT" sz="1200" dirty="0"/>
              <a:t>e * 1 ≡ e</a:t>
            </a:r>
          </a:p>
          <a:p>
            <a:r>
              <a:rPr lang="it-IT" sz="1200" dirty="0"/>
              <a:t>e * 0 ≡ 0</a:t>
            </a:r>
          </a:p>
          <a:p>
            <a:r>
              <a:rPr lang="it-IT" sz="1200" b="1" dirty="0" smtClean="0">
                <a:solidFill>
                  <a:schemeClr val="tx1"/>
                </a:solidFill>
              </a:rPr>
              <a:t>Nega</a:t>
            </a:r>
            <a:r>
              <a:rPr lang="ro-RO" sz="1200" b="1" dirty="0" smtClean="0">
                <a:solidFill>
                  <a:schemeClr val="tx1"/>
                </a:solidFill>
              </a:rPr>
              <a:t>ț</a:t>
            </a:r>
            <a:r>
              <a:rPr lang="it-IT" sz="1200" b="1" dirty="0" smtClean="0">
                <a:solidFill>
                  <a:schemeClr val="tx1"/>
                </a:solidFill>
              </a:rPr>
              <a:t>ie</a:t>
            </a:r>
            <a:r>
              <a:rPr lang="it-IT" sz="1200" b="1" dirty="0">
                <a:solidFill>
                  <a:schemeClr val="tx1"/>
                </a:solidFill>
              </a:rPr>
              <a:t>, </a:t>
            </a:r>
            <a:r>
              <a:rPr lang="it-IT" sz="1200" b="1" dirty="0" smtClean="0">
                <a:solidFill>
                  <a:schemeClr val="tx1"/>
                </a:solidFill>
              </a:rPr>
              <a:t>sc</a:t>
            </a:r>
            <a:r>
              <a:rPr lang="ro-RO" sz="1200" b="1" dirty="0" smtClean="0">
                <a:solidFill>
                  <a:schemeClr val="tx1"/>
                </a:solidFill>
              </a:rPr>
              <a:t>ă</a:t>
            </a:r>
            <a:r>
              <a:rPr lang="it-IT" sz="1200" b="1" dirty="0" smtClean="0">
                <a:solidFill>
                  <a:schemeClr val="tx1"/>
                </a:solidFill>
              </a:rPr>
              <a:t>dere</a:t>
            </a:r>
            <a:r>
              <a:rPr lang="it-IT" sz="1200" b="1" dirty="0">
                <a:solidFill>
                  <a:schemeClr val="tx1"/>
                </a:solidFill>
              </a:rPr>
              <a:t>, </a:t>
            </a:r>
            <a:r>
              <a:rPr lang="it-IT" sz="1200" b="1" dirty="0" smtClean="0">
                <a:solidFill>
                  <a:schemeClr val="tx1"/>
                </a:solidFill>
              </a:rPr>
              <a:t>substitu</a:t>
            </a:r>
            <a:r>
              <a:rPr lang="ro-RO" sz="1200" b="1" dirty="0" smtClean="0">
                <a:solidFill>
                  <a:schemeClr val="tx1"/>
                </a:solidFill>
              </a:rPr>
              <a:t>ț</a:t>
            </a:r>
            <a:r>
              <a:rPr lang="it-IT" sz="1200" b="1" dirty="0" smtClean="0">
                <a:solidFill>
                  <a:schemeClr val="tx1"/>
                </a:solidFill>
              </a:rPr>
              <a:t>ie</a:t>
            </a:r>
            <a:r>
              <a:rPr lang="it-IT" sz="1200" b="1" dirty="0">
                <a:solidFill>
                  <a:schemeClr val="tx1"/>
                </a:solidFill>
              </a:rPr>
              <a:t>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- e ≡ 0</a:t>
            </a:r>
          </a:p>
          <a:p>
            <a:r>
              <a:rPr lang="it-IT" sz="1200" dirty="0"/>
              <a:t>--e ≡ e</a:t>
            </a:r>
          </a:p>
          <a:p>
            <a:r>
              <a:rPr lang="it-IT" sz="1200" dirty="0" smtClean="0"/>
              <a:t>Substitu</a:t>
            </a:r>
            <a:r>
              <a:rPr lang="ro-RO" sz="1200" dirty="0" smtClean="0"/>
              <a:t>ț</a:t>
            </a:r>
            <a:r>
              <a:rPr lang="it-IT" sz="1200" dirty="0" smtClean="0"/>
              <a:t>ia p</a:t>
            </a:r>
            <a:r>
              <a:rPr lang="ro-RO" sz="1200" dirty="0" smtClean="0"/>
              <a:t>ă</a:t>
            </a:r>
            <a:r>
              <a:rPr lang="it-IT" sz="1200" dirty="0" smtClean="0"/>
              <a:t>streaz</a:t>
            </a:r>
            <a:r>
              <a:rPr lang="ro-RO" sz="1200" dirty="0" smtClean="0"/>
              <a:t>ă</a:t>
            </a:r>
            <a:r>
              <a:rPr lang="it-IT" sz="1200" dirty="0" smtClean="0"/>
              <a:t> </a:t>
            </a:r>
            <a:r>
              <a:rPr lang="it-IT" sz="1200" dirty="0" smtClean="0"/>
              <a:t>semantica</a:t>
            </a:r>
          </a:p>
          <a:p>
            <a:r>
              <a:rPr lang="it-IT" sz="1200" b="1" dirty="0"/>
              <a:t>Comportament partial (Nothing):</a:t>
            </a:r>
          </a:p>
          <a:p>
            <a:r>
              <a:rPr lang="it-IT" sz="1200" dirty="0"/>
              <a:t>- eval emptyEnv (Var x) = Nothing</a:t>
            </a:r>
          </a:p>
          <a:p>
            <a:r>
              <a:rPr lang="it-IT" sz="1200" dirty="0"/>
              <a:t>- daca e contine variabile, eval emptyEnv e = Nothing</a:t>
            </a:r>
          </a:p>
          <a:p>
            <a:r>
              <a:rPr lang="it-IT" sz="1200" dirty="0"/>
              <a:t>- daca lipseste o variabila libera din env, eval env e = Nothing</a:t>
            </a:r>
            <a:endParaRPr lang="it-IT" sz="12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/>
              <a:t>Output real cu classify</a:t>
            </a:r>
          </a:p>
        </p:txBody>
      </p:sp>
      <p:sp>
        <p:nvSpPr>
          <p:cNvPr id="6" name="Rounded Rectangle 2"/>
          <p:cNvSpPr/>
          <p:nvPr/>
        </p:nvSpPr>
        <p:spPr>
          <a:xfrm>
            <a:off x="1127760" y="2052229"/>
            <a:ext cx="10058400" cy="324612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408077"/>
            <a:ext cx="1005840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 dirty="0">
                <a:solidFill>
                  <a:srgbClr val="2F3338"/>
                </a:solidFill>
                <a:latin typeface="Segoe UI"/>
              </a:rPr>
              <a:t>classify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confirma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1700" b="1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700" b="1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echilibrat</a:t>
            </a:r>
            <a:r>
              <a:rPr lang="ro-RO" sz="1700" b="1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700" b="1" i="0" dirty="0" smtClean="0">
                <a:solidFill>
                  <a:srgbClr val="2F3338"/>
                </a:solidFill>
                <a:latin typeface="Segoe UI"/>
              </a:rPr>
              <a:t>:</a:t>
            </a:r>
            <a:endParaRPr sz="1700" b="1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mici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mari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2352" y="2161956"/>
            <a:ext cx="4041648" cy="1047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680" y="3582155"/>
            <a:ext cx="3911320" cy="11422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297" y="2161957"/>
            <a:ext cx="4954573" cy="1047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297" y="3582155"/>
            <a:ext cx="4944285" cy="11422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Analiza</a:t>
            </a:r>
            <a:r>
              <a:rPr sz="3400" dirty="0"/>
              <a:t>: </a:t>
            </a:r>
            <a:r>
              <a:rPr sz="3400" dirty="0" err="1" smtClean="0"/>
              <a:t>eficien</a:t>
            </a:r>
            <a:r>
              <a:rPr lang="ro-RO" sz="3400" dirty="0" smtClean="0"/>
              <a:t>ț</a:t>
            </a:r>
            <a:r>
              <a:rPr sz="3400" dirty="0" smtClean="0"/>
              <a:t>a </a:t>
            </a:r>
            <a:r>
              <a:rPr sz="3400" dirty="0" err="1"/>
              <a:t>metodei</a:t>
            </a:r>
            <a:endParaRPr sz="3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400" dirty="0" err="1"/>
              <a:t>Avantaje</a:t>
            </a:r>
            <a:r>
              <a:rPr sz="2400" dirty="0"/>
              <a:t> </a:t>
            </a:r>
            <a:r>
              <a:rPr sz="2400" dirty="0" err="1"/>
              <a:t>observate</a:t>
            </a:r>
            <a:endParaRPr sz="24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1800" dirty="0"/>
              <a:t>120 de </a:t>
            </a:r>
            <a:r>
              <a:rPr sz="1800" dirty="0" err="1"/>
              <a:t>cazuri</a:t>
            </a:r>
            <a:r>
              <a:rPr sz="1800" dirty="0"/>
              <a:t> per </a:t>
            </a:r>
            <a:r>
              <a:rPr sz="1800" dirty="0" err="1"/>
              <a:t>proprietate</a:t>
            </a:r>
            <a:r>
              <a:rPr sz="1800" dirty="0"/>
              <a:t>, generate automat</a:t>
            </a:r>
          </a:p>
          <a:p>
            <a:r>
              <a:rPr sz="1800" dirty="0" err="1"/>
              <a:t>Contraexemplele</a:t>
            </a:r>
            <a:r>
              <a:rPr sz="1800" dirty="0"/>
              <a:t> </a:t>
            </a:r>
            <a:r>
              <a:rPr sz="1800" dirty="0" err="1"/>
              <a:t>sunt</a:t>
            </a:r>
            <a:r>
              <a:rPr sz="1800" dirty="0"/>
              <a:t> </a:t>
            </a:r>
            <a:r>
              <a:rPr sz="1800" dirty="0" err="1"/>
              <a:t>reduse</a:t>
            </a:r>
            <a:r>
              <a:rPr sz="1800" dirty="0"/>
              <a:t> la forma </a:t>
            </a:r>
            <a:r>
              <a:rPr sz="1800" dirty="0" smtClean="0"/>
              <a:t>minim</a:t>
            </a:r>
            <a:r>
              <a:rPr lang="ro-RO" sz="1800" dirty="0" smtClean="0"/>
              <a:t>ă</a:t>
            </a:r>
            <a:endParaRPr sz="1800" dirty="0"/>
          </a:p>
          <a:p>
            <a:r>
              <a:rPr sz="1800" dirty="0" err="1" smtClean="0"/>
              <a:t>Propriet</a:t>
            </a:r>
            <a:r>
              <a:rPr lang="ro-RO" sz="1800" dirty="0" smtClean="0"/>
              <a:t>ăț</a:t>
            </a:r>
            <a:r>
              <a:rPr sz="1800" dirty="0" err="1" smtClean="0"/>
              <a:t>ile</a:t>
            </a:r>
            <a:r>
              <a:rPr sz="1800" dirty="0" smtClean="0"/>
              <a:t> </a:t>
            </a:r>
            <a:r>
              <a:rPr sz="1800" dirty="0" err="1"/>
              <a:t>servesc</a:t>
            </a:r>
            <a:r>
              <a:rPr sz="1800" dirty="0"/>
              <a:t> </a:t>
            </a:r>
            <a:r>
              <a:rPr sz="1800" dirty="0" err="1"/>
              <a:t>drept</a:t>
            </a:r>
            <a:r>
              <a:rPr sz="1800" dirty="0"/>
              <a:t> </a:t>
            </a:r>
            <a:r>
              <a:rPr sz="1800" dirty="0" err="1" smtClean="0"/>
              <a:t>documenta</a:t>
            </a:r>
            <a:r>
              <a:rPr lang="ro-RO" sz="1800" dirty="0" smtClean="0"/>
              <a:t>ț</a:t>
            </a:r>
            <a:r>
              <a:rPr sz="1800" dirty="0" err="1" smtClean="0"/>
              <a:t>ie</a:t>
            </a:r>
            <a:r>
              <a:rPr sz="1800" dirty="0" smtClean="0"/>
              <a:t> </a:t>
            </a:r>
            <a:r>
              <a:rPr sz="1800" dirty="0" err="1" smtClean="0"/>
              <a:t>executabil</a:t>
            </a:r>
            <a:r>
              <a:rPr lang="ro-RO" sz="1800" dirty="0" smtClean="0"/>
              <a:t>ă</a:t>
            </a:r>
            <a:endParaRPr sz="1800" dirty="0"/>
          </a:p>
          <a:p>
            <a:r>
              <a:rPr sz="1800" dirty="0"/>
              <a:t>classify </a:t>
            </a:r>
            <a:r>
              <a:rPr sz="1800" dirty="0" err="1" smtClean="0"/>
              <a:t>ofer</a:t>
            </a:r>
            <a:r>
              <a:rPr lang="ro-RO" sz="1800" dirty="0" smtClean="0"/>
              <a:t>ă</a:t>
            </a:r>
            <a:r>
              <a:rPr sz="1800" dirty="0" smtClean="0"/>
              <a:t> </a:t>
            </a:r>
            <a:r>
              <a:rPr sz="1800" dirty="0" err="1"/>
              <a:t>vizibilitate</a:t>
            </a:r>
            <a:r>
              <a:rPr sz="1800" dirty="0"/>
              <a:t> </a:t>
            </a:r>
            <a:r>
              <a:rPr sz="1800" dirty="0" err="1"/>
              <a:t>asupra</a:t>
            </a:r>
            <a:r>
              <a:rPr sz="1800" dirty="0"/>
              <a:t> </a:t>
            </a:r>
            <a:r>
              <a:rPr sz="1800" dirty="0" err="1" smtClean="0"/>
              <a:t>distribu</a:t>
            </a:r>
            <a:r>
              <a:rPr lang="ro-RO" sz="1800" dirty="0" smtClean="0"/>
              <a:t>ț</a:t>
            </a:r>
            <a:r>
              <a:rPr sz="1800" dirty="0" err="1" smtClean="0"/>
              <a:t>iei</a:t>
            </a:r>
            <a:r>
              <a:rPr sz="1800" dirty="0" smtClean="0"/>
              <a:t> </a:t>
            </a:r>
            <a:r>
              <a:rPr sz="1800" dirty="0" err="1"/>
              <a:t>testelor</a:t>
            </a:r>
            <a:endParaRPr sz="18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2400" dirty="0" smtClean="0"/>
              <a:t>Limit</a:t>
            </a:r>
            <a:r>
              <a:rPr lang="ro-RO" sz="2400" dirty="0" smtClean="0"/>
              <a:t>ă</a:t>
            </a:r>
            <a:r>
              <a:rPr sz="2400" dirty="0" err="1" smtClean="0"/>
              <a:t>ri</a:t>
            </a:r>
            <a:r>
              <a:rPr sz="2400" dirty="0" smtClean="0"/>
              <a:t> </a:t>
            </a:r>
            <a:r>
              <a:rPr sz="2400" dirty="0" err="1"/>
              <a:t>observate</a:t>
            </a:r>
            <a:endParaRPr sz="2400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sz="1800" dirty="0" err="1" smtClean="0"/>
              <a:t>Propriet</a:t>
            </a:r>
            <a:r>
              <a:rPr lang="ro-RO" sz="1800" dirty="0" smtClean="0"/>
              <a:t>ăț</a:t>
            </a:r>
            <a:r>
              <a:rPr sz="1800" dirty="0" err="1" smtClean="0"/>
              <a:t>ile</a:t>
            </a:r>
            <a:r>
              <a:rPr sz="1800" dirty="0" smtClean="0"/>
              <a:t> </a:t>
            </a:r>
            <a:r>
              <a:rPr sz="1800" dirty="0" err="1"/>
              <a:t>trebuie</a:t>
            </a:r>
            <a:r>
              <a:rPr sz="1800" dirty="0"/>
              <a:t> formulate </a:t>
            </a:r>
            <a:r>
              <a:rPr sz="1800" dirty="0" err="1"/>
              <a:t>corect</a:t>
            </a:r>
            <a:endParaRPr sz="1800" dirty="0"/>
          </a:p>
          <a:p>
            <a:r>
              <a:rPr sz="1800" dirty="0"/>
              <a:t>Un generator prost </a:t>
            </a:r>
            <a:r>
              <a:rPr sz="1800" dirty="0" err="1" smtClean="0"/>
              <a:t>acoper</a:t>
            </a:r>
            <a:r>
              <a:rPr lang="ro-RO" sz="1800" dirty="0" smtClean="0"/>
              <a:t>ă</a:t>
            </a:r>
            <a:r>
              <a:rPr sz="1800" dirty="0" smtClean="0"/>
              <a:t> </a:t>
            </a:r>
            <a:r>
              <a:rPr sz="1800" dirty="0" err="1"/>
              <a:t>doar</a:t>
            </a:r>
            <a:r>
              <a:rPr sz="1800" dirty="0"/>
              <a:t> </a:t>
            </a:r>
            <a:r>
              <a:rPr sz="1800" dirty="0" err="1"/>
              <a:t>cazuri</a:t>
            </a:r>
            <a:r>
              <a:rPr sz="1800" dirty="0"/>
              <a:t> </a:t>
            </a:r>
            <a:r>
              <a:rPr sz="1800" dirty="0" err="1"/>
              <a:t>banale</a:t>
            </a:r>
            <a:endParaRPr sz="1800" dirty="0"/>
          </a:p>
          <a:p>
            <a:r>
              <a:rPr sz="1800" dirty="0"/>
              <a:t>Maybe introduce </a:t>
            </a:r>
            <a:r>
              <a:rPr sz="1800" dirty="0" err="1" smtClean="0"/>
              <a:t>evalu</a:t>
            </a:r>
            <a:r>
              <a:rPr lang="ro-RO" sz="1800" dirty="0" smtClean="0"/>
              <a:t>ă</a:t>
            </a:r>
            <a:r>
              <a:rPr sz="1800" dirty="0" err="1" smtClean="0"/>
              <a:t>ri</a:t>
            </a:r>
            <a:r>
              <a:rPr sz="1800" dirty="0" smtClean="0"/>
              <a:t> par</a:t>
            </a:r>
            <a:r>
              <a:rPr lang="ro-RO" sz="1800" dirty="0" smtClean="0"/>
              <a:t>ț</a:t>
            </a:r>
            <a:r>
              <a:rPr sz="1800" dirty="0" err="1" smtClean="0"/>
              <a:t>iale</a:t>
            </a:r>
            <a:r>
              <a:rPr sz="1800" dirty="0" smtClean="0"/>
              <a:t> </a:t>
            </a:r>
            <a:r>
              <a:rPr sz="1800" dirty="0"/>
              <a:t>(</a:t>
            </a:r>
            <a:r>
              <a:rPr sz="1800" dirty="0" err="1"/>
              <a:t>rezolvat</a:t>
            </a:r>
            <a:r>
              <a:rPr sz="1800" dirty="0"/>
              <a:t> cu </a:t>
            </a:r>
            <a:r>
              <a:rPr sz="1800" dirty="0" err="1"/>
              <a:t>genEnvFor</a:t>
            </a:r>
            <a:r>
              <a:rPr sz="1800" dirty="0"/>
              <a:t>)</a:t>
            </a:r>
          </a:p>
          <a:p>
            <a:r>
              <a:rPr sz="1800" dirty="0" err="1"/>
              <a:t>QuickCheck</a:t>
            </a:r>
            <a:r>
              <a:rPr sz="1800" dirty="0"/>
              <a:t> </a:t>
            </a:r>
            <a:r>
              <a:rPr sz="1800" dirty="0" err="1" smtClean="0"/>
              <a:t>completea</a:t>
            </a:r>
            <a:r>
              <a:rPr lang="ro-RO" sz="1800" dirty="0" smtClean="0"/>
              <a:t>ză</a:t>
            </a:r>
            <a:r>
              <a:rPr sz="1800" dirty="0" smtClean="0"/>
              <a:t>, </a:t>
            </a:r>
            <a:r>
              <a:rPr sz="1800" dirty="0"/>
              <a:t>nu </a:t>
            </a:r>
            <a:r>
              <a:rPr lang="ro-RO" sz="1800" dirty="0"/>
              <a:t>î</a:t>
            </a:r>
            <a:r>
              <a:rPr sz="1800" dirty="0" err="1" smtClean="0"/>
              <a:t>nlocuie</a:t>
            </a:r>
            <a:r>
              <a:rPr lang="ro-RO" sz="1800" dirty="0" smtClean="0"/>
              <a:t>ș</a:t>
            </a:r>
            <a:r>
              <a:rPr sz="1800" dirty="0" err="1" smtClean="0"/>
              <a:t>te</a:t>
            </a:r>
            <a:r>
              <a:rPr sz="1800" dirty="0" smtClean="0"/>
              <a:t> </a:t>
            </a:r>
            <a:r>
              <a:rPr sz="1800" dirty="0" err="1" smtClean="0"/>
              <a:t>demonstra</a:t>
            </a:r>
            <a:r>
              <a:rPr lang="ro-RO" sz="1800" dirty="0" smtClean="0"/>
              <a:t>ț</a:t>
            </a:r>
            <a:r>
              <a:rPr sz="1800" dirty="0" err="1" smtClean="0"/>
              <a:t>ia</a:t>
            </a:r>
            <a:r>
              <a:rPr sz="1800" dirty="0" smtClean="0"/>
              <a:t> formal</a:t>
            </a:r>
            <a:r>
              <a:rPr lang="ro-RO" sz="1800" dirty="0" smtClean="0"/>
              <a:t>ă</a:t>
            </a:r>
            <a:endParaRPr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>
                <a:solidFill>
                  <a:srgbClr val="2F3338"/>
                </a:solidFill>
              </a:rPr>
              <a:t>Walkthrough demo din app/</a:t>
            </a:r>
            <a:r>
              <a:rPr sz="3500" dirty="0" err="1">
                <a:solidFill>
                  <a:srgbClr val="2F3338"/>
                </a:solidFill>
              </a:rPr>
              <a:t>Main.hs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092974"/>
            <a:ext cx="4846320" cy="3994573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092974"/>
            <a:ext cx="4846320" cy="3994573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27585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Cod demo (expresie + mediu)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687334"/>
            <a:ext cx="4389120" cy="23926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778774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Main.hs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071382"/>
            <a:ext cx="4453128" cy="1687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s-ES" sz="1150" dirty="0" err="1">
                <a:solidFill>
                  <a:srgbClr val="D4D4D4"/>
                </a:solidFill>
                <a:latin typeface="Consolas"/>
              </a:rPr>
              <a:t>demoExpresii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 =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  [ ("1 * x + -(-y)",      [("x", 4), ("y", 7)])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  , ("0 + x * 1",          [("x", 5)])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  , ("(x - x) * 100",      [("x", 3)])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  , ("2 * 3 + 4 * 5",      [])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  , ("x * 0 + y * 1",      [("x", 10), ("y", 42)])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  , ("-(-(x + 1))",        [("x", 8)])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  ]</a:t>
            </a:r>
            <a:endParaRPr sz="1150" b="0" i="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537960" y="227585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Output real din executabil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687334"/>
            <a:ext cx="4389120" cy="23926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02552" y="2778774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mfis-quickcheck-expr.exe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2552" y="3071382"/>
            <a:ext cx="4059935" cy="1687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Original:    1 * x + -(-y)</a:t>
            </a:r>
          </a:p>
          <a:p>
            <a:pPr>
              <a:spcAft>
                <a:spcPts val="200"/>
              </a:spcAft>
            </a:pPr>
            <a:r>
              <a:rPr lang="es-ES" sz="1150" dirty="0" err="1">
                <a:solidFill>
                  <a:srgbClr val="D4D4D4"/>
                </a:solidFill>
                <a:latin typeface="Consolas"/>
              </a:rPr>
              <a:t>Simplificat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: x + y</a:t>
            </a:r>
          </a:p>
          <a:p>
            <a:pPr>
              <a:spcAft>
                <a:spcPts val="200"/>
              </a:spcAft>
            </a:pPr>
            <a:r>
              <a:rPr lang="es-ES" sz="1150" dirty="0" err="1">
                <a:solidFill>
                  <a:srgbClr val="D4D4D4"/>
                </a:solidFill>
                <a:latin typeface="Consolas"/>
              </a:rPr>
              <a:t>Dimensiune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:  7 -&gt; 3</a:t>
            </a:r>
          </a:p>
          <a:p>
            <a:pPr>
              <a:spcAft>
                <a:spcPts val="200"/>
              </a:spcAft>
            </a:pPr>
            <a:r>
              <a:rPr lang="es-ES" sz="1150" dirty="0" err="1">
                <a:solidFill>
                  <a:srgbClr val="D4D4D4"/>
                </a:solidFill>
                <a:latin typeface="Consolas"/>
              </a:rPr>
              <a:t>Adancime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:    4 -&gt; 2</a:t>
            </a:r>
          </a:p>
          <a:p>
            <a:pPr>
              <a:spcAft>
                <a:spcPts val="200"/>
              </a:spcAft>
            </a:pPr>
            <a:r>
              <a:rPr lang="es-ES" sz="1150" dirty="0" err="1">
                <a:solidFill>
                  <a:srgbClr val="D4D4D4"/>
                </a:solidFill>
                <a:latin typeface="Consolas"/>
              </a:rPr>
              <a:t>Variabile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:   ["</a:t>
            </a:r>
            <a:r>
              <a:rPr lang="es-ES" sz="1150" dirty="0" err="1">
                <a:solidFill>
                  <a:srgbClr val="D4D4D4"/>
                </a:solidFill>
                <a:latin typeface="Consolas"/>
              </a:rPr>
              <a:t>x","y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"]</a:t>
            </a:r>
          </a:p>
          <a:p>
            <a:pPr>
              <a:spcAft>
                <a:spcPts val="200"/>
              </a:spcAft>
            </a:pPr>
            <a:r>
              <a:rPr lang="es-ES" sz="1150" dirty="0" err="1">
                <a:solidFill>
                  <a:srgbClr val="D4D4D4"/>
                </a:solidFill>
                <a:latin typeface="Consolas"/>
              </a:rPr>
              <a:t>Mediu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:       [("x",4),("y",7)]</a:t>
            </a:r>
          </a:p>
          <a:p>
            <a:pPr>
              <a:spcAft>
                <a:spcPts val="200"/>
              </a:spcAft>
            </a:pPr>
            <a:r>
              <a:rPr lang="es-ES" sz="1150" dirty="0" err="1">
                <a:solidFill>
                  <a:srgbClr val="D4D4D4"/>
                </a:solidFill>
                <a:latin typeface="Consolas"/>
              </a:rPr>
              <a:t>Valoare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:     </a:t>
            </a:r>
            <a:r>
              <a:rPr lang="es-ES" sz="1150" dirty="0" err="1">
                <a:solidFill>
                  <a:srgbClr val="D4D4D4"/>
                </a:solidFill>
                <a:latin typeface="Consolas"/>
              </a:rPr>
              <a:t>Just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 11</a:t>
            </a:r>
          </a:p>
          <a:p>
            <a:pPr>
              <a:spcAft>
                <a:spcPts val="200"/>
              </a:spcAft>
            </a:pPr>
            <a:r>
              <a:rPr lang="es-ES" sz="1150" dirty="0">
                <a:solidFill>
                  <a:srgbClr val="D4D4D4"/>
                </a:solidFill>
                <a:latin typeface="Consolas"/>
              </a:rPr>
              <a:t>Val. </a:t>
            </a:r>
            <a:r>
              <a:rPr lang="es-ES" sz="1150" dirty="0" err="1">
                <a:solidFill>
                  <a:srgbClr val="D4D4D4"/>
                </a:solidFill>
                <a:latin typeface="Consolas"/>
              </a:rPr>
              <a:t>simpl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.: </a:t>
            </a:r>
            <a:r>
              <a:rPr lang="es-ES" sz="1150" dirty="0" err="1">
                <a:solidFill>
                  <a:srgbClr val="D4D4D4"/>
                </a:solidFill>
                <a:latin typeface="Consolas"/>
              </a:rPr>
              <a:t>Just</a:t>
            </a:r>
            <a:r>
              <a:rPr lang="es-ES" sz="1150" dirty="0">
                <a:solidFill>
                  <a:srgbClr val="D4D4D4"/>
                </a:solidFill>
                <a:latin typeface="Consolas"/>
              </a:rPr>
              <a:t> 11</a:t>
            </a:r>
            <a:endParaRPr sz="1150" b="0" i="0" dirty="0">
              <a:solidFill>
                <a:srgbClr val="D4D4D4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02472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Expr.hs</a:t>
            </a:r>
            <a:r>
              <a:rPr sz="3500" dirty="0">
                <a:solidFill>
                  <a:srgbClr val="2F3338"/>
                </a:solidFill>
              </a:rPr>
              <a:t>: </a:t>
            </a:r>
            <a:r>
              <a:rPr sz="3500" dirty="0" err="1">
                <a:solidFill>
                  <a:srgbClr val="2F3338"/>
                </a:solidFill>
              </a:rPr>
              <a:t>functii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structurale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folosite</a:t>
            </a:r>
            <a:r>
              <a:rPr sz="3500" dirty="0">
                <a:solidFill>
                  <a:srgbClr val="2F3338"/>
                </a:solidFill>
              </a:rPr>
              <a:t> in </a:t>
            </a:r>
            <a:r>
              <a:rPr sz="3500" dirty="0" err="1">
                <a:solidFill>
                  <a:srgbClr val="2F3338"/>
                </a:solidFill>
              </a:rPr>
              <a:t>teste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302932"/>
            <a:ext cx="10058400" cy="3960707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436727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4B5563"/>
                </a:solidFill>
                <a:latin typeface="Segoe UI"/>
              </a:rPr>
              <a:t>Functii care masoara si manipuleaza structura AST-ului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848207"/>
            <a:ext cx="960120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- size expr: numărul total de noduri din arbore</a:t>
            </a:r>
          </a:p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- depth expr: adâncimea maximă a arborelui</a:t>
            </a:r>
          </a:p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- operatorCount expr: numărul de operatori (Add/Sub/Mul/Neg)</a:t>
            </a:r>
          </a:p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- freeVars expr: mulțimea variabilelor libere, fără duplicate</a:t>
            </a:r>
          </a:p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- substitute name replacement expr: înlocuire recursivă în AST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25880" y="4314605"/>
            <a:ext cx="9601200" cy="1789862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4406045"/>
            <a:ext cx="9272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 err="1">
                <a:solidFill>
                  <a:srgbClr val="9CDCFE"/>
                </a:solidFill>
                <a:latin typeface="Consolas"/>
              </a:rPr>
              <a:t>Exemple</a:t>
            </a:r>
            <a:r>
              <a:rPr sz="1200" b="1" i="0" dirty="0">
                <a:solidFill>
                  <a:srgbClr val="9CDCFE"/>
                </a:solidFill>
                <a:latin typeface="Consolas"/>
              </a:rPr>
              <a:t> concrete in </a:t>
            </a:r>
            <a:r>
              <a:rPr sz="1200" b="1" i="0" dirty="0" err="1">
                <a:solidFill>
                  <a:srgbClr val="9CDCFE"/>
                </a:solidFill>
                <a:latin typeface="Consolas"/>
              </a:rPr>
              <a:t>proiect</a:t>
            </a:r>
            <a:endParaRPr sz="1200" b="1" i="0" dirty="0">
              <a:solidFill>
                <a:srgbClr val="9CDCFE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90472" y="4698653"/>
            <a:ext cx="9272016" cy="12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prop_simplifyDoesNotIncreaseSize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=&gt; size (simplify e) &lt;= size e</a:t>
            </a:r>
          </a:p>
          <a:p>
            <a:pPr>
              <a:spcAft>
                <a:spcPts val="200"/>
              </a:spcAft>
            </a:pPr>
            <a:r>
              <a:rPr lang="en-US" sz="1150" dirty="0" err="1" smtClean="0">
                <a:solidFill>
                  <a:srgbClr val="D4D4D4"/>
                </a:solidFill>
                <a:latin typeface="Consolas"/>
              </a:rPr>
              <a:t>prop_simplifyDoesNotIncreaseDepth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=&gt; depth (simplify e) &lt;= depth e</a:t>
            </a:r>
          </a:p>
          <a:p>
            <a:pPr>
              <a:spcAft>
                <a:spcPts val="200"/>
              </a:spcAft>
            </a:pPr>
            <a:r>
              <a:rPr lang="en-US" sz="1150" dirty="0" err="1" smtClean="0">
                <a:solidFill>
                  <a:srgbClr val="D4D4D4"/>
                </a:solidFill>
                <a:latin typeface="Consolas"/>
              </a:rPr>
              <a:t>prop_simplifyDoesNotIncreaseOperators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=&gt;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operatorCount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(simplify e) &lt;=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operatorCount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e</a:t>
            </a:r>
            <a:endParaRPr sz="1150" b="0" i="0" dirty="0">
              <a:solidFill>
                <a:srgbClr val="D4D4D4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914907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 smtClean="0">
                <a:solidFill>
                  <a:srgbClr val="2F3338"/>
                </a:solidFill>
              </a:rPr>
              <a:t>Parser.hs</a:t>
            </a:r>
            <a:r>
              <a:rPr sz="3500" dirty="0" smtClean="0">
                <a:solidFill>
                  <a:srgbClr val="2F3338"/>
                </a:solidFill>
              </a:rPr>
              <a:t>: </a:t>
            </a:r>
            <a:r>
              <a:rPr sz="3500" dirty="0" err="1" smtClean="0">
                <a:solidFill>
                  <a:srgbClr val="2F3338"/>
                </a:solidFill>
              </a:rPr>
              <a:t>gramatica</a:t>
            </a:r>
            <a:r>
              <a:rPr sz="3500" dirty="0" smtClean="0">
                <a:solidFill>
                  <a:srgbClr val="2F3338"/>
                </a:solidFill>
              </a:rPr>
              <a:t> </a:t>
            </a:r>
            <a:r>
              <a:rPr lang="ro-RO" sz="3500" dirty="0" smtClean="0">
                <a:solidFill>
                  <a:srgbClr val="2F3338"/>
                </a:solidFill>
              </a:rPr>
              <a:t>ș</a:t>
            </a:r>
            <a:r>
              <a:rPr sz="3500" dirty="0" smtClean="0">
                <a:solidFill>
                  <a:srgbClr val="2F3338"/>
                </a:solidFill>
              </a:rPr>
              <a:t>i </a:t>
            </a:r>
            <a:r>
              <a:rPr sz="3500" dirty="0" err="1" smtClean="0">
                <a:solidFill>
                  <a:srgbClr val="2F3338"/>
                </a:solidFill>
              </a:rPr>
              <a:t>preceden</a:t>
            </a:r>
            <a:r>
              <a:rPr lang="ro-RO" sz="3500" dirty="0" smtClean="0">
                <a:solidFill>
                  <a:srgbClr val="2F3338"/>
                </a:solidFill>
              </a:rPr>
              <a:t>ț</a:t>
            </a:r>
            <a:r>
              <a:rPr sz="3500" dirty="0" smtClean="0">
                <a:solidFill>
                  <a:srgbClr val="2F3338"/>
                </a:solidFill>
              </a:rPr>
              <a:t>a </a:t>
            </a:r>
            <a:r>
              <a:rPr sz="3500" dirty="0" err="1" smtClean="0">
                <a:solidFill>
                  <a:srgbClr val="2F3338"/>
                </a:solidFill>
              </a:rPr>
              <a:t>operatorilor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236913"/>
            <a:ext cx="4846320" cy="3638973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236913"/>
            <a:ext cx="4846320" cy="3638973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419793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Structura parserului (ReadP)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831273"/>
            <a:ext cx="4389120" cy="2688994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922713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Parser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147585"/>
            <a:ext cx="4059935" cy="1079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exprP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  = chainl1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termP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addOp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termP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  = chainl1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factorP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mulOp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factorP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=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negP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+++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atomP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atomP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  =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negConstP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+++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parens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exprP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     +++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integerP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+++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variableP</a:t>
            </a:r>
            <a:endParaRPr sz="1150" b="0" i="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537960" y="2419793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Detalii suportate in proiect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831273"/>
            <a:ext cx="43891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spatii ignorate prin token/skipSpaces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variabile: litera + alfanumeric/underscore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constante negative explicite: (-3)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negare unara: -x, -(a+b)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parseExpr valideaza input complet (eof)</a:t>
            </a:r>
          </a:p>
        </p:txBody>
      </p:sp>
    </p:spTree>
    <p:extLst>
      <p:ext uri="{BB962C8B-B14F-4D97-AF65-F5344CB8AC3E}">
        <p14:creationId xmlns:p14="http://schemas.microsoft.com/office/powerpoint/2010/main" val="2713072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Pretty.hs</a:t>
            </a:r>
            <a:r>
              <a:rPr sz="3500" dirty="0">
                <a:solidFill>
                  <a:srgbClr val="2F3338"/>
                </a:solidFill>
              </a:rPr>
              <a:t>: </a:t>
            </a:r>
            <a:r>
              <a:rPr sz="3500" dirty="0" err="1">
                <a:solidFill>
                  <a:srgbClr val="2F3338"/>
                </a:solidFill>
              </a:rPr>
              <a:t>reguli</a:t>
            </a:r>
            <a:r>
              <a:rPr sz="3500" dirty="0">
                <a:solidFill>
                  <a:srgbClr val="2F3338"/>
                </a:solidFill>
              </a:rPr>
              <a:t> de </a:t>
            </a:r>
            <a:r>
              <a:rPr sz="3500" dirty="0" err="1">
                <a:solidFill>
                  <a:srgbClr val="2F3338"/>
                </a:solidFill>
              </a:rPr>
              <a:t>parantezare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lang="ro-RO" sz="3500" dirty="0" err="1">
                <a:solidFill>
                  <a:srgbClr val="2F3338"/>
                </a:solidFill>
              </a:rPr>
              <a:t>ș</a:t>
            </a:r>
            <a:r>
              <a:rPr sz="3500" dirty="0" smtClean="0">
                <a:solidFill>
                  <a:srgbClr val="2F3338"/>
                </a:solidFill>
              </a:rPr>
              <a:t>i </a:t>
            </a:r>
            <a:r>
              <a:rPr sz="3500" dirty="0" err="1" smtClean="0">
                <a:solidFill>
                  <a:srgbClr val="2F3338"/>
                </a:solidFill>
              </a:rPr>
              <a:t>preceden</a:t>
            </a:r>
            <a:r>
              <a:rPr lang="ro-RO" sz="3500" dirty="0" smtClean="0">
                <a:solidFill>
                  <a:srgbClr val="2F3338"/>
                </a:solidFill>
              </a:rPr>
              <a:t>ță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26842"/>
            <a:ext cx="10058400" cy="1463025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355442"/>
            <a:ext cx="960120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- pretty pornește afișarea cu contextul 0, apelând </a:t>
            </a:r>
            <a:r>
              <a:rPr lang="vi-VN" sz="1500" dirty="0" smtClean="0">
                <a:solidFill>
                  <a:srgbClr val="2F3338"/>
                </a:solidFill>
                <a:latin typeface="Segoe UI"/>
              </a:rPr>
              <a:t>prettyPrec</a:t>
            </a:r>
            <a:r>
              <a:rPr lang="ro-RO" sz="1500" dirty="0" smtClean="0">
                <a:solidFill>
                  <a:srgbClr val="2F3338"/>
                </a:solidFill>
                <a:latin typeface="Segoe UI"/>
              </a:rPr>
              <a:t/>
            </a:r>
            <a:br>
              <a:rPr lang="ro-RO" sz="1500" dirty="0" smtClean="0">
                <a:solidFill>
                  <a:srgbClr val="2F3338"/>
                </a:solidFill>
                <a:latin typeface="Segoe UI"/>
              </a:rPr>
            </a:br>
            <a:r>
              <a:rPr lang="vi-VN" sz="1500" dirty="0" smtClean="0">
                <a:solidFill>
                  <a:srgbClr val="2F3338"/>
                </a:solidFill>
                <a:latin typeface="Segoe UI"/>
              </a:rPr>
              <a:t>- </a:t>
            </a:r>
            <a:r>
              <a:rPr lang="vi-VN" sz="1500" dirty="0">
                <a:solidFill>
                  <a:srgbClr val="2F3338"/>
                </a:solidFill>
                <a:latin typeface="Segoe UI"/>
              </a:rPr>
              <a:t>atomPrec = 11, negPrec = 9, mulPrec = 7, addPrec = 6</a:t>
            </a:r>
          </a:p>
          <a:p>
            <a:pPr>
              <a:spcAft>
                <a:spcPts val="200"/>
              </a:spcAft>
            </a:pPr>
            <a:r>
              <a:rPr lang="vi-VN" sz="1500" dirty="0">
                <a:solidFill>
                  <a:srgbClr val="2F3338"/>
                </a:solidFill>
                <a:latin typeface="Segoe UI"/>
              </a:rPr>
              <a:t>- wrapIf adaugă paranteze doar când contextul o cere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97280" y="3742267"/>
            <a:ext cx="10058400" cy="2362214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61872" y="3975961"/>
            <a:ext cx="97292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 err="1">
                <a:solidFill>
                  <a:srgbClr val="9CDCFE"/>
                </a:solidFill>
                <a:latin typeface="Consolas"/>
              </a:rPr>
              <a:t>Detaliu</a:t>
            </a:r>
            <a:r>
              <a:rPr sz="1200" b="1" i="0" dirty="0">
                <a:solidFill>
                  <a:srgbClr val="9CDCFE"/>
                </a:solidFill>
                <a:latin typeface="Consolas"/>
              </a:rPr>
              <a:t> important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4292438"/>
            <a:ext cx="9729216" cy="1485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pretty ::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-&gt; String</a:t>
            </a: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pretty =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prettyPrec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0</a:t>
            </a:r>
          </a:p>
          <a:p>
            <a:pPr>
              <a:spcAft>
                <a:spcPts val="200"/>
              </a:spcAft>
            </a:pPr>
            <a:endParaRPr lang="en-US" sz="1150" dirty="0">
              <a:solidFill>
                <a:srgbClr val="D4D4D4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prettyConst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::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Int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-&gt; String</a:t>
            </a:r>
          </a:p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prettyConst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n</a:t>
            </a: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| n &lt; 0 = "(" ++ show n ++ ")"</a:t>
            </a: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| otherwise = show n</a:t>
            </a:r>
            <a:endParaRPr sz="1150" b="0" i="0" dirty="0">
              <a:solidFill>
                <a:srgbClr val="D4D4D4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004201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200" dirty="0" err="1">
                <a:solidFill>
                  <a:srgbClr val="2F3338"/>
                </a:solidFill>
              </a:rPr>
              <a:t>Spec.hs</a:t>
            </a:r>
            <a:r>
              <a:rPr sz="3200" dirty="0">
                <a:solidFill>
                  <a:srgbClr val="2F3338"/>
                </a:solidFill>
              </a:rPr>
              <a:t>: </a:t>
            </a:r>
            <a:r>
              <a:rPr sz="3200" dirty="0" err="1">
                <a:solidFill>
                  <a:srgbClr val="2F3338"/>
                </a:solidFill>
              </a:rPr>
              <a:t>infrastructura</a:t>
            </a:r>
            <a:r>
              <a:rPr sz="3200" dirty="0">
                <a:solidFill>
                  <a:srgbClr val="2F3338"/>
                </a:solidFill>
              </a:rPr>
              <a:t> de </a:t>
            </a:r>
            <a:r>
              <a:rPr sz="3200" dirty="0" err="1">
                <a:solidFill>
                  <a:srgbClr val="2F3338"/>
                </a:solidFill>
              </a:rPr>
              <a:t>rulare</a:t>
            </a:r>
            <a:r>
              <a:rPr sz="3200" dirty="0">
                <a:solidFill>
                  <a:srgbClr val="2F3338"/>
                </a:solidFill>
              </a:rPr>
              <a:t> a </a:t>
            </a:r>
            <a:r>
              <a:rPr sz="3200" dirty="0" err="1" smtClean="0">
                <a:solidFill>
                  <a:srgbClr val="2F3338"/>
                </a:solidFill>
              </a:rPr>
              <a:t>propriet</a:t>
            </a:r>
            <a:r>
              <a:rPr lang="ro-RO" sz="3200" dirty="0" smtClean="0">
                <a:solidFill>
                  <a:srgbClr val="2F3338"/>
                </a:solidFill>
              </a:rPr>
              <a:t>ăț</a:t>
            </a:r>
            <a:r>
              <a:rPr sz="3200" dirty="0" err="1" smtClean="0">
                <a:solidFill>
                  <a:srgbClr val="2F3338"/>
                </a:solidFill>
              </a:rPr>
              <a:t>ilor</a:t>
            </a:r>
            <a:endParaRPr sz="32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253847"/>
            <a:ext cx="4846320" cy="3232573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253847"/>
            <a:ext cx="4846320" cy="3232573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4367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Set</a:t>
            </a:r>
            <a:r>
              <a:rPr lang="ro-RO" sz="1700" b="1" i="0" dirty="0" smtClean="0">
                <a:solidFill>
                  <a:srgbClr val="1F4E79"/>
                </a:solidFill>
                <a:latin typeface="Segoe UI"/>
              </a:rPr>
              <a:t>ă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ri</a:t>
            </a: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 </a:t>
            </a:r>
            <a:r>
              <a:rPr sz="1700" b="1" i="0" dirty="0">
                <a:solidFill>
                  <a:srgbClr val="1F4E79"/>
                </a:solidFill>
                <a:latin typeface="Segoe UI"/>
              </a:rPr>
              <a:t>de 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execu</a:t>
            </a:r>
            <a:r>
              <a:rPr lang="ro-RO" sz="1700" b="1" i="0" dirty="0" smtClean="0">
                <a:solidFill>
                  <a:srgbClr val="1F4E79"/>
                </a:solidFill>
                <a:latin typeface="Segoe UI"/>
              </a:rPr>
              <a:t>ț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ie</a:t>
            </a:r>
            <a:endParaRPr sz="1700" b="1" i="0" dirty="0">
              <a:solidFill>
                <a:srgbClr val="1F4E79"/>
              </a:solidFill>
              <a:latin typeface="Segoe U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25880" y="2815207"/>
            <a:ext cx="4389120" cy="22402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939647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runProperty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232255"/>
            <a:ext cx="4224528" cy="1433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runProperty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:: Testable prop =&gt; String -&gt; prop -&gt; IO ()</a:t>
            </a:r>
          </a:p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D4D4D4"/>
                </a:solidFill>
                <a:latin typeface="Consolas"/>
              </a:rPr>
              <a:t>runProperty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descriere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prop = do</a:t>
            </a: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putStrLn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("-- " ++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descriere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quickCheckWith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stdArgs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{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maxSuccess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= 120,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maxSize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= 12} prop</a:t>
            </a:r>
          </a:p>
          <a:p>
            <a:pPr>
              <a:spcAft>
                <a:spcPts val="200"/>
              </a:spcAft>
            </a:pPr>
            <a:r>
              <a:rPr lang="en-US" sz="1150" dirty="0">
                <a:solidFill>
                  <a:srgbClr val="D4D4D4"/>
                </a:solidFill>
                <a:latin typeface="Consolas"/>
              </a:rPr>
              <a:t>  </a:t>
            </a:r>
            <a:r>
              <a:rPr lang="en-US" sz="1150" dirty="0" err="1">
                <a:solidFill>
                  <a:srgbClr val="D4D4D4"/>
                </a:solidFill>
                <a:latin typeface="Consolas"/>
              </a:rPr>
              <a:t>putStrLn</a:t>
            </a:r>
            <a:r>
              <a:rPr lang="en-US" sz="1150" dirty="0">
                <a:solidFill>
                  <a:srgbClr val="D4D4D4"/>
                </a:solidFill>
                <a:latin typeface="Consolas"/>
              </a:rPr>
              <a:t> ""</a:t>
            </a:r>
            <a:endParaRPr lang="en-US" sz="115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537960" y="24367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 dirty="0" err="1">
                <a:solidFill>
                  <a:srgbClr val="1F4E79"/>
                </a:solidFill>
                <a:latin typeface="Segoe UI"/>
              </a:rPr>
              <a:t>Ordinea</a:t>
            </a:r>
            <a:r>
              <a:rPr sz="1700" b="1" i="0" dirty="0">
                <a:solidFill>
                  <a:srgbClr val="1F4E79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rulat</a:t>
            </a:r>
            <a:r>
              <a:rPr lang="ro-RO" sz="1700" b="1" i="0" dirty="0" smtClean="0">
                <a:solidFill>
                  <a:srgbClr val="1F4E79"/>
                </a:solidFill>
                <a:latin typeface="Segoe UI"/>
              </a:rPr>
              <a:t>ă</a:t>
            </a: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 </a:t>
            </a:r>
            <a:r>
              <a:rPr lang="ro-RO" sz="1700" b="1" dirty="0">
                <a:solidFill>
                  <a:srgbClr val="1F4E79"/>
                </a:solidFill>
                <a:latin typeface="Segoe UI"/>
              </a:rPr>
              <a:t>î</a:t>
            </a: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n </a:t>
            </a:r>
            <a:r>
              <a:rPr sz="1700" b="1" i="0" dirty="0">
                <a:solidFill>
                  <a:srgbClr val="1F4E79"/>
                </a:solidFill>
                <a:latin typeface="Segoe UI"/>
              </a:rPr>
              <a:t>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848207"/>
            <a:ext cx="438912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- 2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semantice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- 4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structurale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- 4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algebrice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- 3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neutre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absorbante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- 2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negatie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scadere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- 1 </a:t>
            </a:r>
            <a:r>
              <a:rPr sz="1400" b="0" i="0" dirty="0" err="1" smtClean="0">
                <a:solidFill>
                  <a:srgbClr val="2F3338"/>
                </a:solidFill>
                <a:latin typeface="Segoe UI"/>
              </a:rPr>
              <a:t>substitutie</a:t>
            </a:r>
            <a:endParaRPr lang="ro-RO" sz="1400" b="0" i="0" dirty="0" smtClean="0">
              <a:solidFill>
                <a:srgbClr val="2F3338"/>
              </a:solidFill>
              <a:latin typeface="Segoe UI"/>
            </a:endParaRPr>
          </a:p>
          <a:p>
            <a:pPr>
              <a:spcAft>
                <a:spcPts val="200"/>
              </a:spcAft>
            </a:pPr>
            <a:r>
              <a:rPr lang="ro-RO" sz="1400" dirty="0">
                <a:solidFill>
                  <a:srgbClr val="2F3338"/>
                </a:solidFill>
                <a:latin typeface="Segoe UI"/>
              </a:rPr>
              <a:t>-</a:t>
            </a:r>
            <a:r>
              <a:rPr lang="en-US" sz="1400" dirty="0">
                <a:solidFill>
                  <a:srgbClr val="2F3338"/>
                </a:solidFill>
                <a:latin typeface="Segoe UI"/>
              </a:rPr>
              <a:t> 3 Nothing/partial</a:t>
            </a:r>
            <a:r>
              <a:rPr sz="1400" dirty="0">
                <a:solidFill>
                  <a:srgbClr val="2F3338"/>
                </a:solidFill>
                <a:latin typeface="Segoe UI"/>
              </a:rPr>
              <a:t> (total: </a:t>
            </a:r>
            <a:r>
              <a:rPr sz="1400" dirty="0" smtClean="0">
                <a:solidFill>
                  <a:srgbClr val="2F3338"/>
                </a:solidFill>
                <a:latin typeface="Segoe UI"/>
              </a:rPr>
              <a:t>1</a:t>
            </a:r>
            <a:r>
              <a:rPr lang="ro-RO" sz="1400" dirty="0" smtClean="0">
                <a:solidFill>
                  <a:srgbClr val="2F3338"/>
                </a:solidFill>
                <a:latin typeface="Segoe UI"/>
              </a:rPr>
              <a:t>9</a:t>
            </a:r>
            <a:r>
              <a:rPr sz="1400" dirty="0" smtClean="0">
                <a:solidFill>
                  <a:srgbClr val="2F3338"/>
                </a:solidFill>
                <a:latin typeface="Segoe UI"/>
              </a:rPr>
              <a:t>)</a:t>
            </a:r>
            <a:endParaRPr sz="1400" dirty="0">
              <a:solidFill>
                <a:srgbClr val="2F3338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94709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Rezultate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reale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spec.exe (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rulare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curent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ă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)</a:t>
            </a:r>
            <a:endParaRPr sz="3500" b="1" dirty="0">
              <a:solidFill>
                <a:srgbClr val="2F3338"/>
              </a:solidFill>
              <a:latin typeface="Segoe UI Semibold"/>
            </a:endParaRPr>
          </a:p>
        </p:txBody>
      </p:sp>
      <p:pic>
        <p:nvPicPr>
          <p:cNvPr id="3074" name="Picture 2" descr="C:\Users\user\Pictures\Screenshots\Screenshot 2026-04-23 03074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1972045"/>
            <a:ext cx="3741738" cy="458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C:\Users\user\Pictures\Screenshots\Screenshot 2026-04-23 030754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3866" y="2453023"/>
            <a:ext cx="5944658" cy="3622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5025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Configurare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proiect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fi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ș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ierul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.cabal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252132"/>
            <a:ext cx="10058400" cy="4011507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482447"/>
            <a:ext cx="9601200" cy="1749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US" sz="1200" dirty="0" smtClean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library: 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modulele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Expr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, 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Eval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, Pretty, Parser, Simplify</a:t>
            </a:r>
          </a:p>
          <a:p>
            <a:pPr>
              <a:spcAft>
                <a:spcPts val="200"/>
              </a:spcAft>
            </a:pPr>
            <a:r>
              <a:rPr lang="en-US" sz="1200" dirty="0">
                <a:solidFill>
                  <a:srgbClr val="2F3338"/>
                </a:solidFill>
                <a:latin typeface="Segoe UI"/>
              </a:rPr>
              <a:t>- executable: 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mfis-quickcheck-expr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 (app/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Main.hs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>
              <a:spcAft>
                <a:spcPts val="200"/>
              </a:spcAft>
            </a:pPr>
            <a:r>
              <a:rPr lang="en-US" sz="1200" dirty="0">
                <a:solidFill>
                  <a:srgbClr val="2F3338"/>
                </a:solidFill>
                <a:latin typeface="Segoe UI"/>
              </a:rPr>
              <a:t>- test-suite: spec (test/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Spec.hs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, type: exitcode-stdio-1.0)</a:t>
            </a:r>
          </a:p>
          <a:p>
            <a:pPr>
              <a:spcAft>
                <a:spcPts val="200"/>
              </a:spcAft>
            </a:pPr>
            <a:r>
              <a:rPr lang="en-US" sz="12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dependințe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: base, containers, 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 &gt;= 2.14 &amp;&amp; &lt; 3</a:t>
            </a:r>
          </a:p>
          <a:p>
            <a:pPr>
              <a:spcAft>
                <a:spcPts val="200"/>
              </a:spcAft>
            </a:pPr>
            <a:r>
              <a:rPr lang="en-US" sz="12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ghc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-options: -Wall, -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Wcompat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, -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Widentities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,</a:t>
            </a:r>
          </a:p>
          <a:p>
            <a:pPr>
              <a:spcAft>
                <a:spcPts val="200"/>
              </a:spcAft>
            </a:pPr>
            <a:r>
              <a:rPr lang="en-US" sz="1200" dirty="0">
                <a:solidFill>
                  <a:srgbClr val="2F3338"/>
                </a:solidFill>
                <a:latin typeface="Segoe UI"/>
              </a:rPr>
              <a:t>  -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Wincomplete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-record-updates, -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Wincomplete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-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uni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-patterns,</a:t>
            </a:r>
          </a:p>
          <a:p>
            <a:pPr>
              <a:spcAft>
                <a:spcPts val="200"/>
              </a:spcAft>
            </a:pPr>
            <a:r>
              <a:rPr lang="en-US" sz="1200" dirty="0">
                <a:solidFill>
                  <a:srgbClr val="2F3338"/>
                </a:solidFill>
                <a:latin typeface="Segoe UI"/>
              </a:rPr>
              <a:t>  -</a:t>
            </a:r>
            <a:r>
              <a:rPr lang="en-US" sz="1200" dirty="0" err="1">
                <a:solidFill>
                  <a:srgbClr val="2F3338"/>
                </a:solidFill>
                <a:latin typeface="Segoe UI"/>
              </a:rPr>
              <a:t>Wredundant</a:t>
            </a:r>
            <a:r>
              <a:rPr lang="en-US" sz="1200" dirty="0">
                <a:solidFill>
                  <a:srgbClr val="2F3338"/>
                </a:solidFill>
                <a:latin typeface="Segoe UI"/>
              </a:rPr>
              <a:t>-constraints</a:t>
            </a:r>
          </a:p>
          <a:p>
            <a:pPr>
              <a:spcAft>
                <a:spcPts val="200"/>
              </a:spcAft>
            </a:pPr>
            <a:r>
              <a:rPr lang="en-US" sz="1200" dirty="0">
                <a:solidFill>
                  <a:srgbClr val="2F3338"/>
                </a:solidFill>
                <a:latin typeface="Segoe UI"/>
              </a:rPr>
              <a:t>- default-language: Haskell2010</a:t>
            </a:r>
            <a:endParaRPr sz="1200"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325880" y="4416209"/>
            <a:ext cx="9601200" cy="160020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90472" y="4507649"/>
            <a:ext cx="9272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Componente declarate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4800257"/>
            <a:ext cx="9272016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 dirty="0">
                <a:solidFill>
                  <a:srgbClr val="D4D4D4"/>
                </a:solidFill>
                <a:latin typeface="Consolas"/>
              </a:rPr>
              <a:t>library -&gt; </a:t>
            </a:r>
            <a:r>
              <a:rPr sz="1150" b="0" i="0" dirty="0" err="1">
                <a:solidFill>
                  <a:srgbClr val="D4D4D4"/>
                </a:solidFill>
                <a:latin typeface="Consolas"/>
              </a:rPr>
              <a:t>src</a:t>
            </a:r>
            <a:r>
              <a:rPr sz="1150" b="0" i="0" dirty="0">
                <a:solidFill>
                  <a:srgbClr val="D4D4D4"/>
                </a:solidFill>
                <a:latin typeface="Consolas"/>
              </a:rPr>
              <a:t>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 dirty="0">
                <a:solidFill>
                  <a:srgbClr val="D4D4D4"/>
                </a:solidFill>
                <a:latin typeface="Consolas"/>
              </a:rPr>
              <a:t>executable </a:t>
            </a:r>
            <a:r>
              <a:rPr sz="1150" b="0" i="0" dirty="0" err="1">
                <a:solidFill>
                  <a:srgbClr val="D4D4D4"/>
                </a:solidFill>
                <a:latin typeface="Consolas"/>
              </a:rPr>
              <a:t>mfis-quickcheck-expr</a:t>
            </a:r>
            <a:r>
              <a:rPr sz="1150" b="0" i="0" dirty="0">
                <a:solidFill>
                  <a:srgbClr val="D4D4D4"/>
                </a:solidFill>
                <a:latin typeface="Consolas"/>
              </a:rPr>
              <a:t> -&gt; app/</a:t>
            </a:r>
            <a:r>
              <a:rPr sz="1150" b="0" i="0" dirty="0" err="1">
                <a:solidFill>
                  <a:srgbClr val="D4D4D4"/>
                </a:solidFill>
                <a:latin typeface="Consolas"/>
              </a:rPr>
              <a:t>Main.hs</a:t>
            </a:r>
            <a:endParaRPr sz="1150" b="0" i="0" dirty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 dirty="0">
                <a:solidFill>
                  <a:srgbClr val="D4D4D4"/>
                </a:solidFill>
                <a:latin typeface="Consolas"/>
              </a:rPr>
              <a:t>test-suite spec -&gt; test/</a:t>
            </a:r>
            <a:r>
              <a:rPr sz="1150" b="0" i="0" dirty="0" err="1">
                <a:solidFill>
                  <a:srgbClr val="D4D4D4"/>
                </a:solidFill>
                <a:latin typeface="Consolas"/>
              </a:rPr>
              <a:t>Spec.hs</a:t>
            </a:r>
            <a:endParaRPr sz="1150" b="0" i="0" dirty="0">
              <a:solidFill>
                <a:srgbClr val="D4D4D4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04651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Detalii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suplimentare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proiect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(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implementare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/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rulare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079425"/>
            <a:ext cx="4846320" cy="3440842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079425"/>
            <a:ext cx="4846320" cy="3440842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262305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Flux de rulare recomandat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584033"/>
            <a:ext cx="4389120" cy="1772555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662786"/>
            <a:ext cx="4059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 err="1">
                <a:solidFill>
                  <a:srgbClr val="9CDCFE"/>
                </a:solidFill>
                <a:latin typeface="Consolas"/>
              </a:rPr>
              <a:t>Comenzi</a:t>
            </a:r>
            <a:r>
              <a:rPr sz="1200" b="1" i="0" dirty="0">
                <a:solidFill>
                  <a:srgbClr val="9CDCFE"/>
                </a:solidFill>
                <a:latin typeface="Consolas"/>
              </a:rPr>
              <a:t> utile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085265"/>
            <a:ext cx="405993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 dirty="0">
                <a:solidFill>
                  <a:srgbClr val="D4D4D4"/>
                </a:solidFill>
                <a:latin typeface="Consolas"/>
              </a:rPr>
              <a:t>cabal build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 dirty="0">
                <a:solidFill>
                  <a:srgbClr val="D4D4D4"/>
                </a:solidFill>
                <a:latin typeface="Consolas"/>
              </a:rPr>
              <a:t>cabal run </a:t>
            </a:r>
            <a:r>
              <a:rPr sz="1200" b="0" i="0" dirty="0" err="1">
                <a:solidFill>
                  <a:srgbClr val="D4D4D4"/>
                </a:solidFill>
                <a:latin typeface="Consolas"/>
              </a:rPr>
              <a:t>mfis-quickcheck-expr</a:t>
            </a:r>
            <a:endParaRPr sz="1200" b="0" i="0" dirty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 dirty="0">
                <a:solidFill>
                  <a:srgbClr val="D4D4D4"/>
                </a:solidFill>
                <a:latin typeface="Consolas"/>
              </a:rPr>
              <a:t>cabal test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 dirty="0">
                <a:solidFill>
                  <a:srgbClr val="D4D4D4"/>
                </a:solidFill>
                <a:latin typeface="Consolas"/>
              </a:rPr>
              <a:t>cabal test spec --test-show-details=direct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62305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Detalii tehnice extra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719505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=120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comparabilitate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intre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variablePool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fix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generarea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variabilelor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x,y,z,u,v,w,a,b,c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withEnv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genEnvFor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elimina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majoritatea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evaluarilor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partiale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in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testele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semantice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substitute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verificat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inlocuire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closed-expression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Limit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ă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ri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concrete ale 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implement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ă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rii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actuale</a:t>
            </a:r>
            <a:endParaRPr sz="3500" b="1" dirty="0">
              <a:solidFill>
                <a:srgbClr val="2F3338"/>
              </a:solidFill>
              <a:latin typeface="Segoe UI Semi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355451"/>
            <a:ext cx="10058400" cy="2724573"/>
          </a:xfrm>
          <a:prstGeom prst="roundRect">
            <a:avLst/>
          </a:prstGeom>
          <a:solidFill>
            <a:srgbClr val="FFF7ED"/>
          </a:solidFill>
          <a:ln w="1397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900715"/>
            <a:ext cx="960120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Limbajul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include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doar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Int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+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operatori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Add/Sub/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Mul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Neg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>
                <a:solidFill>
                  <a:srgbClr val="2F3338"/>
                </a:solidFill>
                <a:latin typeface="Segoe UI"/>
              </a:rPr>
              <a:t>î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mp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compara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booleene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parseExpr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î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ntoarce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Maybe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deci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nu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ofer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mesaj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de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eroare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detaliat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la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parsare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variablePool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finit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x,y,z,u,v,w,a,b,c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deci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varietatea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numelor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controlat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.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Distribuirea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constructorilor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fix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>
                <a:solidFill>
                  <a:srgbClr val="2F3338"/>
                </a:solidFill>
                <a:latin typeface="Segoe UI"/>
              </a:rPr>
              <a:t>î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n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generator (frequency),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necesit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nd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recalibrare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la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extinderea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AST-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ului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Testarea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probabilistic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trecerea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testelor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nu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echivaleaz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cu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demonstra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matematic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complet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.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328907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/>
              <a:t>Concluzii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100" dirty="0" err="1"/>
              <a:t>QuickCheck</a:t>
            </a:r>
            <a:r>
              <a:rPr sz="2100" dirty="0"/>
              <a:t> </a:t>
            </a:r>
            <a:r>
              <a:rPr sz="2100" dirty="0" err="1" smtClean="0"/>
              <a:t>valideaz</a:t>
            </a:r>
            <a:r>
              <a:rPr lang="ro-RO" sz="2100" dirty="0" smtClean="0"/>
              <a:t>ă</a:t>
            </a:r>
            <a:r>
              <a:rPr sz="2100" dirty="0" smtClean="0"/>
              <a:t> </a:t>
            </a:r>
            <a:r>
              <a:rPr sz="2100" dirty="0" err="1"/>
              <a:t>comportamentul</a:t>
            </a:r>
            <a:r>
              <a:rPr sz="2100" dirty="0"/>
              <a:t> general, nu </a:t>
            </a:r>
            <a:r>
              <a:rPr sz="2100" dirty="0" err="1"/>
              <a:t>doar</a:t>
            </a:r>
            <a:r>
              <a:rPr sz="2100" dirty="0"/>
              <a:t> </a:t>
            </a:r>
            <a:r>
              <a:rPr sz="2100" dirty="0" err="1"/>
              <a:t>exemple</a:t>
            </a:r>
            <a:r>
              <a:rPr sz="2100" dirty="0"/>
              <a:t> </a:t>
            </a:r>
            <a:r>
              <a:rPr sz="2100" dirty="0" err="1"/>
              <a:t>particulare</a:t>
            </a:r>
            <a:endParaRPr sz="2100" dirty="0"/>
          </a:p>
          <a:p>
            <a:r>
              <a:rPr sz="2100" dirty="0" err="1"/>
              <a:t>Generatoarele</a:t>
            </a:r>
            <a:r>
              <a:rPr sz="2100" dirty="0"/>
              <a:t> </a:t>
            </a:r>
            <a:r>
              <a:rPr sz="2100" dirty="0" err="1"/>
              <a:t>manuale</a:t>
            </a:r>
            <a:r>
              <a:rPr sz="2100" dirty="0"/>
              <a:t> (frequency, sized, shrink) </a:t>
            </a:r>
            <a:r>
              <a:rPr sz="2100" dirty="0" err="1"/>
              <a:t>sunt</a:t>
            </a:r>
            <a:r>
              <a:rPr sz="2100" dirty="0"/>
              <a:t> </a:t>
            </a:r>
            <a:r>
              <a:rPr sz="2100" dirty="0" err="1" smtClean="0"/>
              <a:t>esen</a:t>
            </a:r>
            <a:r>
              <a:rPr lang="ro-RO" sz="2100" dirty="0" smtClean="0"/>
              <a:t>ț</a:t>
            </a:r>
            <a:r>
              <a:rPr sz="2100" dirty="0" err="1" smtClean="0"/>
              <a:t>iale</a:t>
            </a:r>
            <a:endParaRPr sz="2100" dirty="0"/>
          </a:p>
          <a:p>
            <a:r>
              <a:rPr sz="2100" dirty="0"/>
              <a:t>Mini-</a:t>
            </a:r>
            <a:r>
              <a:rPr sz="2100" dirty="0" err="1"/>
              <a:t>limbajul</a:t>
            </a:r>
            <a:r>
              <a:rPr sz="2100" dirty="0"/>
              <a:t> </a:t>
            </a:r>
            <a:r>
              <a:rPr sz="2100" dirty="0" err="1"/>
              <a:t>aritmetic</a:t>
            </a:r>
            <a:r>
              <a:rPr sz="2100" dirty="0"/>
              <a:t> </a:t>
            </a:r>
            <a:r>
              <a:rPr sz="2100" dirty="0" err="1"/>
              <a:t>este</a:t>
            </a:r>
            <a:r>
              <a:rPr sz="2100" dirty="0"/>
              <a:t> un </a:t>
            </a:r>
            <a:r>
              <a:rPr sz="2100" dirty="0" err="1"/>
              <a:t>exemplu</a:t>
            </a:r>
            <a:r>
              <a:rPr sz="2100" dirty="0"/>
              <a:t> natural </a:t>
            </a:r>
            <a:r>
              <a:rPr sz="2100" dirty="0" err="1"/>
              <a:t>pentru</a:t>
            </a:r>
            <a:r>
              <a:rPr sz="2100" dirty="0"/>
              <a:t> </a:t>
            </a:r>
            <a:r>
              <a:rPr sz="2100" dirty="0" err="1"/>
              <a:t>metode</a:t>
            </a:r>
            <a:r>
              <a:rPr sz="2100" dirty="0"/>
              <a:t> </a:t>
            </a:r>
            <a:r>
              <a:rPr sz="2100" dirty="0" err="1"/>
              <a:t>formale</a:t>
            </a:r>
            <a:endParaRPr sz="2100" dirty="0"/>
          </a:p>
          <a:p>
            <a:r>
              <a:rPr sz="2100" dirty="0" smtClean="0"/>
              <a:t>Specific</a:t>
            </a:r>
            <a:r>
              <a:rPr lang="ro-RO" sz="2100" dirty="0" smtClean="0"/>
              <a:t>ă</a:t>
            </a:r>
            <a:r>
              <a:rPr sz="2100" dirty="0" smtClean="0"/>
              <a:t>m </a:t>
            </a:r>
            <a:r>
              <a:rPr sz="2100" dirty="0" err="1" smtClean="0"/>
              <a:t>invarian</a:t>
            </a:r>
            <a:r>
              <a:rPr lang="ro-RO" sz="2100" dirty="0" smtClean="0"/>
              <a:t>ț</a:t>
            </a:r>
            <a:r>
              <a:rPr sz="2100" dirty="0" smtClean="0"/>
              <a:t>i </a:t>
            </a:r>
            <a:r>
              <a:rPr sz="2100" dirty="0" err="1"/>
              <a:t>valabili</a:t>
            </a:r>
            <a:r>
              <a:rPr sz="2100" dirty="0"/>
              <a:t> </a:t>
            </a:r>
            <a:r>
              <a:rPr sz="2100" dirty="0" err="1"/>
              <a:t>pentru</a:t>
            </a:r>
            <a:r>
              <a:rPr sz="2100" dirty="0"/>
              <a:t> </a:t>
            </a:r>
            <a:r>
              <a:rPr sz="2100" dirty="0" err="1"/>
              <a:t>orice</a:t>
            </a:r>
            <a:r>
              <a:rPr sz="2100" dirty="0"/>
              <a:t> </a:t>
            </a:r>
            <a:r>
              <a:rPr sz="2100" dirty="0" err="1"/>
              <a:t>intrare</a:t>
            </a:r>
            <a:endParaRPr sz="2100" dirty="0"/>
          </a:p>
          <a:p>
            <a:r>
              <a:rPr sz="2100" dirty="0" err="1" smtClean="0"/>
              <a:t>Diferen</a:t>
            </a:r>
            <a:r>
              <a:rPr lang="ro-RO" sz="2100" dirty="0" smtClean="0"/>
              <a:t>ț</a:t>
            </a:r>
            <a:r>
              <a:rPr sz="2100" dirty="0" smtClean="0"/>
              <a:t>a-</a:t>
            </a:r>
            <a:r>
              <a:rPr sz="2100" dirty="0" err="1" smtClean="0"/>
              <a:t>cheie</a:t>
            </a:r>
            <a:r>
              <a:rPr sz="2100" dirty="0" smtClean="0"/>
              <a:t> </a:t>
            </a:r>
            <a:r>
              <a:rPr sz="2100" dirty="0" err="1" smtClean="0"/>
              <a:t>fa</a:t>
            </a:r>
            <a:r>
              <a:rPr lang="ro-RO" sz="2100" dirty="0" smtClean="0"/>
              <a:t>ț</a:t>
            </a:r>
            <a:r>
              <a:rPr lang="ro-RO" sz="2100" dirty="0"/>
              <a:t>ă</a:t>
            </a:r>
            <a:r>
              <a:rPr sz="2100" dirty="0" smtClean="0"/>
              <a:t> </a:t>
            </a:r>
            <a:r>
              <a:rPr sz="2100" dirty="0"/>
              <a:t>de </a:t>
            </a:r>
            <a:r>
              <a:rPr sz="2100" dirty="0" err="1"/>
              <a:t>testarea</a:t>
            </a:r>
            <a:r>
              <a:rPr sz="2100" dirty="0"/>
              <a:t> </a:t>
            </a:r>
            <a:r>
              <a:rPr sz="2100" dirty="0" err="1" smtClean="0"/>
              <a:t>clasic</a:t>
            </a:r>
            <a:r>
              <a:rPr lang="ro-RO" sz="2100" dirty="0" smtClean="0"/>
              <a:t>ă</a:t>
            </a:r>
            <a:r>
              <a:rPr sz="2100" dirty="0" smtClean="0"/>
              <a:t>: g</a:t>
            </a:r>
            <a:r>
              <a:rPr lang="ro-RO" sz="2100" dirty="0" smtClean="0"/>
              <a:t>â</a:t>
            </a:r>
            <a:r>
              <a:rPr sz="2100" dirty="0" err="1" smtClean="0"/>
              <a:t>ndim</a:t>
            </a:r>
            <a:r>
              <a:rPr sz="2100" dirty="0" smtClean="0"/>
              <a:t> </a:t>
            </a:r>
            <a:r>
              <a:rPr lang="ro-RO" sz="2100" dirty="0"/>
              <a:t>î</a:t>
            </a:r>
            <a:r>
              <a:rPr sz="2100" dirty="0" smtClean="0"/>
              <a:t>n </a:t>
            </a:r>
            <a:r>
              <a:rPr sz="2100" dirty="0" err="1" smtClean="0"/>
              <a:t>propriet</a:t>
            </a:r>
            <a:r>
              <a:rPr lang="ro-RO" sz="2100" dirty="0" smtClean="0"/>
              <a:t>ăț</a:t>
            </a:r>
            <a:r>
              <a:rPr sz="2100" dirty="0" smtClean="0"/>
              <a:t>i</a:t>
            </a:r>
            <a:r>
              <a:rPr sz="2100" dirty="0"/>
              <a:t>, nu </a:t>
            </a:r>
            <a:r>
              <a:rPr lang="ro-RO" sz="2100" dirty="0" smtClean="0"/>
              <a:t>î</a:t>
            </a:r>
            <a:r>
              <a:rPr sz="2100" dirty="0" smtClean="0"/>
              <a:t>n </a:t>
            </a:r>
            <a:r>
              <a:rPr sz="2100" dirty="0" err="1"/>
              <a:t>cazuri</a:t>
            </a:r>
            <a:r>
              <a:rPr sz="2100" dirty="0"/>
              <a:t> </a:t>
            </a:r>
            <a:r>
              <a:rPr sz="2100" dirty="0" err="1"/>
              <a:t>izolate</a:t>
            </a:r>
            <a:endParaRPr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smtClean="0"/>
              <a:t>Bibliografie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[39] K. </a:t>
            </a:r>
            <a:r>
              <a:rPr lang="en-US" dirty="0" err="1"/>
              <a:t>Claessen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J. Hughes, “</a:t>
            </a:r>
            <a:r>
              <a:rPr lang="en-US" dirty="0" err="1"/>
              <a:t>QuickCheck</a:t>
            </a:r>
            <a:r>
              <a:rPr lang="en-US" dirty="0"/>
              <a:t>: a lightweight tool for random testing of Haskell programs,” in Proceedings of the 5th ACM SIGPLAN International Conference on Functional Programming (ICFP ’00), Montreal, Canada, 2000, pp. 268–279, </a:t>
            </a:r>
            <a:r>
              <a:rPr lang="en-US" dirty="0">
                <a:hlinkClick r:id="rId2"/>
              </a:rPr>
              <a:t>https://dl.acm.org/doi/epdf/10.1145/351240.351266 </a:t>
            </a:r>
            <a:endParaRPr lang="en-US" dirty="0"/>
          </a:p>
          <a:p>
            <a:r>
              <a:rPr lang="en-US" dirty="0"/>
              <a:t>[40] </a:t>
            </a:r>
            <a:r>
              <a:rPr lang="en-US" dirty="0" err="1"/>
              <a:t>QuickCheck</a:t>
            </a:r>
            <a:r>
              <a:rPr lang="en-US" dirty="0"/>
              <a:t> Library Documentation. </a:t>
            </a:r>
            <a:r>
              <a:rPr lang="en-US" dirty="0" err="1"/>
              <a:t>Hackage</a:t>
            </a:r>
            <a:r>
              <a:rPr lang="en-US" dirty="0"/>
              <a:t>. </a:t>
            </a:r>
            <a:r>
              <a:rPr lang="en-US" dirty="0">
                <a:hlinkClick r:id="rId3"/>
              </a:rPr>
              <a:t>https://hackage.haskell.org/package/QuickCheck </a:t>
            </a:r>
            <a:endParaRPr lang="en-US" dirty="0"/>
          </a:p>
          <a:p>
            <a:r>
              <a:rPr lang="en-US" dirty="0"/>
              <a:t>[41] </a:t>
            </a:r>
            <a:r>
              <a:rPr lang="en-US" dirty="0" err="1"/>
              <a:t>QuickCheck</a:t>
            </a:r>
            <a:r>
              <a:rPr lang="en-US" dirty="0"/>
              <a:t>: Automatic Testing (online tutorial). </a:t>
            </a:r>
            <a:r>
              <a:rPr lang="en-US" dirty="0">
                <a:hlinkClick r:id="rId4"/>
              </a:rPr>
              <a:t>https://sulzmann.github.io/ProgrammingParadigms/lec-haskell-testing.html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07961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TWO.pptx" id="{80AA9D2D-EE59-4148-A11E-A51EEE828B28}" vid="{AEAFD717-D3C8-4034-8F7E-D5220B0CCEB8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{2434C647-D8ED-4307-8D52-7F48AD6760D5}TFf0a5ceae-4542-492d-822e-d65a94fb0e1e3b562c5a_win32-009a0557e699</Template>
  <TotalTime>288</TotalTime>
  <Words>2486</Words>
  <Application>Microsoft Office PowerPoint</Application>
  <PresentationFormat>Custom</PresentationFormat>
  <Paragraphs>342</Paragraphs>
  <Slides>27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Custom</vt:lpstr>
      <vt:lpstr>Testarea property-based a modulelor software folosind QuickCheck - Tema 20 – Mini-limbaj aritmetic în Haskell testat cu QuickCheck: 19 proprietăți formale, generatoare custom, shrinking automat</vt:lpstr>
      <vt:lpstr>Cuprinsul prezentării</vt:lpstr>
      <vt:lpstr>De ce avem nevoie de metode formale?</vt:lpstr>
      <vt:lpstr>Testare clasică vs. property-based testing</vt:lpstr>
      <vt:lpstr>Ce este QuickCheck</vt:lpstr>
      <vt:lpstr>Arhitectura modulului testat</vt:lpstr>
      <vt:lpstr>Modulul testat: AST și evaluator</vt:lpstr>
      <vt:lpstr>Evaluatorul: semantica operațională</vt:lpstr>
      <vt:lpstr>Simplificatorul și regulile algebrice</vt:lpstr>
      <vt:lpstr>Pretty + Parser: round-trip semantic</vt:lpstr>
      <vt:lpstr>Generatoarele proprii (de ce contează)</vt:lpstr>
      <vt:lpstr>genExpr, genClosedExpr, genEnvFor</vt:lpstr>
      <vt:lpstr>shrinkExpr: contraexemple minimale</vt:lpstr>
      <vt:lpstr>Cele 19 proprietăți (grupate)</vt:lpstr>
      <vt:lpstr>Output real cu classify</vt:lpstr>
      <vt:lpstr>Analiza: eficiența metodei</vt:lpstr>
      <vt:lpstr>Walkthrough demo din app/Main.hs</vt:lpstr>
      <vt:lpstr>Expr.hs: functii structurale folosite in teste</vt:lpstr>
      <vt:lpstr>Parser.hs: gramatica și precedența operatorilor</vt:lpstr>
      <vt:lpstr>Pretty.hs: reguli de parantezare și precedență</vt:lpstr>
      <vt:lpstr>Spec.hs: infrastructura de rulare a proprietăților</vt:lpstr>
      <vt:lpstr>Rezultate reale din spec.exe (rulare curentă)</vt:lpstr>
      <vt:lpstr>Configurare proiect din fișierul .cabal</vt:lpstr>
      <vt:lpstr>Detalii suplimentare din proiect (implementare/rulare)</vt:lpstr>
      <vt:lpstr>Limitări concrete ale implementării actuale</vt:lpstr>
      <vt:lpstr>Concluzii</vt:lpstr>
      <vt:lpstr>Bibliografie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20 Testarea property-based a modulelor software folosind QuickCheck</dc:title>
  <dc:creator>Nite Alexandru</dc:creator>
  <cp:lastModifiedBy>user</cp:lastModifiedBy>
  <cp:revision>28</cp:revision>
  <dcterms:created xsi:type="dcterms:W3CDTF">2026-04-21T13:52:19Z</dcterms:created>
  <dcterms:modified xsi:type="dcterms:W3CDTF">2026-04-23T00:18:15Z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