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6" r:id="rId5"/>
    <p:sldId id="266" r:id="rId6"/>
    <p:sldId id="267" r:id="rId7"/>
    <p:sldId id="257" r:id="rId8"/>
    <p:sldId id="258" r:id="rId9"/>
    <p:sldId id="268" r:id="rId10"/>
    <p:sldId id="259" r:id="rId11"/>
    <p:sldId id="269" r:id="rId12"/>
    <p:sldId id="270" r:id="rId13"/>
    <p:sldId id="271" r:id="rId14"/>
    <p:sldId id="260" r:id="rId15"/>
    <p:sldId id="272" r:id="rId16"/>
    <p:sldId id="261" r:id="rId17"/>
    <p:sldId id="262" r:id="rId18"/>
    <p:sldId id="263" r:id="rId19"/>
    <p:sldId id="264" r:id="rId20"/>
    <p:sldId id="273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65" r:id="rId30"/>
    <p:sldId id="27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>
        <p:scale>
          <a:sx n="90" d="100"/>
          <a:sy n="90" d="100"/>
        </p:scale>
        <p:origin x="-398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xmlns="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hackage.haskell.org/package/QuickCheck" TargetMode="External"/><Relationship Id="rId2" Type="http://schemas.openxmlformats.org/officeDocument/2006/relationships/hyperlink" Target="https://dl.acm.org/doi/epdf/10.1145/351240.351266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lzmann.github.io/ProgrammingParadigms/lec-haskell-testing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8399" y="1819735"/>
            <a:ext cx="10058400" cy="2423401"/>
          </a:xfrm>
        </p:spPr>
        <p:txBody>
          <a:bodyPr>
            <a:normAutofit/>
          </a:bodyPr>
          <a:lstStyle/>
          <a:p>
            <a:pPr algn="ctr"/>
            <a:r>
              <a:rPr sz="4400" dirty="0" err="1" smtClean="0"/>
              <a:t>Testarea</a:t>
            </a:r>
            <a:r>
              <a:rPr sz="4400" dirty="0" smtClean="0"/>
              <a:t> </a:t>
            </a:r>
            <a:r>
              <a:rPr sz="4400" dirty="0" smtClean="0"/>
              <a:t>property-based</a:t>
            </a:r>
            <a:r>
              <a:rPr lang="ro-RO" sz="4400" dirty="0" smtClean="0"/>
              <a:t> a modulelor software</a:t>
            </a:r>
            <a:r>
              <a:rPr sz="4400" dirty="0" smtClean="0"/>
              <a:t> </a:t>
            </a:r>
            <a:r>
              <a:rPr sz="4400" dirty="0" err="1"/>
              <a:t>folosind</a:t>
            </a:r>
            <a:r>
              <a:rPr sz="4400" dirty="0"/>
              <a:t> </a:t>
            </a:r>
            <a:r>
              <a:rPr sz="4400" dirty="0" err="1" smtClean="0"/>
              <a:t>QuickCheck</a:t>
            </a:r>
            <a:r>
              <a:rPr lang="ro-RO" sz="4400" dirty="0"/>
              <a:t/>
            </a:r>
            <a:br>
              <a:rPr lang="ro-RO" sz="4400" dirty="0"/>
            </a:br>
            <a:r>
              <a:rPr lang="ro-RO" sz="2400" dirty="0" smtClean="0"/>
              <a:t>- Tema 20 –</a:t>
            </a:r>
            <a:br>
              <a:rPr lang="ro-RO" sz="2400" dirty="0" smtClean="0"/>
            </a:br>
            <a:r>
              <a:rPr lang="en-US" sz="2400" dirty="0"/>
              <a:t>Mini-</a:t>
            </a:r>
            <a:r>
              <a:rPr lang="en-US" sz="2400" dirty="0" err="1"/>
              <a:t>limbaj</a:t>
            </a:r>
            <a:r>
              <a:rPr lang="en-US" sz="2400" dirty="0"/>
              <a:t> </a:t>
            </a:r>
            <a:r>
              <a:rPr lang="en-US" sz="2400" dirty="0" err="1"/>
              <a:t>aritmetic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Haskell </a:t>
            </a:r>
            <a:r>
              <a:rPr lang="en-US" sz="2400" dirty="0" err="1"/>
              <a:t>testat</a:t>
            </a:r>
            <a:r>
              <a:rPr lang="en-US" sz="2400" dirty="0"/>
              <a:t> cu </a:t>
            </a:r>
            <a:r>
              <a:rPr lang="en-US" sz="2400" dirty="0" err="1"/>
              <a:t>QuickCheck</a:t>
            </a:r>
            <a:r>
              <a:rPr lang="en-US" sz="2400" dirty="0"/>
              <a:t>: 19 </a:t>
            </a:r>
            <a:r>
              <a:rPr lang="en-US" sz="2400" dirty="0" err="1"/>
              <a:t>proprietăți</a:t>
            </a:r>
            <a:r>
              <a:rPr lang="en-US" sz="2400" dirty="0"/>
              <a:t> </a:t>
            </a:r>
            <a:r>
              <a:rPr lang="en-US" sz="2400" dirty="0" err="1"/>
              <a:t>formale</a:t>
            </a:r>
            <a:r>
              <a:rPr lang="en-US" sz="2400" dirty="0"/>
              <a:t>, </a:t>
            </a:r>
            <a:r>
              <a:rPr lang="en-US" sz="2400" dirty="0" err="1"/>
              <a:t>generatoare</a:t>
            </a:r>
            <a:r>
              <a:rPr lang="en-US" sz="2400" dirty="0"/>
              <a:t> custom, shrinking automat</a:t>
            </a:r>
            <a:endParaRPr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2108" y="4681029"/>
            <a:ext cx="10058400" cy="1143000"/>
          </a:xfrm>
        </p:spPr>
        <p:txBody>
          <a:bodyPr>
            <a:noAutofit/>
          </a:bodyPr>
          <a:lstStyle/>
          <a:p>
            <a:pPr algn="ctr"/>
            <a:r>
              <a:rPr lang="it-IT" sz="1400" spc="-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Metode </a:t>
            </a:r>
            <a:r>
              <a:rPr lang="it-IT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Formale in Ingineria Software</a:t>
            </a:r>
            <a:endParaRPr sz="1400" spc="-5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sz="1400" spc="-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Echipa</a:t>
            </a:r>
            <a:r>
              <a:rPr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MIH</a:t>
            </a:r>
            <a:r>
              <a:rPr lang="ro-RO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ă</a:t>
            </a:r>
            <a:r>
              <a:rPr 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IL</a:t>
            </a:r>
            <a:r>
              <a:rPr lang="ro-RO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ă</a:t>
            </a:r>
            <a:r>
              <a:rPr 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DENISA </a:t>
            </a:r>
            <a:r>
              <a:rPr lang="ro-RO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(352)</a:t>
            </a:r>
            <a:r>
              <a:rPr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Ni</a:t>
            </a:r>
            <a:r>
              <a:rPr lang="ro-RO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ț</a:t>
            </a:r>
            <a:r>
              <a:rPr 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E DAN-ALEXANDRU</a:t>
            </a:r>
            <a:r>
              <a:rPr lang="ro-RO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(344)</a:t>
            </a:r>
            <a:endParaRPr sz="1400" spc="-5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495799" y="168296"/>
            <a:ext cx="3403601" cy="1000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o-RO" sz="1050" spc="-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Universitatea din bucurești</a:t>
            </a:r>
          </a:p>
          <a:p>
            <a:pPr algn="ctr"/>
            <a:r>
              <a:rPr lang="ro-RO" sz="1050" spc="-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Facultatea de matematică și </a:t>
            </a:r>
            <a:r>
              <a:rPr lang="ro-RO" sz="1050" spc="-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informatică</a:t>
            </a:r>
          </a:p>
          <a:p>
            <a:pPr algn="ctr"/>
            <a:r>
              <a:rPr lang="vi-VN" sz="105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Anul universitar 2025-2026</a:t>
            </a:r>
          </a:p>
          <a:p>
            <a:pPr algn="ctr"/>
            <a:endParaRPr lang="vi-VN" sz="1050" spc="-5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 err="1">
                <a:solidFill>
                  <a:srgbClr val="2F3338"/>
                </a:solidFill>
              </a:rPr>
              <a:t>Cuprinsul</a:t>
            </a:r>
            <a:r>
              <a:rPr sz="3500" dirty="0">
                <a:solidFill>
                  <a:srgbClr val="2F3338"/>
                </a:solidFill>
              </a:rPr>
              <a:t> </a:t>
            </a:r>
            <a:r>
              <a:rPr sz="3500" dirty="0" err="1" smtClean="0">
                <a:solidFill>
                  <a:srgbClr val="2F3338"/>
                </a:solidFill>
              </a:rPr>
              <a:t>prezent</a:t>
            </a:r>
            <a:r>
              <a:rPr lang="ro-RO" sz="3500" dirty="0" smtClean="0">
                <a:solidFill>
                  <a:srgbClr val="2F3338"/>
                </a:solidFill>
              </a:rPr>
              <a:t>ă</a:t>
            </a:r>
            <a:r>
              <a:rPr sz="3500" dirty="0" err="1" smtClean="0">
                <a:solidFill>
                  <a:srgbClr val="2F3338"/>
                </a:solidFill>
              </a:rPr>
              <a:t>rii</a:t>
            </a:r>
            <a:endParaRPr sz="3500" dirty="0">
              <a:solidFill>
                <a:srgbClr val="2F3338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0" y="2954867"/>
            <a:ext cx="10058400" cy="23029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4604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3036733"/>
            <a:ext cx="960120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2000" b="1" i="0" dirty="0" err="1">
                <a:solidFill>
                  <a:srgbClr val="2F3338"/>
                </a:solidFill>
                <a:latin typeface="Segoe UI"/>
              </a:rPr>
              <a:t>Problema</a:t>
            </a:r>
            <a:r>
              <a:rPr sz="2000" b="0" i="0" dirty="0">
                <a:solidFill>
                  <a:srgbClr val="2F3338"/>
                </a:solidFill>
                <a:latin typeface="Segoe UI"/>
              </a:rPr>
              <a:t>: de </a:t>
            </a:r>
            <a:r>
              <a:rPr sz="2000" b="0" i="0" dirty="0" err="1">
                <a:solidFill>
                  <a:srgbClr val="2F3338"/>
                </a:solidFill>
                <a:latin typeface="Segoe UI"/>
              </a:rPr>
              <a:t>ce</a:t>
            </a:r>
            <a:r>
              <a:rPr sz="20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2000" b="0" i="0" dirty="0" err="1">
                <a:solidFill>
                  <a:srgbClr val="2F3338"/>
                </a:solidFill>
                <a:latin typeface="Segoe UI"/>
              </a:rPr>
              <a:t>testarea</a:t>
            </a:r>
            <a:r>
              <a:rPr sz="20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2000" b="0" i="0" dirty="0" err="1" smtClean="0">
                <a:solidFill>
                  <a:srgbClr val="2F3338"/>
                </a:solidFill>
                <a:latin typeface="Segoe UI"/>
              </a:rPr>
              <a:t>clasic</a:t>
            </a:r>
            <a:r>
              <a:rPr lang="ro-RO" sz="20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20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2000" b="0" i="0" dirty="0">
                <a:solidFill>
                  <a:srgbClr val="2F3338"/>
                </a:solidFill>
                <a:latin typeface="Segoe UI"/>
              </a:rPr>
              <a:t>nu </a:t>
            </a:r>
            <a:r>
              <a:rPr sz="2000" b="0" i="0" dirty="0" err="1">
                <a:solidFill>
                  <a:srgbClr val="2F3338"/>
                </a:solidFill>
                <a:latin typeface="Segoe UI"/>
              </a:rPr>
              <a:t>este</a:t>
            </a:r>
            <a:r>
              <a:rPr sz="20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2000" b="0" i="0" dirty="0" err="1" smtClean="0">
                <a:solidFill>
                  <a:srgbClr val="2F3338"/>
                </a:solidFill>
                <a:latin typeface="Segoe UI"/>
              </a:rPr>
              <a:t>suficient</a:t>
            </a:r>
            <a:r>
              <a:rPr lang="ro-RO" sz="2000" b="0" i="0" dirty="0" smtClean="0">
                <a:solidFill>
                  <a:srgbClr val="2F3338"/>
                </a:solidFill>
                <a:latin typeface="Segoe UI"/>
              </a:rPr>
              <a:t>ă</a:t>
            </a:r>
            <a:endParaRPr sz="20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2000" b="1" i="0" dirty="0" err="1">
                <a:solidFill>
                  <a:srgbClr val="2F3338"/>
                </a:solidFill>
                <a:latin typeface="Segoe UI"/>
              </a:rPr>
              <a:t>QuickCheck</a:t>
            </a:r>
            <a:r>
              <a:rPr sz="2000" b="0" i="0" dirty="0">
                <a:solidFill>
                  <a:srgbClr val="2F3338"/>
                </a:solidFill>
                <a:latin typeface="Segoe UI"/>
              </a:rPr>
              <a:t>: </a:t>
            </a:r>
            <a:r>
              <a:rPr sz="2000" b="0" i="0" dirty="0" err="1">
                <a:solidFill>
                  <a:srgbClr val="2F3338"/>
                </a:solidFill>
                <a:latin typeface="Segoe UI"/>
              </a:rPr>
              <a:t>concepte</a:t>
            </a:r>
            <a:r>
              <a:rPr sz="2000" b="0" i="0" dirty="0">
                <a:solidFill>
                  <a:srgbClr val="2F3338"/>
                </a:solidFill>
                <a:latin typeface="Segoe UI"/>
              </a:rPr>
              <a:t>, </a:t>
            </a:r>
            <a:r>
              <a:rPr sz="2000" b="0" i="0" dirty="0" err="1">
                <a:solidFill>
                  <a:srgbClr val="2F3338"/>
                </a:solidFill>
                <a:latin typeface="Segoe UI"/>
              </a:rPr>
              <a:t>generare</a:t>
            </a:r>
            <a:r>
              <a:rPr sz="2000" b="0" i="0" dirty="0">
                <a:solidFill>
                  <a:srgbClr val="2F3338"/>
                </a:solidFill>
                <a:latin typeface="Segoe UI"/>
              </a:rPr>
              <a:t>, shrink, classify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2000" b="1" i="0" dirty="0" err="1">
                <a:solidFill>
                  <a:srgbClr val="2F3338"/>
                </a:solidFill>
                <a:latin typeface="Segoe UI"/>
              </a:rPr>
              <a:t>Arhitectura</a:t>
            </a:r>
            <a:r>
              <a:rPr sz="2000" b="1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2000" b="1" i="0" dirty="0" err="1">
                <a:solidFill>
                  <a:srgbClr val="2F3338"/>
                </a:solidFill>
                <a:latin typeface="Segoe UI"/>
              </a:rPr>
              <a:t>modulului</a:t>
            </a:r>
            <a:r>
              <a:rPr sz="2000" b="0" i="0" dirty="0">
                <a:solidFill>
                  <a:srgbClr val="2F3338"/>
                </a:solidFill>
                <a:latin typeface="Segoe UI"/>
              </a:rPr>
              <a:t>: AST, evaluator, </a:t>
            </a:r>
            <a:r>
              <a:rPr sz="2000" b="0" i="0" dirty="0" err="1">
                <a:solidFill>
                  <a:srgbClr val="2F3338"/>
                </a:solidFill>
                <a:latin typeface="Segoe UI"/>
              </a:rPr>
              <a:t>simplificator</a:t>
            </a:r>
            <a:r>
              <a:rPr sz="2000" b="0" i="0" dirty="0">
                <a:solidFill>
                  <a:srgbClr val="2F3338"/>
                </a:solidFill>
                <a:latin typeface="Segoe UI"/>
              </a:rPr>
              <a:t>, parser/pretty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2000" b="1" i="0" dirty="0" err="1">
                <a:solidFill>
                  <a:srgbClr val="2F3338"/>
                </a:solidFill>
                <a:latin typeface="Segoe UI"/>
              </a:rPr>
              <a:t>Generatoare</a:t>
            </a:r>
            <a:r>
              <a:rPr sz="2000" b="1" i="0" dirty="0">
                <a:solidFill>
                  <a:srgbClr val="2F3338"/>
                </a:solidFill>
                <a:latin typeface="Segoe UI"/>
              </a:rPr>
              <a:t> custom</a:t>
            </a:r>
            <a:r>
              <a:rPr sz="2000" b="0" i="0" dirty="0">
                <a:solidFill>
                  <a:srgbClr val="2F3338"/>
                </a:solidFill>
                <a:latin typeface="Segoe UI"/>
              </a:rPr>
              <a:t>: </a:t>
            </a:r>
            <a:r>
              <a:rPr sz="2000" b="0" i="0" dirty="0" err="1">
                <a:solidFill>
                  <a:srgbClr val="2F3338"/>
                </a:solidFill>
                <a:latin typeface="Segoe UI"/>
              </a:rPr>
              <a:t>genSmallInt</a:t>
            </a:r>
            <a:r>
              <a:rPr sz="2000" b="0" i="0" dirty="0">
                <a:solidFill>
                  <a:srgbClr val="2F3338"/>
                </a:solidFill>
                <a:latin typeface="Segoe UI"/>
              </a:rPr>
              <a:t>, </a:t>
            </a:r>
            <a:r>
              <a:rPr sz="2000" b="0" i="0" dirty="0" err="1">
                <a:solidFill>
                  <a:srgbClr val="2F3338"/>
                </a:solidFill>
                <a:latin typeface="Segoe UI"/>
              </a:rPr>
              <a:t>genExpr</a:t>
            </a:r>
            <a:r>
              <a:rPr sz="2000" b="0" i="0" dirty="0">
                <a:solidFill>
                  <a:srgbClr val="2F3338"/>
                </a:solidFill>
                <a:latin typeface="Segoe UI"/>
              </a:rPr>
              <a:t>, </a:t>
            </a:r>
            <a:r>
              <a:rPr sz="2000" b="0" i="0" dirty="0" err="1">
                <a:solidFill>
                  <a:srgbClr val="2F3338"/>
                </a:solidFill>
                <a:latin typeface="Segoe UI"/>
              </a:rPr>
              <a:t>genClosedExpr</a:t>
            </a:r>
            <a:r>
              <a:rPr sz="2000" b="0" i="0" dirty="0">
                <a:solidFill>
                  <a:srgbClr val="2F3338"/>
                </a:solidFill>
                <a:latin typeface="Segoe UI"/>
              </a:rPr>
              <a:t>, </a:t>
            </a:r>
            <a:r>
              <a:rPr sz="2000" b="0" i="0" dirty="0" err="1">
                <a:solidFill>
                  <a:srgbClr val="2F3338"/>
                </a:solidFill>
                <a:latin typeface="Segoe UI"/>
              </a:rPr>
              <a:t>genEnvFor</a:t>
            </a:r>
            <a:endParaRPr sz="20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2000" b="1" i="0" dirty="0" smtClean="0">
                <a:solidFill>
                  <a:srgbClr val="2F3338"/>
                </a:solidFill>
                <a:latin typeface="Segoe UI"/>
              </a:rPr>
              <a:t>1</a:t>
            </a:r>
            <a:r>
              <a:rPr lang="ro-RO" sz="2000" b="1" i="0" dirty="0" smtClean="0">
                <a:solidFill>
                  <a:srgbClr val="2F3338"/>
                </a:solidFill>
                <a:latin typeface="Segoe UI"/>
              </a:rPr>
              <a:t>9</a:t>
            </a:r>
            <a:r>
              <a:rPr sz="2000" b="1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2000" b="1" i="0" dirty="0" err="1" smtClean="0">
                <a:solidFill>
                  <a:srgbClr val="2F3338"/>
                </a:solidFill>
                <a:latin typeface="Segoe UI"/>
              </a:rPr>
              <a:t>propriet</a:t>
            </a:r>
            <a:r>
              <a:rPr lang="ro-RO" sz="2000" b="1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lang="ro-RO" sz="2000" b="1" dirty="0">
                <a:solidFill>
                  <a:srgbClr val="2F3338"/>
                </a:solidFill>
                <a:latin typeface="Segoe UI"/>
              </a:rPr>
              <a:t>ț</a:t>
            </a:r>
            <a:r>
              <a:rPr sz="2000" b="1" i="0" dirty="0" smtClean="0">
                <a:solidFill>
                  <a:srgbClr val="2F3338"/>
                </a:solidFill>
                <a:latin typeface="Segoe UI"/>
              </a:rPr>
              <a:t>i </a:t>
            </a:r>
            <a:r>
              <a:rPr sz="2000" b="1" i="0" dirty="0" err="1">
                <a:solidFill>
                  <a:srgbClr val="2F3338"/>
                </a:solidFill>
                <a:latin typeface="Segoe UI"/>
              </a:rPr>
              <a:t>formale</a:t>
            </a:r>
            <a:r>
              <a:rPr sz="2000" b="1" i="0" dirty="0">
                <a:solidFill>
                  <a:srgbClr val="2F3338"/>
                </a:solidFill>
                <a:latin typeface="Segoe UI"/>
              </a:rPr>
              <a:t> </a:t>
            </a:r>
            <a:r>
              <a:rPr lang="ro-RO" sz="2000" dirty="0" err="1">
                <a:solidFill>
                  <a:srgbClr val="2F3338"/>
                </a:solidFill>
                <a:latin typeface="Segoe UI"/>
              </a:rPr>
              <a:t>ș</a:t>
            </a:r>
            <a:r>
              <a:rPr sz="2000" b="0" i="0" dirty="0" smtClean="0">
                <a:solidFill>
                  <a:srgbClr val="2F3338"/>
                </a:solidFill>
                <a:latin typeface="Segoe UI"/>
              </a:rPr>
              <a:t>i </a:t>
            </a:r>
            <a:r>
              <a:rPr sz="2000" b="0" i="0" dirty="0" err="1">
                <a:solidFill>
                  <a:srgbClr val="2F3338"/>
                </a:solidFill>
                <a:latin typeface="Segoe UI"/>
              </a:rPr>
              <a:t>rezultatele</a:t>
            </a:r>
            <a:r>
              <a:rPr sz="20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2000" b="0" i="0" dirty="0" err="1">
                <a:solidFill>
                  <a:srgbClr val="2F3338"/>
                </a:solidFill>
                <a:latin typeface="Segoe UI"/>
              </a:rPr>
              <a:t>experimentale</a:t>
            </a:r>
            <a:endParaRPr sz="20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2000" b="1" i="0" dirty="0" err="1">
                <a:solidFill>
                  <a:srgbClr val="2F3338"/>
                </a:solidFill>
                <a:latin typeface="Segoe UI"/>
              </a:rPr>
              <a:t>Avantaje</a:t>
            </a:r>
            <a:r>
              <a:rPr sz="2000" b="1" i="0" dirty="0">
                <a:solidFill>
                  <a:srgbClr val="2F3338"/>
                </a:solidFill>
                <a:latin typeface="Segoe UI"/>
              </a:rPr>
              <a:t>, </a:t>
            </a:r>
            <a:r>
              <a:rPr sz="2000" b="1" i="0" dirty="0" smtClean="0">
                <a:solidFill>
                  <a:srgbClr val="2F3338"/>
                </a:solidFill>
                <a:latin typeface="Segoe UI"/>
              </a:rPr>
              <a:t>limit</a:t>
            </a:r>
            <a:r>
              <a:rPr lang="ro-RO" sz="2000" b="1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2000" b="1" i="0" dirty="0" err="1" smtClean="0">
                <a:solidFill>
                  <a:srgbClr val="2F3338"/>
                </a:solidFill>
                <a:latin typeface="Segoe UI"/>
              </a:rPr>
              <a:t>ri</a:t>
            </a:r>
            <a:r>
              <a:rPr sz="2000" b="1" i="0" dirty="0">
                <a:solidFill>
                  <a:srgbClr val="2F3338"/>
                </a:solidFill>
                <a:latin typeface="Segoe UI"/>
              </a:rPr>
              <a:t>, </a:t>
            </a:r>
            <a:r>
              <a:rPr lang="ro-RO" sz="2000" b="1" dirty="0" smtClean="0">
                <a:solidFill>
                  <a:srgbClr val="2F3338"/>
                </a:solidFill>
                <a:latin typeface="Segoe UI"/>
              </a:rPr>
              <a:t>ș</a:t>
            </a:r>
            <a:r>
              <a:rPr sz="2000" b="1" i="0" dirty="0" smtClean="0">
                <a:solidFill>
                  <a:srgbClr val="2F3338"/>
                </a:solidFill>
                <a:latin typeface="Segoe UI"/>
              </a:rPr>
              <a:t>i </a:t>
            </a:r>
            <a:r>
              <a:rPr sz="2000" b="1" i="0" dirty="0" err="1">
                <a:solidFill>
                  <a:srgbClr val="2F3338"/>
                </a:solidFill>
                <a:latin typeface="Segoe UI"/>
              </a:rPr>
              <a:t>concluzii</a:t>
            </a:r>
            <a:endParaRPr sz="2000" b="1" i="0" dirty="0">
              <a:solidFill>
                <a:srgbClr val="2F333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500" dirty="0" smtClean="0">
                <a:solidFill>
                  <a:srgbClr val="2F3338"/>
                </a:solidFill>
              </a:rPr>
              <a:t>De </a:t>
            </a:r>
            <a:r>
              <a:rPr sz="3500" dirty="0" err="1" smtClean="0">
                <a:solidFill>
                  <a:srgbClr val="2F3338"/>
                </a:solidFill>
              </a:rPr>
              <a:t>ce</a:t>
            </a:r>
            <a:r>
              <a:rPr sz="3500" dirty="0" smtClean="0">
                <a:solidFill>
                  <a:srgbClr val="2F3338"/>
                </a:solidFill>
              </a:rPr>
              <a:t> </a:t>
            </a:r>
            <a:r>
              <a:rPr sz="3500" dirty="0" err="1">
                <a:solidFill>
                  <a:srgbClr val="2F3338"/>
                </a:solidFill>
              </a:rPr>
              <a:t>avem</a:t>
            </a:r>
            <a:r>
              <a:rPr sz="3500" dirty="0">
                <a:solidFill>
                  <a:srgbClr val="2F3338"/>
                </a:solidFill>
              </a:rPr>
              <a:t> </a:t>
            </a:r>
            <a:r>
              <a:rPr sz="3500" dirty="0" err="1">
                <a:solidFill>
                  <a:srgbClr val="2F3338"/>
                </a:solidFill>
              </a:rPr>
              <a:t>nevoie</a:t>
            </a:r>
            <a:r>
              <a:rPr sz="3500" dirty="0">
                <a:solidFill>
                  <a:srgbClr val="2F3338"/>
                </a:solidFill>
              </a:rPr>
              <a:t> de </a:t>
            </a:r>
            <a:r>
              <a:rPr sz="3500" dirty="0" err="1">
                <a:solidFill>
                  <a:srgbClr val="2F3338"/>
                </a:solidFill>
              </a:rPr>
              <a:t>metode</a:t>
            </a:r>
            <a:r>
              <a:rPr sz="3500" dirty="0">
                <a:solidFill>
                  <a:srgbClr val="2F3338"/>
                </a:solidFill>
              </a:rPr>
              <a:t> </a:t>
            </a:r>
            <a:r>
              <a:rPr sz="3500" dirty="0" err="1" smtClean="0">
                <a:solidFill>
                  <a:srgbClr val="2F3338"/>
                </a:solidFill>
              </a:rPr>
              <a:t>formale</a:t>
            </a:r>
            <a:r>
              <a:rPr lang="ro-RO" sz="3500" dirty="0" smtClean="0">
                <a:solidFill>
                  <a:srgbClr val="2F3338"/>
                </a:solidFill>
              </a:rPr>
              <a:t>?</a:t>
            </a:r>
            <a:endParaRPr sz="3500" dirty="0">
              <a:solidFill>
                <a:srgbClr val="2F3338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79" y="2001520"/>
            <a:ext cx="9917853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ro-RO" sz="1600" dirty="0">
                <a:solidFill>
                  <a:srgbClr val="2F3338"/>
                </a:solidFill>
                <a:latin typeface="Segoe UI"/>
              </a:rPr>
              <a:t>Î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n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proiecte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reale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codul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poate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p</a:t>
            </a:r>
            <a:r>
              <a:rPr lang="ro-RO" sz="1600" dirty="0">
                <a:solidFill>
                  <a:srgbClr val="2F3338"/>
                </a:solidFill>
                <a:latin typeface="Segoe UI"/>
              </a:rPr>
              <a:t>ă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rea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corect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pe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exemplele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alese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manual,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dar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s</a:t>
            </a:r>
            <a:r>
              <a:rPr lang="ro-RO" sz="1600" dirty="0">
                <a:solidFill>
                  <a:srgbClr val="2F3338"/>
                </a:solidFill>
                <a:latin typeface="Segoe UI"/>
              </a:rPr>
              <a:t>ă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e</a:t>
            </a:r>
            <a:r>
              <a:rPr lang="ro-RO" sz="1600" dirty="0">
                <a:solidFill>
                  <a:srgbClr val="2F3338"/>
                </a:solidFill>
                <a:latin typeface="Segoe UI"/>
              </a:rPr>
              <a:t>ș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ueze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pe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cazuri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limit</a:t>
            </a:r>
            <a:r>
              <a:rPr lang="ro-RO" sz="1600" dirty="0">
                <a:solidFill>
                  <a:srgbClr val="2F3338"/>
                </a:solidFill>
                <a:latin typeface="Segoe UI"/>
              </a:rPr>
              <a:t>ă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2F3338"/>
                </a:solidFill>
                <a:latin typeface="Segoe UI"/>
              </a:rPr>
              <a:t>Metodele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formale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ne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ajut</a:t>
            </a:r>
            <a:r>
              <a:rPr lang="ro-RO" sz="1600" dirty="0">
                <a:solidFill>
                  <a:srgbClr val="2F3338"/>
                </a:solidFill>
                <a:latin typeface="Segoe UI"/>
              </a:rPr>
              <a:t>ă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s</a:t>
            </a:r>
            <a:r>
              <a:rPr lang="ro-RO" sz="1600" dirty="0">
                <a:solidFill>
                  <a:srgbClr val="2F3338"/>
                </a:solidFill>
                <a:latin typeface="Segoe UI"/>
              </a:rPr>
              <a:t>ă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definim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clar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ce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lang="ro-RO" sz="1600" dirty="0">
                <a:solidFill>
                  <a:srgbClr val="2F3338"/>
                </a:solidFill>
                <a:latin typeface="Segoe UI"/>
              </a:rPr>
              <a:t>î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nseamn</a:t>
            </a:r>
            <a:r>
              <a:rPr lang="ro-RO" sz="1600" dirty="0">
                <a:solidFill>
                  <a:srgbClr val="2F3338"/>
                </a:solidFill>
                <a:latin typeface="Segoe UI"/>
              </a:rPr>
              <a:t>ă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corectitudinea</a:t>
            </a:r>
            <a:r>
              <a:rPr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2F3338"/>
                </a:solidFill>
                <a:latin typeface="Segoe UI"/>
              </a:rPr>
              <a:t>sistemulu</a:t>
            </a:r>
            <a:r>
              <a:rPr lang="ro-RO" sz="1600" dirty="0">
                <a:solidFill>
                  <a:srgbClr val="2F3338"/>
                </a:solidFill>
                <a:latin typeface="Segoe UI"/>
              </a:rPr>
              <a:t>i.</a:t>
            </a:r>
          </a:p>
          <a:p>
            <a:pPr>
              <a:spcAft>
                <a:spcPts val="200"/>
              </a:spcAft>
            </a:pPr>
            <a:r>
              <a:rPr lang="it-IT" sz="1600" dirty="0">
                <a:solidFill>
                  <a:srgbClr val="2F3338"/>
                </a:solidFill>
                <a:latin typeface="Segoe UI"/>
              </a:rPr>
              <a:t>Metodele formale ne permit să:</a:t>
            </a:r>
            <a:endParaRPr sz="1600" dirty="0">
              <a:solidFill>
                <a:srgbClr val="2F3338"/>
              </a:solidFill>
              <a:latin typeface="Segoe U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97280" y="2946400"/>
            <a:ext cx="10058400" cy="17228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4604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49679" y="3022600"/>
            <a:ext cx="9833188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itchFamily="34" charset="0"/>
              <a:buChar char="•"/>
            </a:pPr>
            <a:r>
              <a:rPr lang="ro-RO" sz="1600" dirty="0" smtClean="0">
                <a:solidFill>
                  <a:srgbClr val="2F3338"/>
                </a:solidFill>
                <a:latin typeface="Segoe UI"/>
              </a:rPr>
              <a:t>Definim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propriet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lang="ro-RO" sz="1600" dirty="0">
                <a:solidFill>
                  <a:srgbClr val="2F3338"/>
                </a:solidFill>
                <a:latin typeface="Segoe UI"/>
              </a:rPr>
              <a:t>ț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i 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care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trebuie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s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lang="ro-RO" sz="1600" dirty="0" smtClean="0">
                <a:solidFill>
                  <a:srgbClr val="2F3338"/>
                </a:solidFill>
                <a:latin typeface="Segoe UI"/>
              </a:rPr>
              <a:t>r</a:t>
            </a:r>
            <a:r>
              <a:rPr lang="ro-RO" sz="1600" dirty="0">
                <a:solidFill>
                  <a:srgbClr val="2F3338"/>
                </a:solidFill>
                <a:latin typeface="Segoe UI"/>
              </a:rPr>
              <a:t>ă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m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â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n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adevarate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pentru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orice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intrare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 (</a:t>
            </a:r>
            <a:r>
              <a:rPr lang="vi-VN" sz="1600" dirty="0">
                <a:solidFill>
                  <a:srgbClr val="2F3338"/>
                </a:solidFill>
                <a:latin typeface="Segoe UI"/>
              </a:rPr>
              <a:t>ex: simplify nu schimbă niciodată valoarea </a:t>
            </a:r>
            <a:r>
              <a:rPr lang="vi-VN" sz="1600" dirty="0" smtClean="0">
                <a:solidFill>
                  <a:srgbClr val="2F3338"/>
                </a:solidFill>
                <a:latin typeface="Segoe UI"/>
              </a:rPr>
              <a:t>expresiei</a:t>
            </a:r>
            <a:r>
              <a:rPr lang="ro-RO" sz="1600" dirty="0" smtClean="0">
                <a:solidFill>
                  <a:srgbClr val="2F3338"/>
                </a:solidFill>
                <a:latin typeface="Segoe UI"/>
              </a:rPr>
              <a:t>)</a:t>
            </a:r>
            <a:endParaRPr sz="1600" b="0" i="0" dirty="0">
              <a:solidFill>
                <a:srgbClr val="2F3338"/>
              </a:solidFill>
              <a:latin typeface="Segoe UI"/>
            </a:endParaRPr>
          </a:p>
          <a:p>
            <a:pPr marL="285750" indent="-285750">
              <a:spcAft>
                <a:spcPts val="200"/>
              </a:spcAft>
              <a:buFont typeface="Arial" pitchFamily="34" charset="0"/>
              <a:buChar char="•"/>
            </a:pPr>
            <a:r>
              <a:rPr lang="ro-RO" sz="1600" dirty="0" smtClean="0">
                <a:solidFill>
                  <a:srgbClr val="2F3338"/>
                </a:solidFill>
                <a:latin typeface="Segoe UI"/>
              </a:rPr>
              <a:t>Garantăm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invarian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ț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i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semantici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dup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transform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ri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(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ex: simplify(simplify(e)) == simplify(e)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)</a:t>
            </a:r>
            <a:endParaRPr sz="1600" b="0" i="0" dirty="0">
              <a:solidFill>
                <a:srgbClr val="2F3338"/>
              </a:solidFill>
              <a:latin typeface="Segoe UI"/>
            </a:endParaRPr>
          </a:p>
          <a:p>
            <a:pPr marL="285750" indent="-285750">
              <a:spcAft>
                <a:spcPts val="200"/>
              </a:spcAft>
              <a:buFont typeface="Arial" pitchFamily="34" charset="0"/>
              <a:buChar char="•"/>
            </a:pPr>
            <a:r>
              <a:rPr lang="ro-RO" sz="1600" dirty="0" smtClean="0">
                <a:solidFill>
                  <a:srgbClr val="2F3338"/>
                </a:solidFill>
                <a:latin typeface="Segoe UI"/>
              </a:rPr>
              <a:t>Verificăm comportamentul parserului și evaluatorului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 (ex: </a:t>
            </a:r>
            <a:r>
              <a:rPr lang="it-IT" sz="1600" dirty="0" smtClean="0">
                <a:solidFill>
                  <a:srgbClr val="2F3338"/>
                </a:solidFill>
                <a:latin typeface="Segoe UI"/>
              </a:rPr>
              <a:t>parse(pretty(e</a:t>
            </a:r>
            <a:r>
              <a:rPr lang="it-IT" sz="1600" dirty="0">
                <a:solidFill>
                  <a:srgbClr val="2F3338"/>
                </a:solidFill>
                <a:latin typeface="Segoe UI"/>
              </a:rPr>
              <a:t>)) evaluează identic cu </a:t>
            </a:r>
            <a:r>
              <a:rPr lang="it-IT" sz="1600" dirty="0" smtClean="0">
                <a:solidFill>
                  <a:srgbClr val="2F3338"/>
                </a:solidFill>
                <a:latin typeface="Segoe UI"/>
              </a:rPr>
              <a:t>e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)</a:t>
            </a:r>
            <a:endParaRPr sz="1600" b="0" i="0" dirty="0" smtClean="0">
              <a:solidFill>
                <a:srgbClr val="2F3338"/>
              </a:solidFill>
              <a:latin typeface="Segoe UI"/>
            </a:endParaRPr>
          </a:p>
          <a:p>
            <a:pPr marL="285750" indent="-285750">
              <a:spcAft>
                <a:spcPts val="200"/>
              </a:spcAft>
              <a:buFont typeface="Arial" pitchFamily="34" charset="0"/>
              <a:buChar char="•"/>
            </a:pPr>
            <a:r>
              <a:rPr lang="ro-RO" sz="1600" dirty="0">
                <a:solidFill>
                  <a:srgbClr val="2F3338"/>
                </a:solidFill>
                <a:latin typeface="Segoe UI"/>
              </a:rPr>
              <a:t>Acoperim automat sute de cazuri, nu doar exemple izolate 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(ex: </a:t>
            </a:r>
            <a:r>
              <a:rPr lang="vi-VN" sz="1600" dirty="0" smtClean="0">
                <a:solidFill>
                  <a:srgbClr val="2F3338"/>
                </a:solidFill>
                <a:latin typeface="Segoe UI"/>
              </a:rPr>
              <a:t>QuickCheck </a:t>
            </a:r>
            <a:r>
              <a:rPr lang="vi-VN" sz="1600" dirty="0">
                <a:solidFill>
                  <a:srgbClr val="2F3338"/>
                </a:solidFill>
                <a:latin typeface="Segoe UI"/>
              </a:rPr>
              <a:t>generează automat 120 de expresii per proprietate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)</a:t>
            </a:r>
            <a:endParaRPr sz="1600" b="0" i="0" dirty="0">
              <a:solidFill>
                <a:srgbClr val="2F333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6454984" y="2784787"/>
            <a:ext cx="5305215" cy="2235946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dirty="0" err="1">
                <a:solidFill>
                  <a:schemeClr val="tx1"/>
                </a:solidFill>
              </a:rPr>
              <a:t>Testare</a:t>
            </a:r>
            <a:r>
              <a:rPr sz="3400" dirty="0">
                <a:solidFill>
                  <a:schemeClr val="tx1"/>
                </a:solidFill>
              </a:rPr>
              <a:t> </a:t>
            </a:r>
            <a:r>
              <a:rPr sz="3400" dirty="0" err="1" smtClean="0">
                <a:solidFill>
                  <a:schemeClr val="tx1"/>
                </a:solidFill>
              </a:rPr>
              <a:t>clasic</a:t>
            </a:r>
            <a:r>
              <a:rPr lang="ro-RO" sz="3400" dirty="0" smtClean="0">
                <a:solidFill>
                  <a:schemeClr val="tx1"/>
                </a:solidFill>
              </a:rPr>
              <a:t>ă</a:t>
            </a:r>
            <a:r>
              <a:rPr sz="3400" dirty="0" smtClean="0">
                <a:solidFill>
                  <a:schemeClr val="tx1"/>
                </a:solidFill>
              </a:rPr>
              <a:t> </a:t>
            </a:r>
            <a:r>
              <a:rPr sz="3400" dirty="0">
                <a:solidFill>
                  <a:schemeClr val="tx1"/>
                </a:solidFill>
              </a:rPr>
              <a:t>vs. property-based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1F4E79"/>
                </a:solidFill>
                <a:latin typeface="Segoe UI"/>
              </a:rPr>
              <a:t>Testare</a:t>
            </a:r>
            <a:r>
              <a:rPr lang="en-US" sz="2400" b="1" dirty="0">
                <a:solidFill>
                  <a:srgbClr val="1F4E79"/>
                </a:solidFill>
                <a:latin typeface="Segoe UI"/>
              </a:rPr>
              <a:t> </a:t>
            </a:r>
            <a:r>
              <a:rPr lang="en-US" sz="2400" b="1" dirty="0" err="1" smtClean="0">
                <a:solidFill>
                  <a:srgbClr val="1F4E79"/>
                </a:solidFill>
                <a:latin typeface="Segoe UI"/>
              </a:rPr>
              <a:t>clasic</a:t>
            </a:r>
            <a:r>
              <a:rPr lang="ro-RO" sz="2400" b="1" dirty="0" smtClean="0">
                <a:solidFill>
                  <a:srgbClr val="1F4E79"/>
                </a:solidFill>
                <a:latin typeface="Segoe UI"/>
              </a:rPr>
              <a:t>ă</a:t>
            </a:r>
            <a:endParaRPr lang="en-US" sz="2400" b="1" dirty="0">
              <a:solidFill>
                <a:srgbClr val="1F4E79"/>
              </a:solidFill>
              <a:latin typeface="Segoe UI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1F4E79"/>
                </a:solidFill>
                <a:latin typeface="Segoe UI"/>
              </a:rPr>
              <a:t>Property-based testing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3" y="2958273"/>
            <a:ext cx="5244255" cy="2910821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1" dirty="0" err="1">
                <a:solidFill>
                  <a:srgbClr val="4EC9B0"/>
                </a:solidFill>
                <a:latin typeface="Consolas"/>
              </a:rPr>
              <a:t>Proprietate</a:t>
            </a:r>
            <a:r>
              <a:rPr lang="en-US" sz="1400" b="1" dirty="0">
                <a:solidFill>
                  <a:srgbClr val="4EC9B0"/>
                </a:solidFill>
                <a:latin typeface="Consolas"/>
              </a:rPr>
              <a:t> </a:t>
            </a:r>
            <a:r>
              <a:rPr lang="en-US" sz="1400" b="1" dirty="0" smtClean="0">
                <a:solidFill>
                  <a:srgbClr val="4EC9B0"/>
                </a:solidFill>
                <a:latin typeface="Consolas"/>
              </a:rPr>
              <a:t>general</a:t>
            </a:r>
            <a:r>
              <a:rPr lang="ro-RO" sz="1400" b="1" dirty="0" smtClean="0">
                <a:solidFill>
                  <a:srgbClr val="4EC9B0"/>
                </a:solidFill>
                <a:latin typeface="Consolas"/>
              </a:rPr>
              <a:t>ă</a:t>
            </a:r>
            <a:endParaRPr lang="en-US" sz="1400" b="1" dirty="0">
              <a:solidFill>
                <a:srgbClr val="4EC9B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 </a:t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err="1">
                <a:solidFill>
                  <a:srgbClr val="569CD6"/>
                </a:solidFill>
                <a:latin typeface="Consolas"/>
              </a:rPr>
              <a:t>prop_addCommutative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 :: </a:t>
            </a:r>
            <a:r>
              <a:rPr lang="en-US" sz="1400" dirty="0" err="1">
                <a:solidFill>
                  <a:srgbClr val="569CD6"/>
                </a:solidFill>
                <a:latin typeface="Consolas"/>
              </a:rPr>
              <a:t>Expr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 -&gt; </a:t>
            </a:r>
            <a:r>
              <a:rPr lang="en-US" sz="1400" dirty="0" err="1">
                <a:solidFill>
                  <a:srgbClr val="569CD6"/>
                </a:solidFill>
                <a:latin typeface="Consolas"/>
              </a:rPr>
              <a:t>Expr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 -&gt; Property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 err="1">
                <a:solidFill>
                  <a:srgbClr val="569CD6"/>
                </a:solidFill>
                <a:latin typeface="Consolas"/>
              </a:rPr>
              <a:t>prop_addCommutative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 a b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569CD6"/>
                </a:solidFill>
                <a:latin typeface="Consolas"/>
              </a:rPr>
              <a:t>  classify (size a + size b &lt;= 3) "</a:t>
            </a:r>
            <a:r>
              <a:rPr lang="en-US" sz="1400" dirty="0" err="1">
                <a:solidFill>
                  <a:srgbClr val="569CD6"/>
                </a:solidFill>
                <a:latin typeface="Consolas"/>
              </a:rPr>
              <a:t>expresii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569CD6"/>
                </a:solidFill>
                <a:latin typeface="Consolas"/>
              </a:rPr>
              <a:t>mici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" $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569CD6"/>
                </a:solidFill>
                <a:latin typeface="Consolas"/>
              </a:rPr>
              <a:t>  classify (size a + size b &gt; 8) "</a:t>
            </a:r>
            <a:r>
              <a:rPr lang="en-US" sz="1400" dirty="0" err="1">
                <a:solidFill>
                  <a:srgbClr val="569CD6"/>
                </a:solidFill>
                <a:latin typeface="Consolas"/>
              </a:rPr>
              <a:t>expresii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569CD6"/>
                </a:solidFill>
                <a:latin typeface="Consolas"/>
              </a:rPr>
              <a:t>mari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" $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569CD6"/>
                </a:solidFill>
                <a:latin typeface="Consolas"/>
              </a:rPr>
              <a:t>  </a:t>
            </a:r>
            <a:r>
              <a:rPr lang="en-US" sz="1400" dirty="0" err="1">
                <a:solidFill>
                  <a:srgbClr val="569CD6"/>
                </a:solidFill>
                <a:latin typeface="Consolas"/>
              </a:rPr>
              <a:t>withEnv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 (Add a b) $ \</a:t>
            </a:r>
            <a:r>
              <a:rPr lang="en-US" sz="1400" dirty="0" err="1">
                <a:solidFill>
                  <a:srgbClr val="569CD6"/>
                </a:solidFill>
                <a:latin typeface="Consolas"/>
              </a:rPr>
              <a:t>env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 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569CD6"/>
                </a:solidFill>
                <a:latin typeface="Consolas"/>
              </a:rPr>
              <a:t>    </a:t>
            </a:r>
            <a:r>
              <a:rPr lang="en-US" sz="1400" dirty="0" err="1">
                <a:solidFill>
                  <a:srgbClr val="569CD6"/>
                </a:solidFill>
                <a:latin typeface="Consolas"/>
              </a:rPr>
              <a:t>eval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569CD6"/>
                </a:solidFill>
                <a:latin typeface="Consolas"/>
              </a:rPr>
              <a:t>env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 (Add a b) === </a:t>
            </a:r>
            <a:r>
              <a:rPr lang="en-US" sz="1400" dirty="0" err="1">
                <a:solidFill>
                  <a:srgbClr val="569CD6"/>
                </a:solidFill>
                <a:latin typeface="Consolas"/>
              </a:rPr>
              <a:t>eval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569CD6"/>
                </a:solidFill>
                <a:latin typeface="Consolas"/>
              </a:rPr>
              <a:t>env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 (Add b a)</a:t>
            </a:r>
            <a:endParaRPr sz="1600" dirty="0">
              <a:latin typeface="Consolas"/>
            </a:endParaRPr>
          </a:p>
          <a:p>
            <a:r>
              <a:rPr lang="en-US" sz="1600" dirty="0">
                <a:latin typeface="Consolas"/>
              </a:rPr>
              <a:t/>
            </a:r>
            <a:br>
              <a:rPr lang="en-US" sz="1600" dirty="0">
                <a:latin typeface="Consolas"/>
              </a:rPr>
            </a:br>
            <a:r>
              <a:rPr lang="en-US" sz="1600" dirty="0">
                <a:latin typeface="Consolas"/>
              </a:rPr>
              <a:t/>
            </a:r>
            <a:br>
              <a:rPr lang="en-US" sz="1600" dirty="0">
                <a:latin typeface="Consolas"/>
              </a:rPr>
            </a:br>
            <a:r>
              <a:rPr sz="1600" dirty="0" err="1">
                <a:latin typeface="Consolas"/>
              </a:rPr>
              <a:t>QuickCheck</a:t>
            </a:r>
            <a:r>
              <a:rPr sz="1600" dirty="0">
                <a:latin typeface="Consolas"/>
              </a:rPr>
              <a:t> </a:t>
            </a:r>
            <a:r>
              <a:rPr sz="1600" dirty="0" err="1" smtClean="0">
                <a:latin typeface="Consolas"/>
              </a:rPr>
              <a:t>genereaz</a:t>
            </a:r>
            <a:r>
              <a:rPr lang="ro-RO" sz="1600" dirty="0" smtClean="0">
                <a:latin typeface="Consolas"/>
              </a:rPr>
              <a:t>ă</a:t>
            </a:r>
            <a:r>
              <a:rPr sz="1600" dirty="0" smtClean="0">
                <a:latin typeface="Consolas"/>
              </a:rPr>
              <a:t> </a:t>
            </a:r>
            <a:r>
              <a:rPr sz="1600" dirty="0">
                <a:latin typeface="Consolas"/>
              </a:rPr>
              <a:t>automat </a:t>
            </a:r>
            <a:r>
              <a:rPr sz="1600" dirty="0" err="1">
                <a:latin typeface="Consolas"/>
              </a:rPr>
              <a:t>sute</a:t>
            </a:r>
            <a:r>
              <a:rPr sz="1600" dirty="0">
                <a:latin typeface="Consolas"/>
              </a:rPr>
              <a:t> de </a:t>
            </a:r>
            <a:r>
              <a:rPr sz="1600" dirty="0" err="1">
                <a:latin typeface="Consolas"/>
              </a:rPr>
              <a:t>cazuri</a:t>
            </a:r>
            <a:r>
              <a:rPr sz="1600" dirty="0">
                <a:latin typeface="Consolas"/>
              </a:rPr>
              <a:t> </a:t>
            </a:r>
            <a:r>
              <a:rPr lang="ro-RO" sz="1600" dirty="0" err="1">
                <a:latin typeface="Consolas"/>
              </a:rPr>
              <a:t>ș</a:t>
            </a:r>
            <a:r>
              <a:rPr sz="1600" dirty="0" smtClean="0">
                <a:latin typeface="Consolas"/>
              </a:rPr>
              <a:t>i </a:t>
            </a:r>
            <a:r>
              <a:rPr sz="1600" dirty="0" err="1" smtClean="0">
                <a:latin typeface="Consolas"/>
              </a:rPr>
              <a:t>caut</a:t>
            </a:r>
            <a:r>
              <a:rPr lang="ro-RO" sz="1600" dirty="0" smtClean="0">
                <a:latin typeface="Consolas"/>
              </a:rPr>
              <a:t>ă</a:t>
            </a:r>
            <a:r>
              <a:rPr sz="1600" dirty="0" smtClean="0">
                <a:latin typeface="Consolas"/>
              </a:rPr>
              <a:t> </a:t>
            </a:r>
            <a:r>
              <a:rPr sz="1600" dirty="0" err="1">
                <a:latin typeface="Consolas"/>
              </a:rPr>
              <a:t>contraexemple</a:t>
            </a:r>
            <a:r>
              <a:rPr sz="1600" dirty="0">
                <a:latin typeface="Consolas"/>
              </a:rPr>
              <a:t>.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975361" y="2793682"/>
            <a:ext cx="4700696" cy="1768106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5361" y="2958274"/>
            <a:ext cx="5027506" cy="29108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1" dirty="0" err="1">
                <a:solidFill>
                  <a:srgbClr val="4EC9B0"/>
                </a:solidFill>
                <a:latin typeface="Consolas"/>
              </a:rPr>
              <a:t>Exemple</a:t>
            </a:r>
            <a:r>
              <a:rPr lang="en-US" sz="1400" b="1" dirty="0">
                <a:solidFill>
                  <a:srgbClr val="4EC9B0"/>
                </a:solidFill>
                <a:latin typeface="Consolas"/>
              </a:rPr>
              <a:t> </a:t>
            </a:r>
            <a:r>
              <a:rPr lang="en-US" sz="1400" b="1" dirty="0" err="1">
                <a:solidFill>
                  <a:srgbClr val="4EC9B0"/>
                </a:solidFill>
                <a:latin typeface="Consolas"/>
              </a:rPr>
              <a:t>punctuale</a:t>
            </a:r>
            <a:endParaRPr lang="en-US" sz="1400" b="1" dirty="0">
              <a:solidFill>
                <a:srgbClr val="4EC9B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eval env (Add (Const 1) (Const 2)) == Just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eval env (Mul (Const 5) (Const 0)) == Just 0</a:t>
            </a:r>
            <a:r>
              <a:rPr lang="en-US" sz="1600" dirty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D4D4D4"/>
                </a:solidFill>
                <a:latin typeface="Consolas"/>
              </a:rPr>
            </a:br>
            <a:r>
              <a:rPr lang="en-US" sz="1600" dirty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D4D4D4"/>
                </a:solidFill>
                <a:latin typeface="Consolas"/>
              </a:rPr>
            </a:br>
            <a:r>
              <a:rPr lang="en-US" sz="1600" dirty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D4D4D4"/>
                </a:solidFill>
                <a:latin typeface="Consolas"/>
              </a:rPr>
            </a:br>
            <a:endParaRPr sz="1600" dirty="0">
              <a:latin typeface="Consolas"/>
            </a:endParaRPr>
          </a:p>
          <a:p>
            <a:r>
              <a:rPr sz="1600" dirty="0" err="1">
                <a:latin typeface="Consolas"/>
              </a:rPr>
              <a:t>Problema</a:t>
            </a:r>
            <a:r>
              <a:rPr sz="1600" dirty="0">
                <a:latin typeface="Consolas"/>
              </a:rPr>
              <a:t>: </a:t>
            </a:r>
            <a:endParaRPr lang="ro-RO" sz="1600" dirty="0" smtClean="0">
              <a:latin typeface="Consolas"/>
            </a:endParaRPr>
          </a:p>
          <a:p>
            <a:r>
              <a:rPr lang="ro-RO" sz="1600" dirty="0" err="1">
                <a:latin typeface="Consolas"/>
              </a:rPr>
              <a:t>A</a:t>
            </a:r>
            <a:r>
              <a:rPr sz="1600" dirty="0" err="1" smtClean="0">
                <a:latin typeface="Consolas"/>
              </a:rPr>
              <a:t>coper</a:t>
            </a:r>
            <a:r>
              <a:rPr lang="ro-RO" sz="1600" dirty="0" smtClean="0">
                <a:latin typeface="Consolas"/>
              </a:rPr>
              <a:t>ă</a:t>
            </a:r>
            <a:r>
              <a:rPr sz="1600" dirty="0" smtClean="0">
                <a:latin typeface="Consolas"/>
              </a:rPr>
              <a:t> </a:t>
            </a:r>
            <a:r>
              <a:rPr sz="1600" dirty="0" err="1">
                <a:latin typeface="Consolas"/>
              </a:rPr>
              <a:t>doar</a:t>
            </a:r>
            <a:r>
              <a:rPr sz="1600" dirty="0">
                <a:latin typeface="Consolas"/>
              </a:rPr>
              <a:t> </a:t>
            </a:r>
            <a:r>
              <a:rPr sz="1600" dirty="0" err="1">
                <a:latin typeface="Consolas"/>
              </a:rPr>
              <a:t>cazurile</a:t>
            </a:r>
            <a:r>
              <a:rPr sz="1600" dirty="0">
                <a:latin typeface="Consolas"/>
              </a:rPr>
              <a:t> la care </a:t>
            </a:r>
            <a:r>
              <a:rPr sz="1600" dirty="0" err="1">
                <a:latin typeface="Consolas"/>
              </a:rPr>
              <a:t>te-ai</a:t>
            </a:r>
            <a:r>
              <a:rPr sz="1600" dirty="0">
                <a:latin typeface="Consolas"/>
              </a:rPr>
              <a:t> </a:t>
            </a:r>
            <a:r>
              <a:rPr sz="1600" dirty="0" smtClean="0">
                <a:latin typeface="Consolas"/>
              </a:rPr>
              <a:t>g</a:t>
            </a:r>
            <a:r>
              <a:rPr lang="ro-RO" sz="1600" dirty="0" smtClean="0">
                <a:latin typeface="Consolas"/>
              </a:rPr>
              <a:t>â</a:t>
            </a:r>
            <a:r>
              <a:rPr sz="1600" dirty="0" err="1" smtClean="0">
                <a:latin typeface="Consolas"/>
              </a:rPr>
              <a:t>ndit</a:t>
            </a:r>
            <a:r>
              <a:rPr sz="1600" dirty="0">
                <a:latin typeface="Consola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dirty="0">
                <a:solidFill>
                  <a:schemeClr val="tx1"/>
                </a:solidFill>
              </a:rPr>
              <a:t>Ce </a:t>
            </a:r>
            <a:r>
              <a:rPr sz="3400" dirty="0" err="1">
                <a:solidFill>
                  <a:schemeClr val="tx1"/>
                </a:solidFill>
              </a:rPr>
              <a:t>este</a:t>
            </a:r>
            <a:r>
              <a:rPr sz="3400" dirty="0">
                <a:solidFill>
                  <a:schemeClr val="tx1"/>
                </a:solidFill>
              </a:rPr>
              <a:t> </a:t>
            </a:r>
            <a:r>
              <a:rPr sz="3400" dirty="0" err="1">
                <a:solidFill>
                  <a:schemeClr val="tx1"/>
                </a:solidFill>
              </a:rPr>
              <a:t>QuickCheck</a:t>
            </a:r>
            <a:endParaRPr sz="34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467" y="1976120"/>
            <a:ext cx="7552267" cy="376089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2F3338"/>
                </a:solidFill>
                <a:latin typeface="Segoe UI"/>
              </a:rPr>
              <a:t>QuickCheck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este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biblioteca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Haskell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pentru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property-based </a:t>
            </a:r>
            <a:r>
              <a:rPr lang="en-US" sz="1600" dirty="0" smtClean="0">
                <a:solidFill>
                  <a:srgbClr val="2F3338"/>
                </a:solidFill>
                <a:latin typeface="Segoe UI"/>
              </a:rPr>
              <a:t>testing</a:t>
            </a:r>
            <a:r>
              <a:rPr lang="ro-RO" sz="1600" dirty="0" smtClean="0">
                <a:solidFill>
                  <a:srgbClr val="2F3338"/>
                </a:solidFill>
                <a:latin typeface="Segoe UI"/>
              </a:rPr>
              <a:t>.</a:t>
            </a:r>
            <a:r>
              <a:rPr lang="en-US" sz="1800" dirty="0">
                <a:solidFill>
                  <a:srgbClr val="2F3338"/>
                </a:solidFill>
                <a:latin typeface="Segoe UI"/>
              </a:rPr>
              <a:t/>
            </a:r>
            <a:br>
              <a:rPr lang="en-US" sz="1800" dirty="0">
                <a:solidFill>
                  <a:srgbClr val="2F3338"/>
                </a:solidFill>
                <a:latin typeface="Segoe UI"/>
              </a:rPr>
            </a:br>
            <a:r>
              <a:rPr lang="en-US" sz="1800" b="1" dirty="0">
                <a:solidFill>
                  <a:srgbClr val="4B5563"/>
                </a:solidFill>
                <a:latin typeface="Segoe UI"/>
              </a:rPr>
              <a:t/>
            </a:r>
            <a:br>
              <a:rPr lang="en-US" sz="1800" b="1" dirty="0">
                <a:solidFill>
                  <a:srgbClr val="4B5563"/>
                </a:solidFill>
                <a:latin typeface="Segoe UI"/>
              </a:rPr>
            </a:br>
            <a:r>
              <a:rPr lang="en-US" sz="1800" b="1" dirty="0" err="1">
                <a:solidFill>
                  <a:srgbClr val="4B5563"/>
                </a:solidFill>
                <a:latin typeface="Segoe UI"/>
              </a:rPr>
              <a:t>Elementele-cheie</a:t>
            </a:r>
            <a:r>
              <a:rPr lang="en-US" sz="1800" b="1" dirty="0">
                <a:solidFill>
                  <a:srgbClr val="4B5563"/>
                </a:solidFill>
                <a:latin typeface="Segoe UI"/>
              </a:rPr>
              <a:t> de care ne </a:t>
            </a:r>
            <a:r>
              <a:rPr lang="en-US" sz="1800" b="1" dirty="0" err="1">
                <a:solidFill>
                  <a:srgbClr val="4B5563"/>
                </a:solidFill>
                <a:latin typeface="Segoe UI"/>
              </a:rPr>
              <a:t>folosim</a:t>
            </a:r>
            <a:r>
              <a:rPr lang="en-US" sz="1800" b="1" dirty="0">
                <a:solidFill>
                  <a:srgbClr val="4B5563"/>
                </a:solidFill>
                <a:latin typeface="Segoe UI"/>
              </a:rPr>
              <a:t> </a:t>
            </a:r>
            <a:r>
              <a:rPr lang="ro-RO" sz="1800" b="1" dirty="0" smtClean="0">
                <a:solidFill>
                  <a:srgbClr val="4B5563"/>
                </a:solidFill>
                <a:latin typeface="Segoe UI"/>
              </a:rPr>
              <a:t>î</a:t>
            </a:r>
            <a:r>
              <a:rPr lang="en-US" sz="1800" b="1" dirty="0" smtClean="0">
                <a:solidFill>
                  <a:srgbClr val="4B5563"/>
                </a:solidFill>
                <a:latin typeface="Segoe UI"/>
              </a:rPr>
              <a:t>n </a:t>
            </a:r>
            <a:r>
              <a:rPr lang="en-US" sz="1800" b="1" dirty="0" err="1">
                <a:solidFill>
                  <a:srgbClr val="4B5563"/>
                </a:solidFill>
                <a:latin typeface="Segoe UI"/>
              </a:rPr>
              <a:t>proiect</a:t>
            </a:r>
            <a:r>
              <a:rPr lang="en-US" sz="1800" b="1" dirty="0">
                <a:solidFill>
                  <a:srgbClr val="4B5563"/>
                </a:solidFill>
                <a:latin typeface="Segoe UI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2F3338"/>
                </a:solidFill>
                <a:latin typeface="Segoe UI"/>
              </a:rPr>
              <a:t/>
            </a:r>
            <a:br>
              <a:rPr lang="en-US" sz="1800" dirty="0">
                <a:solidFill>
                  <a:srgbClr val="2F3338"/>
                </a:solidFill>
                <a:latin typeface="Segoe UI"/>
              </a:rPr>
            </a:br>
            <a:r>
              <a:rPr lang="en-US" sz="1600" dirty="0">
                <a:solidFill>
                  <a:srgbClr val="2F3338"/>
                </a:solidFill>
                <a:latin typeface="Segoe UI"/>
              </a:rPr>
              <a:t>- </a:t>
            </a:r>
            <a:r>
              <a:rPr lang="en-US" sz="1600" b="1" dirty="0">
                <a:solidFill>
                  <a:srgbClr val="1F4E79"/>
                </a:solidFill>
                <a:latin typeface="Consolas"/>
              </a:rPr>
              <a:t>Arbitrary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-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clasa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pentru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tipuri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ce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pot fi generate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aleatoriu</a:t>
            </a:r>
            <a:endParaRPr lang="en-US" sz="1600" dirty="0">
              <a:solidFill>
                <a:srgbClr val="2F3338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F3338"/>
                </a:solidFill>
                <a:latin typeface="Segoe UI"/>
              </a:rPr>
              <a:t>- </a:t>
            </a:r>
            <a:r>
              <a:rPr lang="en-US" sz="1600" b="1" dirty="0">
                <a:solidFill>
                  <a:srgbClr val="1F4E79"/>
                </a:solidFill>
                <a:latin typeface="Consolas"/>
              </a:rPr>
              <a:t>Gen a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-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tipul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unui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generator de </a:t>
            </a:r>
            <a:r>
              <a:rPr lang="en-US" sz="1600" dirty="0" err="1" smtClean="0">
                <a:solidFill>
                  <a:srgbClr val="2F3338"/>
                </a:solidFill>
                <a:latin typeface="Segoe UI"/>
              </a:rPr>
              <a:t>valori</a:t>
            </a:r>
            <a:endParaRPr lang="en-US" sz="1600" dirty="0">
              <a:solidFill>
                <a:srgbClr val="2F3338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F3338"/>
                </a:solidFill>
                <a:latin typeface="Segoe UI"/>
              </a:rPr>
              <a:t>- </a:t>
            </a:r>
            <a:r>
              <a:rPr lang="en-US" sz="1600" b="1" dirty="0">
                <a:solidFill>
                  <a:srgbClr val="1F4E79"/>
                </a:solidFill>
                <a:latin typeface="Consolas"/>
              </a:rPr>
              <a:t>frequency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-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alege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lang="ro-RO" sz="1600" dirty="0" err="1">
                <a:solidFill>
                  <a:srgbClr val="2F3338"/>
                </a:solidFill>
                <a:latin typeface="Segoe UI"/>
              </a:rPr>
              <a:t>î</a:t>
            </a:r>
            <a:r>
              <a:rPr lang="en-US" sz="1600" dirty="0" err="1" smtClean="0">
                <a:solidFill>
                  <a:srgbClr val="2F3338"/>
                </a:solidFill>
                <a:latin typeface="Segoe UI"/>
              </a:rPr>
              <a:t>ntre</a:t>
            </a:r>
            <a:r>
              <a:rPr lang="en-US" sz="160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generatoare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cu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ponderi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explicite</a:t>
            </a:r>
            <a:endParaRPr lang="en-US" sz="1600" dirty="0">
              <a:solidFill>
                <a:srgbClr val="2F3338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F3338"/>
                </a:solidFill>
                <a:latin typeface="Segoe UI"/>
              </a:rPr>
              <a:t>- </a:t>
            </a:r>
            <a:r>
              <a:rPr lang="en-US" sz="1600" b="1" dirty="0">
                <a:solidFill>
                  <a:srgbClr val="1F4E79"/>
                </a:solidFill>
                <a:latin typeface="Consolas"/>
              </a:rPr>
              <a:t>sized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- </a:t>
            </a:r>
            <a:r>
              <a:rPr lang="en-US" sz="1600" dirty="0" err="1" smtClean="0">
                <a:solidFill>
                  <a:srgbClr val="2F3338"/>
                </a:solidFill>
                <a:latin typeface="Segoe UI"/>
              </a:rPr>
              <a:t>controleaz</a:t>
            </a:r>
            <a:r>
              <a:rPr lang="ro-RO" sz="160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lang="en-US" sz="160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marimea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expresiilor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generate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F3338"/>
                </a:solidFill>
                <a:latin typeface="Segoe UI"/>
              </a:rPr>
              <a:t>- </a:t>
            </a:r>
            <a:r>
              <a:rPr lang="en-US" sz="1600" b="1" dirty="0">
                <a:solidFill>
                  <a:srgbClr val="1F4E79"/>
                </a:solidFill>
                <a:latin typeface="Consolas"/>
              </a:rPr>
              <a:t>shrink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- reduce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contraexemplul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la forma </a:t>
            </a:r>
            <a:r>
              <a:rPr lang="en-US" sz="1600" dirty="0" smtClean="0">
                <a:solidFill>
                  <a:srgbClr val="2F3338"/>
                </a:solidFill>
                <a:latin typeface="Segoe UI"/>
              </a:rPr>
              <a:t>minim</a:t>
            </a:r>
            <a:r>
              <a:rPr lang="ro-RO" sz="1600" dirty="0" smtClean="0">
                <a:solidFill>
                  <a:srgbClr val="2F3338"/>
                </a:solidFill>
                <a:latin typeface="Segoe UI"/>
              </a:rPr>
              <a:t>ă</a:t>
            </a:r>
            <a:endParaRPr lang="en-US" sz="1600" dirty="0">
              <a:solidFill>
                <a:srgbClr val="2F3338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F3338"/>
                </a:solidFill>
                <a:latin typeface="Segoe UI"/>
              </a:rPr>
              <a:t>- </a:t>
            </a:r>
            <a:r>
              <a:rPr lang="en-US" sz="1600" b="1" dirty="0">
                <a:solidFill>
                  <a:srgbClr val="1F4E79"/>
                </a:solidFill>
                <a:latin typeface="Consolas"/>
              </a:rPr>
              <a:t>classify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- </a:t>
            </a:r>
            <a:r>
              <a:rPr lang="en-US" sz="1600" dirty="0" err="1" smtClean="0">
                <a:solidFill>
                  <a:srgbClr val="2F3338"/>
                </a:solidFill>
                <a:latin typeface="Segoe UI"/>
              </a:rPr>
              <a:t>arat</a:t>
            </a:r>
            <a:r>
              <a:rPr lang="ro-RO" sz="160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lang="en-US" sz="160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lang="en-US" sz="1600" dirty="0" err="1" smtClean="0">
                <a:solidFill>
                  <a:srgbClr val="2F3338"/>
                </a:solidFill>
                <a:latin typeface="Segoe UI"/>
              </a:rPr>
              <a:t>distribu</a:t>
            </a:r>
            <a:r>
              <a:rPr lang="ro-RO" sz="1600" dirty="0" smtClean="0">
                <a:solidFill>
                  <a:srgbClr val="2F3338"/>
                </a:solidFill>
                <a:latin typeface="Segoe UI"/>
              </a:rPr>
              <a:t>ț</a:t>
            </a:r>
            <a:r>
              <a:rPr lang="en-US" sz="1600" dirty="0" err="1" smtClean="0">
                <a:solidFill>
                  <a:srgbClr val="2F3338"/>
                </a:solidFill>
                <a:latin typeface="Segoe UI"/>
              </a:rPr>
              <a:t>ia</a:t>
            </a:r>
            <a:r>
              <a:rPr lang="en-US" sz="160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cazurilor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generate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F3338"/>
                </a:solidFill>
                <a:latin typeface="Segoe UI"/>
              </a:rPr>
              <a:t>- </a:t>
            </a:r>
            <a:r>
              <a:rPr lang="en-US" sz="1600" b="1" dirty="0" err="1">
                <a:solidFill>
                  <a:srgbClr val="1F4E79"/>
                </a:solidFill>
                <a:latin typeface="Consolas"/>
              </a:rPr>
              <a:t>quickCheckWith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- </a:t>
            </a:r>
            <a:r>
              <a:rPr lang="en-US" sz="1600" dirty="0" err="1" smtClean="0">
                <a:solidFill>
                  <a:srgbClr val="2F3338"/>
                </a:solidFill>
                <a:latin typeface="Segoe UI"/>
              </a:rPr>
              <a:t>ruleaz</a:t>
            </a:r>
            <a:r>
              <a:rPr lang="ro-RO" sz="160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lang="en-US" sz="160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cu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parametri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 custom (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maxSuccess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, </a:t>
            </a:r>
            <a:r>
              <a:rPr lang="en-US" sz="1600" dirty="0" err="1">
                <a:solidFill>
                  <a:srgbClr val="2F3338"/>
                </a:solidFill>
                <a:latin typeface="Segoe UI"/>
              </a:rPr>
              <a:t>maxSize</a:t>
            </a:r>
            <a:r>
              <a:rPr lang="en-US" sz="1600" dirty="0">
                <a:solidFill>
                  <a:srgbClr val="2F3338"/>
                </a:solidFill>
                <a:latin typeface="Segoe UI"/>
              </a:rPr>
              <a:t>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4702" y="2887133"/>
            <a:ext cx="6261098" cy="1693334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ntent Placeholder 5"/>
          <p:cNvSpPr txBox="1">
            <a:spLocks/>
          </p:cNvSpPr>
          <p:nvPr/>
        </p:nvSpPr>
        <p:spPr>
          <a:xfrm>
            <a:off x="5791200" y="2958272"/>
            <a:ext cx="6587065" cy="291082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vi-VN" sz="1400" dirty="0">
                <a:solidFill>
                  <a:srgbClr val="569CD6"/>
                </a:solidFill>
                <a:latin typeface="Consolas"/>
              </a:rPr>
              <a:t>-- quickCheckWith + maxSuccess + maxSize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vi-VN" sz="1400" dirty="0">
                <a:solidFill>
                  <a:srgbClr val="569CD6"/>
                </a:solidFill>
                <a:latin typeface="Consolas"/>
              </a:rPr>
              <a:t>runProperty :: Testable prop =&gt; String -&gt; prop -&gt; IO 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vi-VN" sz="1400" dirty="0">
                <a:solidFill>
                  <a:srgbClr val="569CD6"/>
                </a:solidFill>
                <a:latin typeface="Consolas"/>
              </a:rPr>
              <a:t>runProperty descriere prop = 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vi-VN" sz="1400" dirty="0">
                <a:solidFill>
                  <a:srgbClr val="569CD6"/>
                </a:solidFill>
                <a:latin typeface="Consolas"/>
              </a:rPr>
              <a:t>  putStrLn ("-- " ++ descriere)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vi-VN" sz="1400" dirty="0">
                <a:solidFill>
                  <a:srgbClr val="569CD6"/>
                </a:solidFill>
                <a:latin typeface="Consolas"/>
              </a:rPr>
              <a:t>  </a:t>
            </a:r>
            <a:r>
              <a:rPr lang="vi-VN" sz="1400" b="1" i="1" dirty="0">
                <a:solidFill>
                  <a:srgbClr val="569CD6"/>
                </a:solidFill>
                <a:latin typeface="Consolas"/>
              </a:rPr>
              <a:t>quickCheckWith</a:t>
            </a:r>
            <a:r>
              <a:rPr lang="vi-VN" sz="1400" dirty="0">
                <a:solidFill>
                  <a:srgbClr val="569CD6"/>
                </a:solidFill>
                <a:latin typeface="Consolas"/>
              </a:rPr>
              <a:t> stdArgs {maxSuccess = 120, maxSize = 12} prop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vi-VN" sz="1400" dirty="0">
                <a:solidFill>
                  <a:srgbClr val="569CD6"/>
                </a:solidFill>
                <a:latin typeface="Consolas"/>
              </a:rPr>
              <a:t>  putStrLn ""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dirty="0" err="1">
                <a:solidFill>
                  <a:srgbClr val="2F3338"/>
                </a:solidFill>
              </a:rPr>
              <a:t>Arhitectura</a:t>
            </a:r>
            <a:r>
              <a:rPr sz="3500" dirty="0">
                <a:solidFill>
                  <a:srgbClr val="2F3338"/>
                </a:solidFill>
              </a:rPr>
              <a:t> </a:t>
            </a:r>
            <a:r>
              <a:rPr sz="3500" dirty="0" err="1">
                <a:solidFill>
                  <a:srgbClr val="2F3338"/>
                </a:solidFill>
              </a:rPr>
              <a:t>modulului</a:t>
            </a:r>
            <a:r>
              <a:rPr sz="3500" dirty="0">
                <a:solidFill>
                  <a:srgbClr val="2F3338"/>
                </a:solidFill>
              </a:rPr>
              <a:t> </a:t>
            </a:r>
            <a:r>
              <a:rPr sz="3500" dirty="0" err="1">
                <a:solidFill>
                  <a:srgbClr val="2F3338"/>
                </a:solidFill>
              </a:rPr>
              <a:t>testat</a:t>
            </a:r>
            <a:endParaRPr sz="3500" dirty="0">
              <a:solidFill>
                <a:srgbClr val="2F3338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65910" y="2057400"/>
            <a:ext cx="7022290" cy="195580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4510" y="2194560"/>
            <a:ext cx="6658223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Expr.hs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- AST +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functii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structurale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: size, depth,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operatorCount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,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freeVars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, substitute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Eval.hs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-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evaluare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sigur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: 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eval :: Env -&gt; Expr -&gt; Maybe Int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Simplify.hs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- reguli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algebrice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aplicate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p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â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n</a:t>
            </a:r>
            <a:r>
              <a:rPr lang="ro-RO" sz="1600" dirty="0">
                <a:solidFill>
                  <a:srgbClr val="2F3338"/>
                </a:solidFill>
                <a:latin typeface="Segoe UI"/>
              </a:rPr>
              <a:t>ă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la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punct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fix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Pretty.hs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-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serializare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text cu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preceden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ță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corect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endParaRPr sz="16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Parser.hs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-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parsare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text -&gt; Expr (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respect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priorit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lang="ro-RO" sz="1600" dirty="0">
                <a:solidFill>
                  <a:srgbClr val="2F3338"/>
                </a:solidFill>
                <a:latin typeface="Segoe UI"/>
              </a:rPr>
              <a:t>ț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ile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operatorilor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2F3338"/>
                </a:solidFill>
                <a:latin typeface="Segoe UI"/>
              </a:rPr>
              <a:t>- test/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Spec.hs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-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generatoare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custom + 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1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9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propriet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ăț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i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QuickCheck</a:t>
            </a:r>
            <a:endParaRPr sz="1600" b="0" i="0" dirty="0">
              <a:solidFill>
                <a:srgbClr val="2F3338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21976" y="2395771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Input:       "1 * x + -(-y)"</a:t>
            </a:r>
          </a:p>
          <a:p>
            <a:r>
              <a:rPr lang="en-US" sz="1200" dirty="0"/>
              <a:t>                  |</a:t>
            </a:r>
          </a:p>
          <a:p>
            <a:r>
              <a:rPr lang="en-US" sz="1200" dirty="0"/>
              <a:t>             </a:t>
            </a:r>
            <a:r>
              <a:rPr lang="en-US" sz="1200" dirty="0" err="1"/>
              <a:t>Parser.hs</a:t>
            </a:r>
            <a:endParaRPr lang="en-US" sz="1200" dirty="0"/>
          </a:p>
          <a:p>
            <a:r>
              <a:rPr lang="en-US" sz="1200" dirty="0"/>
              <a:t>                  |</a:t>
            </a:r>
          </a:p>
          <a:p>
            <a:r>
              <a:rPr lang="en-US" sz="1200" dirty="0"/>
              <a:t>                  -&gt; Add (</a:t>
            </a:r>
            <a:r>
              <a:rPr lang="en-US" sz="1200" dirty="0" err="1"/>
              <a:t>Mul</a:t>
            </a:r>
            <a:r>
              <a:rPr lang="en-US" sz="1200" dirty="0"/>
              <a:t> (</a:t>
            </a:r>
            <a:r>
              <a:rPr lang="en-US" sz="1200" dirty="0" err="1"/>
              <a:t>Const</a:t>
            </a:r>
            <a:r>
              <a:rPr lang="en-US" sz="1200" dirty="0"/>
              <a:t> 1) (</a:t>
            </a:r>
            <a:r>
              <a:rPr lang="en-US" sz="1200" dirty="0" err="1"/>
              <a:t>Var</a:t>
            </a:r>
            <a:r>
              <a:rPr lang="en-US" sz="1200" dirty="0"/>
              <a:t> "x")) (</a:t>
            </a:r>
            <a:r>
              <a:rPr lang="en-US" sz="1200" dirty="0" err="1"/>
              <a:t>Neg</a:t>
            </a:r>
            <a:r>
              <a:rPr lang="en-US" sz="1200" dirty="0"/>
              <a:t> (</a:t>
            </a:r>
            <a:r>
              <a:rPr lang="en-US" sz="1200" dirty="0" err="1"/>
              <a:t>Neg</a:t>
            </a:r>
            <a:r>
              <a:rPr lang="en-US" sz="1200" dirty="0"/>
              <a:t> (</a:t>
            </a:r>
            <a:r>
              <a:rPr lang="en-US" sz="1200" dirty="0" err="1"/>
              <a:t>Var</a:t>
            </a:r>
            <a:r>
              <a:rPr lang="en-US" sz="1200" dirty="0"/>
              <a:t> "y")))</a:t>
            </a:r>
          </a:p>
          <a:p>
            <a:r>
              <a:rPr lang="en-US" sz="1200" dirty="0"/>
              <a:t>                  |</a:t>
            </a:r>
          </a:p>
          <a:p>
            <a:r>
              <a:rPr lang="en-US" sz="1200" dirty="0"/>
              <a:t>             </a:t>
            </a:r>
            <a:r>
              <a:rPr lang="en-US" sz="1200" dirty="0" err="1"/>
              <a:t>Simplify.hs</a:t>
            </a:r>
            <a:endParaRPr lang="en-US" sz="1200" dirty="0"/>
          </a:p>
          <a:p>
            <a:r>
              <a:rPr lang="en-US" sz="1200" dirty="0"/>
              <a:t>                  |</a:t>
            </a:r>
          </a:p>
          <a:p>
            <a:r>
              <a:rPr lang="en-US" sz="1200" dirty="0"/>
              <a:t>                  -&gt; Add (</a:t>
            </a:r>
            <a:r>
              <a:rPr lang="en-US" sz="1200" dirty="0" err="1"/>
              <a:t>Var</a:t>
            </a:r>
            <a:r>
              <a:rPr lang="en-US" sz="1200" dirty="0"/>
              <a:t> "x") (</a:t>
            </a:r>
            <a:r>
              <a:rPr lang="en-US" sz="1200" dirty="0" err="1"/>
              <a:t>Var</a:t>
            </a:r>
            <a:r>
              <a:rPr lang="en-US" sz="1200" dirty="0"/>
              <a:t> "y")</a:t>
            </a:r>
          </a:p>
          <a:p>
            <a:r>
              <a:rPr lang="en-US" sz="1200" dirty="0"/>
              <a:t>                  |</a:t>
            </a:r>
          </a:p>
          <a:p>
            <a:r>
              <a:rPr lang="en-US" sz="1200" dirty="0"/>
              <a:t>         ---------+---------</a:t>
            </a:r>
          </a:p>
          <a:p>
            <a:r>
              <a:rPr lang="en-US" sz="1200" dirty="0"/>
              <a:t>         |                 |</a:t>
            </a:r>
          </a:p>
          <a:p>
            <a:r>
              <a:rPr lang="en-US" sz="1200" dirty="0"/>
              <a:t>      </a:t>
            </a:r>
            <a:r>
              <a:rPr lang="en-US" sz="1200" dirty="0" err="1"/>
              <a:t>Eval.hs</a:t>
            </a:r>
            <a:r>
              <a:rPr lang="en-US" sz="1200" dirty="0"/>
              <a:t>           </a:t>
            </a:r>
            <a:r>
              <a:rPr lang="en-US" sz="1200" dirty="0" err="1"/>
              <a:t>Pretty.hs</a:t>
            </a:r>
            <a:endParaRPr lang="en-US" sz="1200" dirty="0"/>
          </a:p>
          <a:p>
            <a:r>
              <a:rPr lang="en-US" sz="1200" dirty="0"/>
              <a:t>         |                 |</a:t>
            </a:r>
          </a:p>
          <a:p>
            <a:r>
              <a:rPr lang="en-US" sz="1200" dirty="0"/>
              <a:t>      -&gt; Just 11        -&gt; "x + y"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dirty="0" err="1"/>
              <a:t>Modulul</a:t>
            </a:r>
            <a:r>
              <a:rPr sz="3400" dirty="0"/>
              <a:t> </a:t>
            </a:r>
            <a:r>
              <a:rPr sz="3400" dirty="0" err="1"/>
              <a:t>testat</a:t>
            </a:r>
            <a:r>
              <a:rPr sz="3400" dirty="0"/>
              <a:t>: AST </a:t>
            </a:r>
            <a:r>
              <a:rPr lang="ro-RO" sz="3400" dirty="0" err="1"/>
              <a:t>ș</a:t>
            </a:r>
            <a:r>
              <a:rPr sz="3400" dirty="0" smtClean="0"/>
              <a:t>i </a:t>
            </a:r>
            <a:r>
              <a:rPr sz="3400" dirty="0"/>
              <a:t>evaluator</a:t>
            </a:r>
          </a:p>
        </p:txBody>
      </p:sp>
      <p:sp>
        <p:nvSpPr>
          <p:cNvPr id="9" name="Rounded Rectangle 2"/>
          <p:cNvSpPr/>
          <p:nvPr/>
        </p:nvSpPr>
        <p:spPr>
          <a:xfrm>
            <a:off x="1153160" y="1986280"/>
            <a:ext cx="4808728" cy="1971943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17752" y="2096007"/>
            <a:ext cx="4478988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4EC9B0"/>
                </a:solidFill>
                <a:latin typeface="Consolas"/>
              </a:rPr>
              <a:t>AST (</a:t>
            </a:r>
            <a:r>
              <a:rPr sz="1400" b="1" i="0" dirty="0" err="1">
                <a:solidFill>
                  <a:srgbClr val="4EC9B0"/>
                </a:solidFill>
                <a:latin typeface="Consolas"/>
              </a:rPr>
              <a:t>Expr</a:t>
            </a:r>
            <a:r>
              <a:rPr sz="1400" b="1" i="0" dirty="0">
                <a:solidFill>
                  <a:srgbClr val="4EC9B0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569CD6"/>
                </a:solidFill>
                <a:latin typeface="Consolas"/>
              </a:rPr>
              <a:t>data </a:t>
            </a:r>
            <a:r>
              <a:rPr sz="1300" b="0" i="0" dirty="0" err="1">
                <a:solidFill>
                  <a:srgbClr val="569CD6"/>
                </a:solidFill>
                <a:latin typeface="Consolas"/>
              </a:rPr>
              <a:t>Expr</a:t>
            </a:r>
            <a:endParaRPr sz="1300" b="0" i="0" dirty="0">
              <a:solidFill>
                <a:srgbClr val="569CD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D4D4D4"/>
                </a:solidFill>
                <a:latin typeface="Consolas"/>
              </a:rPr>
              <a:t>  = </a:t>
            </a:r>
            <a:r>
              <a:rPr sz="1300" b="0" i="0" dirty="0" err="1">
                <a:solidFill>
                  <a:srgbClr val="D4D4D4"/>
                </a:solidFill>
                <a:latin typeface="Consolas"/>
              </a:rPr>
              <a:t>Const</a:t>
            </a:r>
            <a:r>
              <a:rPr sz="130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D4D4D4"/>
                </a:solidFill>
                <a:latin typeface="Consolas"/>
              </a:rPr>
              <a:t>Int</a:t>
            </a:r>
            <a:endParaRPr sz="1300" b="0" i="0" dirty="0">
              <a:solidFill>
                <a:srgbClr val="D4D4D4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D4D4D4"/>
                </a:solidFill>
                <a:latin typeface="Consolas"/>
              </a:rPr>
              <a:t>  | </a:t>
            </a:r>
            <a:r>
              <a:rPr sz="1300" b="0" i="0" dirty="0" err="1">
                <a:solidFill>
                  <a:srgbClr val="D4D4D4"/>
                </a:solidFill>
                <a:latin typeface="Consolas"/>
              </a:rPr>
              <a:t>Var</a:t>
            </a:r>
            <a:r>
              <a:rPr sz="1300" b="0" i="0" dirty="0">
                <a:solidFill>
                  <a:srgbClr val="D4D4D4"/>
                </a:solidFill>
                <a:latin typeface="Consolas"/>
              </a:rPr>
              <a:t> String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D4D4D4"/>
                </a:solidFill>
                <a:latin typeface="Consolas"/>
              </a:rPr>
              <a:t>  | Add </a:t>
            </a:r>
            <a:r>
              <a:rPr sz="1300" b="0" i="0" dirty="0" err="1">
                <a:solidFill>
                  <a:srgbClr val="D4D4D4"/>
                </a:solidFill>
                <a:latin typeface="Consolas"/>
              </a:rPr>
              <a:t>Expr</a:t>
            </a:r>
            <a:r>
              <a:rPr sz="130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D4D4D4"/>
                </a:solidFill>
                <a:latin typeface="Consolas"/>
              </a:rPr>
              <a:t>Expr</a:t>
            </a:r>
            <a:r>
              <a:rPr sz="1300" b="0" i="0" dirty="0">
                <a:solidFill>
                  <a:srgbClr val="D4D4D4"/>
                </a:solidFill>
                <a:latin typeface="Consolas"/>
              </a:rPr>
              <a:t> | Sub </a:t>
            </a:r>
            <a:r>
              <a:rPr sz="1300" b="0" i="0" dirty="0" err="1">
                <a:solidFill>
                  <a:srgbClr val="D4D4D4"/>
                </a:solidFill>
                <a:latin typeface="Consolas"/>
              </a:rPr>
              <a:t>Expr</a:t>
            </a:r>
            <a:r>
              <a:rPr sz="130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D4D4D4"/>
                </a:solidFill>
                <a:latin typeface="Consolas"/>
              </a:rPr>
              <a:t>Expr</a:t>
            </a:r>
            <a:endParaRPr sz="1300" b="0" i="0" dirty="0">
              <a:solidFill>
                <a:srgbClr val="D4D4D4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D4D4D4"/>
                </a:solidFill>
                <a:latin typeface="Consolas"/>
              </a:rPr>
              <a:t>  | </a:t>
            </a:r>
            <a:r>
              <a:rPr sz="1300" b="0" i="0" dirty="0" err="1">
                <a:solidFill>
                  <a:srgbClr val="D4D4D4"/>
                </a:solidFill>
                <a:latin typeface="Consolas"/>
              </a:rPr>
              <a:t>Mul</a:t>
            </a:r>
            <a:r>
              <a:rPr sz="130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D4D4D4"/>
                </a:solidFill>
                <a:latin typeface="Consolas"/>
              </a:rPr>
              <a:t>Expr</a:t>
            </a:r>
            <a:r>
              <a:rPr sz="130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D4D4D4"/>
                </a:solidFill>
                <a:latin typeface="Consolas"/>
              </a:rPr>
              <a:t>Expr</a:t>
            </a:r>
            <a:r>
              <a:rPr sz="1300" b="0" i="0" dirty="0">
                <a:solidFill>
                  <a:srgbClr val="D4D4D4"/>
                </a:solidFill>
                <a:latin typeface="Consolas"/>
              </a:rPr>
              <a:t> | </a:t>
            </a:r>
            <a:r>
              <a:rPr sz="1300" b="0" i="0" dirty="0" err="1">
                <a:solidFill>
                  <a:srgbClr val="D4D4D4"/>
                </a:solidFill>
                <a:latin typeface="Consolas"/>
              </a:rPr>
              <a:t>Neg</a:t>
            </a:r>
            <a:r>
              <a:rPr sz="130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D4D4D4"/>
                </a:solidFill>
                <a:latin typeface="Consolas"/>
              </a:rPr>
              <a:t>Expr</a:t>
            </a:r>
            <a:endParaRPr sz="1300" b="0" i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11" name="Rounded Rectangle 4"/>
          <p:cNvSpPr/>
          <p:nvPr/>
        </p:nvSpPr>
        <p:spPr>
          <a:xfrm>
            <a:off x="1153160" y="4018787"/>
            <a:ext cx="4808728" cy="1629705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17752" y="4128516"/>
            <a:ext cx="4478988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4EC9B0"/>
                </a:solidFill>
                <a:latin typeface="Consolas"/>
              </a:rPr>
              <a:t>Evaluator (fragment)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9CDCFE"/>
                </a:solidFill>
                <a:latin typeface="Consolas"/>
              </a:rPr>
              <a:t>eval :: Env -&gt; Expr -&gt; Maybe 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D4D4D4"/>
                </a:solidFill>
                <a:latin typeface="Consolas"/>
              </a:rPr>
              <a:t>eval env (Add a b) = liftA2 (+) (eval env a) (eval env b)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D4D4D4"/>
                </a:solidFill>
                <a:latin typeface="Consolas"/>
              </a:rPr>
              <a:t>eval env (Var x)   = </a:t>
            </a:r>
            <a:r>
              <a:rPr sz="1300" b="0" i="0" dirty="0" err="1">
                <a:solidFill>
                  <a:srgbClr val="D4D4D4"/>
                </a:solidFill>
                <a:latin typeface="Consolas"/>
              </a:rPr>
              <a:t>Map.lookup</a:t>
            </a:r>
            <a:r>
              <a:rPr sz="1300" b="0" i="0" dirty="0">
                <a:solidFill>
                  <a:srgbClr val="D4D4D4"/>
                </a:solidFill>
                <a:latin typeface="Consolas"/>
              </a:rPr>
              <a:t> x env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6A9955"/>
                </a:solidFill>
                <a:latin typeface="Consolas"/>
              </a:rPr>
              <a:t>-- Nothing </a:t>
            </a:r>
            <a:r>
              <a:rPr sz="1300" b="0" i="0" dirty="0" err="1">
                <a:solidFill>
                  <a:srgbClr val="6A9955"/>
                </a:solidFill>
                <a:latin typeface="Consolas"/>
              </a:rPr>
              <a:t>daca</a:t>
            </a:r>
            <a:r>
              <a:rPr sz="1300" b="0" i="0" dirty="0">
                <a:solidFill>
                  <a:srgbClr val="6A9955"/>
                </a:solidFill>
                <a:latin typeface="Consolas"/>
              </a:rPr>
              <a:t> o </a:t>
            </a:r>
            <a:r>
              <a:rPr sz="1300" b="0" i="0" dirty="0" err="1">
                <a:solidFill>
                  <a:srgbClr val="6A9955"/>
                </a:solidFill>
                <a:latin typeface="Consolas"/>
              </a:rPr>
              <a:t>variabila</a:t>
            </a:r>
            <a:r>
              <a:rPr sz="130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6A9955"/>
                </a:solidFill>
                <a:latin typeface="Consolas"/>
              </a:rPr>
              <a:t>lipseste</a:t>
            </a:r>
            <a:r>
              <a:rPr sz="1300" b="0" i="0" dirty="0">
                <a:solidFill>
                  <a:srgbClr val="6A9955"/>
                </a:solidFill>
                <a:latin typeface="Consolas"/>
              </a:rPr>
              <a:t> din </a:t>
            </a:r>
            <a:r>
              <a:rPr sz="1300" b="0" i="0" dirty="0" err="1">
                <a:solidFill>
                  <a:srgbClr val="6A9955"/>
                </a:solidFill>
                <a:latin typeface="Consolas"/>
              </a:rPr>
              <a:t>mediu</a:t>
            </a:r>
            <a:endParaRPr sz="1300" b="0" i="0" dirty="0">
              <a:solidFill>
                <a:srgbClr val="6A9955"/>
              </a:solidFill>
              <a:latin typeface="Consolas"/>
            </a:endParaRPr>
          </a:p>
        </p:txBody>
      </p:sp>
      <p:sp>
        <p:nvSpPr>
          <p:cNvPr id="13" name="Rounded Rectangle 6"/>
          <p:cNvSpPr/>
          <p:nvPr/>
        </p:nvSpPr>
        <p:spPr>
          <a:xfrm>
            <a:off x="6346952" y="1986280"/>
            <a:ext cx="4808728" cy="365760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2399" y="2105152"/>
            <a:ext cx="44881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4E79"/>
                </a:solidFill>
                <a:latin typeface="Segoe UI"/>
              </a:rPr>
              <a:t>Arbore pentru: 1 * x + -(-y)</a:t>
            </a:r>
          </a:p>
        </p:txBody>
      </p:sp>
      <p:sp>
        <p:nvSpPr>
          <p:cNvPr id="18" name="Rounded Rectangle 11"/>
          <p:cNvSpPr/>
          <p:nvPr/>
        </p:nvSpPr>
        <p:spPr>
          <a:xfrm>
            <a:off x="7032752" y="4043680"/>
            <a:ext cx="714440" cy="325941"/>
          </a:xfrm>
          <a:prstGeom prst="roundRect">
            <a:avLst/>
          </a:prstGeom>
          <a:solidFill>
            <a:srgbClr val="EAF1FB"/>
          </a:solidFill>
          <a:ln w="1651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4E79"/>
                </a:solidFill>
                <a:latin typeface="Consolas"/>
              </a:rPr>
              <a:t>1</a:t>
            </a:r>
          </a:p>
        </p:txBody>
      </p:sp>
      <p:sp>
        <p:nvSpPr>
          <p:cNvPr id="19" name="Rounded Rectangle 12"/>
          <p:cNvSpPr/>
          <p:nvPr/>
        </p:nvSpPr>
        <p:spPr>
          <a:xfrm>
            <a:off x="7874000" y="4043680"/>
            <a:ext cx="714440" cy="325941"/>
          </a:xfrm>
          <a:prstGeom prst="roundRect">
            <a:avLst/>
          </a:prstGeom>
          <a:solidFill>
            <a:srgbClr val="EAF1FB"/>
          </a:solidFill>
          <a:ln w="1651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4E79"/>
                </a:solidFill>
                <a:latin typeface="Consolas"/>
              </a:rPr>
              <a:t>x</a:t>
            </a:r>
          </a:p>
        </p:txBody>
      </p:sp>
      <p:cxnSp>
        <p:nvCxnSpPr>
          <p:cNvPr id="22" name="Connector 15"/>
          <p:cNvCxnSpPr>
            <a:cxnSpLocks/>
            <a:endCxn id="16" idx="0"/>
          </p:cNvCxnSpPr>
          <p:nvPr/>
        </p:nvCxnSpPr>
        <p:spPr>
          <a:xfrm flipH="1">
            <a:off x="7810596" y="2900680"/>
            <a:ext cx="977804" cy="484632"/>
          </a:xfrm>
          <a:prstGeom prst="line">
            <a:avLst/>
          </a:prstGeom>
          <a:ln w="1651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16"/>
          <p:cNvCxnSpPr>
            <a:cxnSpLocks/>
          </p:cNvCxnSpPr>
          <p:nvPr/>
        </p:nvCxnSpPr>
        <p:spPr>
          <a:xfrm>
            <a:off x="8788400" y="2900680"/>
            <a:ext cx="907690" cy="594842"/>
          </a:xfrm>
          <a:prstGeom prst="line">
            <a:avLst/>
          </a:prstGeom>
          <a:ln w="1651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17"/>
          <p:cNvCxnSpPr>
            <a:cxnSpLocks/>
            <a:endCxn id="18" idx="0"/>
          </p:cNvCxnSpPr>
          <p:nvPr/>
        </p:nvCxnSpPr>
        <p:spPr>
          <a:xfrm flipH="1">
            <a:off x="7389972" y="3568192"/>
            <a:ext cx="420020" cy="475488"/>
          </a:xfrm>
          <a:prstGeom prst="line">
            <a:avLst/>
          </a:prstGeom>
          <a:ln w="1651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8"/>
          <p:cNvCxnSpPr>
            <a:cxnSpLocks/>
            <a:endCxn id="19" idx="0"/>
          </p:cNvCxnSpPr>
          <p:nvPr/>
        </p:nvCxnSpPr>
        <p:spPr>
          <a:xfrm>
            <a:off x="7809992" y="3568192"/>
            <a:ext cx="421228" cy="475488"/>
          </a:xfrm>
          <a:prstGeom prst="line">
            <a:avLst/>
          </a:prstGeom>
          <a:ln w="1651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19"/>
          <p:cNvCxnSpPr>
            <a:cxnSpLocks/>
          </p:cNvCxnSpPr>
          <p:nvPr/>
        </p:nvCxnSpPr>
        <p:spPr>
          <a:xfrm>
            <a:off x="9766808" y="3568192"/>
            <a:ext cx="0" cy="586694"/>
          </a:xfrm>
          <a:prstGeom prst="line">
            <a:avLst/>
          </a:prstGeom>
          <a:ln w="1651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0"/>
          <p:cNvCxnSpPr>
            <a:cxnSpLocks/>
          </p:cNvCxnSpPr>
          <p:nvPr/>
        </p:nvCxnSpPr>
        <p:spPr>
          <a:xfrm>
            <a:off x="9766808" y="4226560"/>
            <a:ext cx="0" cy="586694"/>
          </a:xfrm>
          <a:prstGeom prst="line">
            <a:avLst/>
          </a:prstGeom>
          <a:ln w="1651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44327" y="5311227"/>
            <a:ext cx="44881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i="0" dirty="0" smtClean="0">
                <a:solidFill>
                  <a:srgbClr val="4B5563"/>
                </a:solidFill>
                <a:latin typeface="Segoe UI"/>
              </a:rPr>
              <a:t>R</a:t>
            </a:r>
            <a:r>
              <a:rPr lang="ro-RO" sz="1200" i="0" dirty="0" smtClean="0">
                <a:solidFill>
                  <a:srgbClr val="4B5563"/>
                </a:solidFill>
                <a:latin typeface="Segoe UI"/>
              </a:rPr>
              <a:t>ă</a:t>
            </a:r>
            <a:r>
              <a:rPr sz="1200" i="0" dirty="0" smtClean="0">
                <a:solidFill>
                  <a:srgbClr val="4B5563"/>
                </a:solidFill>
                <a:latin typeface="Segoe UI"/>
              </a:rPr>
              <a:t>d</a:t>
            </a:r>
            <a:r>
              <a:rPr lang="ro-RO" sz="1200" i="0" dirty="0" smtClean="0">
                <a:solidFill>
                  <a:srgbClr val="4B5563"/>
                </a:solidFill>
                <a:latin typeface="Segoe UI"/>
              </a:rPr>
              <a:t>ă</a:t>
            </a:r>
            <a:r>
              <a:rPr sz="1200" i="0" dirty="0" err="1" smtClean="0">
                <a:solidFill>
                  <a:srgbClr val="4B5563"/>
                </a:solidFill>
                <a:latin typeface="Segoe UI"/>
              </a:rPr>
              <a:t>cina</a:t>
            </a:r>
            <a:r>
              <a:rPr sz="1200" i="0" dirty="0">
                <a:solidFill>
                  <a:srgbClr val="4B5563"/>
                </a:solidFill>
                <a:latin typeface="Segoe UI"/>
              </a:rPr>
              <a:t>:</a:t>
            </a:r>
            <a:r>
              <a:rPr sz="1200" b="1" i="0" dirty="0">
                <a:solidFill>
                  <a:srgbClr val="4B5563"/>
                </a:solidFill>
                <a:latin typeface="Segoe UI"/>
              </a:rPr>
              <a:t> </a:t>
            </a:r>
            <a:r>
              <a:rPr sz="1200" b="1" i="0" dirty="0">
                <a:solidFill>
                  <a:srgbClr val="1F4E79"/>
                </a:solidFill>
                <a:latin typeface="Consolas"/>
              </a:rPr>
              <a:t>Add</a:t>
            </a:r>
            <a:r>
              <a:rPr sz="1200" b="0" i="0" dirty="0">
                <a:solidFill>
                  <a:srgbClr val="4B5563"/>
                </a:solidFill>
                <a:latin typeface="Segoe UI"/>
              </a:rPr>
              <a:t>  |  </a:t>
            </a:r>
            <a:r>
              <a:rPr sz="1200" b="0" i="0" dirty="0" err="1">
                <a:solidFill>
                  <a:srgbClr val="4B5563"/>
                </a:solidFill>
                <a:latin typeface="Segoe UI"/>
              </a:rPr>
              <a:t>Subarbori</a:t>
            </a:r>
            <a:r>
              <a:rPr sz="1200" b="0" i="0" dirty="0">
                <a:solidFill>
                  <a:srgbClr val="4B5563"/>
                </a:solidFill>
                <a:latin typeface="Segoe UI"/>
              </a:rPr>
              <a:t>: </a:t>
            </a:r>
            <a:r>
              <a:rPr sz="1200" b="1" i="0" dirty="0">
                <a:solidFill>
                  <a:srgbClr val="1F4E79"/>
                </a:solidFill>
                <a:latin typeface="Consolas"/>
              </a:rPr>
              <a:t>Mul(1,x)</a:t>
            </a:r>
            <a:r>
              <a:rPr sz="1200" b="0" i="0" dirty="0">
                <a:solidFill>
                  <a:srgbClr val="4B5563"/>
                </a:solidFill>
                <a:latin typeface="Segoe UI"/>
              </a:rPr>
              <a:t> </a:t>
            </a:r>
            <a:r>
              <a:rPr lang="ro-RO" sz="1200" dirty="0" err="1">
                <a:solidFill>
                  <a:srgbClr val="4B5563"/>
                </a:solidFill>
                <a:latin typeface="Segoe UI"/>
              </a:rPr>
              <a:t>ș</a:t>
            </a:r>
            <a:r>
              <a:rPr sz="1200" b="0" i="0" dirty="0" smtClean="0">
                <a:solidFill>
                  <a:srgbClr val="4B5563"/>
                </a:solidFill>
                <a:latin typeface="Segoe UI"/>
              </a:rPr>
              <a:t>i </a:t>
            </a:r>
            <a:r>
              <a:rPr sz="1200" b="1" i="0" dirty="0">
                <a:solidFill>
                  <a:srgbClr val="1F4E79"/>
                </a:solidFill>
                <a:latin typeface="Consolas"/>
              </a:rPr>
              <a:t>Neg(Neg(y))</a:t>
            </a:r>
          </a:p>
        </p:txBody>
      </p:sp>
      <p:sp>
        <p:nvSpPr>
          <p:cNvPr id="15" name="Rounded Rectangle 8"/>
          <p:cNvSpPr/>
          <p:nvPr/>
        </p:nvSpPr>
        <p:spPr>
          <a:xfrm>
            <a:off x="8431784" y="2717800"/>
            <a:ext cx="714440" cy="325941"/>
          </a:xfrm>
          <a:prstGeom prst="roundRect">
            <a:avLst/>
          </a:prstGeom>
          <a:solidFill>
            <a:srgbClr val="EAF1FB"/>
          </a:solidFill>
          <a:ln w="1651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4E79"/>
                </a:solidFill>
                <a:latin typeface="Consolas"/>
              </a:rPr>
              <a:t>Add</a:t>
            </a:r>
          </a:p>
        </p:txBody>
      </p:sp>
      <p:sp>
        <p:nvSpPr>
          <p:cNvPr id="17" name="Rounded Rectangle 10"/>
          <p:cNvSpPr/>
          <p:nvPr/>
        </p:nvSpPr>
        <p:spPr>
          <a:xfrm>
            <a:off x="9410192" y="3385312"/>
            <a:ext cx="714440" cy="325941"/>
          </a:xfrm>
          <a:prstGeom prst="roundRect">
            <a:avLst/>
          </a:prstGeom>
          <a:solidFill>
            <a:srgbClr val="EAF1FB"/>
          </a:solidFill>
          <a:ln w="1651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4E79"/>
                </a:solidFill>
                <a:latin typeface="Consolas"/>
              </a:rPr>
              <a:t>Neg</a:t>
            </a:r>
          </a:p>
        </p:txBody>
      </p:sp>
      <p:sp>
        <p:nvSpPr>
          <p:cNvPr id="20" name="Rounded Rectangle 13"/>
          <p:cNvSpPr/>
          <p:nvPr/>
        </p:nvSpPr>
        <p:spPr>
          <a:xfrm>
            <a:off x="9410192" y="4043680"/>
            <a:ext cx="714440" cy="325941"/>
          </a:xfrm>
          <a:prstGeom prst="roundRect">
            <a:avLst/>
          </a:prstGeom>
          <a:solidFill>
            <a:srgbClr val="EAF1FB"/>
          </a:solidFill>
          <a:ln w="1651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4E79"/>
                </a:solidFill>
                <a:latin typeface="Consolas"/>
              </a:rPr>
              <a:t>Neg</a:t>
            </a:r>
          </a:p>
        </p:txBody>
      </p:sp>
      <p:sp>
        <p:nvSpPr>
          <p:cNvPr id="21" name="Rounded Rectangle 14"/>
          <p:cNvSpPr/>
          <p:nvPr/>
        </p:nvSpPr>
        <p:spPr>
          <a:xfrm>
            <a:off x="9410192" y="4702048"/>
            <a:ext cx="714440" cy="325941"/>
          </a:xfrm>
          <a:prstGeom prst="roundRect">
            <a:avLst/>
          </a:prstGeom>
          <a:solidFill>
            <a:srgbClr val="EAF1FB"/>
          </a:solidFill>
          <a:ln w="1651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4E79"/>
                </a:solidFill>
                <a:latin typeface="Consolas"/>
              </a:rPr>
              <a:t>y</a:t>
            </a:r>
          </a:p>
        </p:txBody>
      </p:sp>
      <p:sp>
        <p:nvSpPr>
          <p:cNvPr id="16" name="Rounded Rectangle 9"/>
          <p:cNvSpPr/>
          <p:nvPr/>
        </p:nvSpPr>
        <p:spPr>
          <a:xfrm>
            <a:off x="7453376" y="3385312"/>
            <a:ext cx="714440" cy="325941"/>
          </a:xfrm>
          <a:prstGeom prst="roundRect">
            <a:avLst/>
          </a:prstGeom>
          <a:solidFill>
            <a:srgbClr val="EAF1FB"/>
          </a:solidFill>
          <a:ln w="1651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4E79"/>
                </a:solidFill>
                <a:latin typeface="Consolas"/>
              </a:rPr>
              <a:t>Mul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53160" y="5762752"/>
            <a:ext cx="10058400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 err="1">
                <a:solidFill>
                  <a:srgbClr val="2F3338"/>
                </a:solidFill>
                <a:latin typeface="Segoe UI"/>
              </a:rPr>
              <a:t>Modelarea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cu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tipuri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algebrice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face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structura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expresiilor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explicit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lang="ro-RO" sz="1500" dirty="0" err="1">
                <a:solidFill>
                  <a:srgbClr val="2F3338"/>
                </a:solidFill>
                <a:latin typeface="Segoe UI"/>
              </a:rPr>
              <a:t>ș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i u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ș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or 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de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procesat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recursiv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Func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ț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ii 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precum size/depth/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operatorCount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folosesc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direct 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aceast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structur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ă.</a:t>
            </a:r>
            <a:endParaRPr sz="1500" b="0" i="0" dirty="0">
              <a:solidFill>
                <a:srgbClr val="2F333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dirty="0" err="1">
                <a:solidFill>
                  <a:srgbClr val="2F3338"/>
                </a:solidFill>
              </a:rPr>
              <a:t>Evaluatorul</a:t>
            </a:r>
            <a:r>
              <a:rPr sz="3500" dirty="0">
                <a:solidFill>
                  <a:srgbClr val="2F3338"/>
                </a:solidFill>
              </a:rPr>
              <a:t>: </a:t>
            </a:r>
            <a:r>
              <a:rPr sz="3500" dirty="0" err="1">
                <a:solidFill>
                  <a:srgbClr val="2F3338"/>
                </a:solidFill>
              </a:rPr>
              <a:t>semantica</a:t>
            </a:r>
            <a:r>
              <a:rPr sz="3500" dirty="0">
                <a:solidFill>
                  <a:srgbClr val="2F3338"/>
                </a:solidFill>
              </a:rPr>
              <a:t> </a:t>
            </a:r>
            <a:r>
              <a:rPr sz="3500" dirty="0" smtClean="0">
                <a:solidFill>
                  <a:srgbClr val="2F3338"/>
                </a:solidFill>
              </a:rPr>
              <a:t>opera</a:t>
            </a:r>
            <a:r>
              <a:rPr lang="ro-RO" sz="3500" dirty="0" smtClean="0">
                <a:solidFill>
                  <a:srgbClr val="2F3338"/>
                </a:solidFill>
              </a:rPr>
              <a:t>ț</a:t>
            </a:r>
            <a:r>
              <a:rPr sz="3500" dirty="0" err="1" smtClean="0">
                <a:solidFill>
                  <a:srgbClr val="2F3338"/>
                </a:solidFill>
              </a:rPr>
              <a:t>ional</a:t>
            </a:r>
            <a:r>
              <a:rPr lang="ro-RO" sz="3500" dirty="0" smtClean="0">
                <a:solidFill>
                  <a:srgbClr val="2F3338"/>
                </a:solidFill>
              </a:rPr>
              <a:t>ă</a:t>
            </a:r>
            <a:endParaRPr sz="3500" dirty="0">
              <a:solidFill>
                <a:srgbClr val="2F3338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0" y="2159000"/>
            <a:ext cx="10058400" cy="17830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261872" y="2250440"/>
            <a:ext cx="9729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CDCFE"/>
                </a:solidFill>
                <a:latin typeface="Consolas"/>
              </a:rPr>
              <a:t>Fragment din Eval.hs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524760"/>
            <a:ext cx="9729216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nsolas"/>
              </a:rPr>
              <a:t>eval :: Env -&gt; Expr -&gt; Maybe Int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nsolas"/>
              </a:rPr>
              <a:t>eval env (Add a b) = liftA2 (+) (eval env a) (eval env 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nsolas"/>
              </a:rPr>
              <a:t>eval env (Var x)   = </a:t>
            </a:r>
            <a:r>
              <a:rPr sz="1400" b="0" i="0" dirty="0" err="1">
                <a:solidFill>
                  <a:srgbClr val="D4D4D4"/>
                </a:solidFill>
                <a:latin typeface="Consolas"/>
              </a:rPr>
              <a:t>Map.lookup</a:t>
            </a:r>
            <a:r>
              <a:rPr sz="1400" b="0" i="0" dirty="0">
                <a:solidFill>
                  <a:srgbClr val="D4D4D4"/>
                </a:solidFill>
                <a:latin typeface="Consolas"/>
              </a:rPr>
              <a:t> x env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079239"/>
            <a:ext cx="10058400" cy="2057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325880" y="4307839"/>
            <a:ext cx="960120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2F3338"/>
                </a:solidFill>
                <a:latin typeface="Segoe UI"/>
              </a:rPr>
              <a:t>- Maybe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encodeaz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explicit 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e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ș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ecul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par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ț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ial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(Nothing)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opera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ț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iile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binare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reu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ș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esc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doar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dac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ambele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subexpresii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sunt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evaluabile</a:t>
            </a:r>
            <a:endParaRPr sz="16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2F3338"/>
                </a:solidFill>
                <a:latin typeface="Segoe UI"/>
              </a:rPr>
              <a:t>- design-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ul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evit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excep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ț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ii 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runtime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pentru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variabile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nedefinite</a:t>
            </a:r>
            <a:endParaRPr sz="1600" b="0" i="0" dirty="0">
              <a:solidFill>
                <a:srgbClr val="2F333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dirty="0" err="1">
                <a:solidFill>
                  <a:srgbClr val="2F3338"/>
                </a:solidFill>
              </a:rPr>
              <a:t>Simplificatorul</a:t>
            </a:r>
            <a:r>
              <a:rPr sz="3500" dirty="0">
                <a:solidFill>
                  <a:srgbClr val="2F3338"/>
                </a:solidFill>
              </a:rPr>
              <a:t> </a:t>
            </a:r>
            <a:r>
              <a:rPr lang="ro-RO" sz="3500" dirty="0" err="1">
                <a:solidFill>
                  <a:srgbClr val="2F3338"/>
                </a:solidFill>
              </a:rPr>
              <a:t>ș</a:t>
            </a:r>
            <a:r>
              <a:rPr sz="3500" dirty="0" smtClean="0">
                <a:solidFill>
                  <a:srgbClr val="2F3338"/>
                </a:solidFill>
              </a:rPr>
              <a:t>i </a:t>
            </a:r>
            <a:r>
              <a:rPr sz="3500" dirty="0" err="1">
                <a:solidFill>
                  <a:srgbClr val="2F3338"/>
                </a:solidFill>
              </a:rPr>
              <a:t>regulile</a:t>
            </a:r>
            <a:r>
              <a:rPr sz="3500" dirty="0">
                <a:solidFill>
                  <a:srgbClr val="2F3338"/>
                </a:solidFill>
              </a:rPr>
              <a:t> </a:t>
            </a:r>
            <a:r>
              <a:rPr sz="3500" dirty="0" err="1">
                <a:solidFill>
                  <a:srgbClr val="2F3338"/>
                </a:solidFill>
              </a:rPr>
              <a:t>algebrice</a:t>
            </a:r>
            <a:endParaRPr sz="3500" dirty="0">
              <a:solidFill>
                <a:srgbClr val="2F3338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2027982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 dirty="0" err="1">
                <a:solidFill>
                  <a:srgbClr val="2F3338"/>
                </a:solidFill>
                <a:latin typeface="Segoe UI"/>
              </a:rPr>
              <a:t>Simplificarea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aplic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reguli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p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â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n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la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stabilizare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(fixpoint).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1" y="2514600"/>
            <a:ext cx="4846320" cy="356616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2514600"/>
            <a:ext cx="4846320" cy="35661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4604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1" y="342900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x + 0 -&gt; 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x * 1 -&gt; 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x * 0 -&gt; 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x - x -&gt; 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--x -&gt; 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- 0 - e -&gt; -e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3670717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Const a + Const b -&gt; Const (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a+b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Const a * Const b -&gt; Const (a*b)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Const a - Const b -&gt; Const (a-b)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regulile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sunt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aplicate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recursiv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pe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subarbori</a:t>
            </a:r>
            <a:endParaRPr sz="1500" b="0" i="0" dirty="0">
              <a:solidFill>
                <a:srgbClr val="2F333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dirty="0">
                <a:solidFill>
                  <a:srgbClr val="2F3338"/>
                </a:solidFill>
              </a:rPr>
              <a:t>Pretty + Parser: round-trip semantic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024380"/>
            <a:ext cx="10058400" cy="418592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4604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325880" y="2207260"/>
            <a:ext cx="96012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Pretty.hs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foloseste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b="0" i="0" dirty="0" err="1" smtClean="0">
                <a:solidFill>
                  <a:srgbClr val="2F3338"/>
                </a:solidFill>
                <a:latin typeface="Segoe UI"/>
              </a:rPr>
              <a:t>priorit</a:t>
            </a:r>
            <a:r>
              <a:rPr lang="ro-RO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lang="ro-RO" dirty="0">
                <a:solidFill>
                  <a:srgbClr val="2F3338"/>
                </a:solidFill>
                <a:latin typeface="Segoe UI"/>
              </a:rPr>
              <a:t>ț</a:t>
            </a:r>
            <a:r>
              <a:rPr b="0" i="0" dirty="0" smtClean="0">
                <a:solidFill>
                  <a:srgbClr val="2F3338"/>
                </a:solidFill>
                <a:latin typeface="Segoe UI"/>
              </a:rPr>
              <a:t>i 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(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addPrec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,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mulPrec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,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negPrec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)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pentru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paranteze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corecte</a:t>
            </a:r>
            <a:endParaRPr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Parser.hs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b="0" i="0" dirty="0" smtClean="0">
                <a:solidFill>
                  <a:srgbClr val="2F3338"/>
                </a:solidFill>
                <a:latin typeface="Segoe UI"/>
              </a:rPr>
              <a:t>respect</a:t>
            </a:r>
            <a:r>
              <a:rPr lang="ro-RO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b="0" i="0" dirty="0" err="1" smtClean="0">
                <a:solidFill>
                  <a:srgbClr val="2F3338"/>
                </a:solidFill>
                <a:latin typeface="Segoe UI"/>
              </a:rPr>
              <a:t>preceden</a:t>
            </a:r>
            <a:r>
              <a:rPr lang="ro-RO" b="0" i="0" dirty="0" smtClean="0">
                <a:solidFill>
                  <a:srgbClr val="2F3338"/>
                </a:solidFill>
                <a:latin typeface="Segoe UI"/>
              </a:rPr>
              <a:t>ț</a:t>
            </a:r>
            <a:r>
              <a:rPr b="0" i="0" dirty="0" smtClean="0">
                <a:solidFill>
                  <a:srgbClr val="2F3338"/>
                </a:solidFill>
                <a:latin typeface="Segoe UI"/>
              </a:rPr>
              <a:t>a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operatorilor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: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exprP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 (+/-),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termP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 (*),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factorP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 (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negare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b="0" i="0" dirty="0">
                <a:solidFill>
                  <a:srgbClr val="2F3338"/>
                </a:solidFill>
                <a:latin typeface="Segoe UI"/>
              </a:rPr>
              <a:t>- sunt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suportate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variabile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,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constante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,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paranteze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lang="ro-RO" dirty="0" err="1">
                <a:solidFill>
                  <a:srgbClr val="2F3338"/>
                </a:solidFill>
                <a:latin typeface="Segoe UI"/>
              </a:rPr>
              <a:t>ș</a:t>
            </a:r>
            <a:r>
              <a:rPr b="0" i="0" dirty="0" smtClean="0">
                <a:solidFill>
                  <a:srgbClr val="2F3338"/>
                </a:solidFill>
                <a:latin typeface="Segoe UI"/>
              </a:rPr>
              <a:t>i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negare</a:t>
            </a:r>
            <a:r>
              <a:rPr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b="0" i="0" dirty="0" err="1">
                <a:solidFill>
                  <a:srgbClr val="2F3338"/>
                </a:solidFill>
                <a:latin typeface="Segoe UI"/>
              </a:rPr>
              <a:t>unara</a:t>
            </a:r>
            <a:endParaRPr b="0" i="0" dirty="0">
              <a:solidFill>
                <a:srgbClr val="2F3338"/>
              </a:solidFill>
              <a:latin typeface="Segoe U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325880" y="3944620"/>
            <a:ext cx="9601200" cy="13258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490472" y="4036059"/>
            <a:ext cx="92720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9CDCFE"/>
                </a:solidFill>
                <a:latin typeface="Consolas"/>
              </a:rPr>
              <a:t>Proprietate validata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4310380"/>
            <a:ext cx="92720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D4D4D4"/>
                </a:solidFill>
                <a:latin typeface="Consolas"/>
              </a:rPr>
              <a:t>eval env (parse(pretty(expr))) == eval env expr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 err="1">
                <a:solidFill>
                  <a:schemeClr val="tx1"/>
                </a:solidFill>
              </a:rPr>
              <a:t>Generatoarele</a:t>
            </a:r>
            <a:r>
              <a:rPr sz="3200" dirty="0">
                <a:solidFill>
                  <a:schemeClr val="tx1"/>
                </a:solidFill>
              </a:rPr>
              <a:t> </a:t>
            </a:r>
            <a:r>
              <a:rPr sz="3200" dirty="0" err="1">
                <a:solidFill>
                  <a:schemeClr val="tx1"/>
                </a:solidFill>
              </a:rPr>
              <a:t>proprii</a:t>
            </a:r>
            <a:r>
              <a:rPr sz="3200" dirty="0">
                <a:solidFill>
                  <a:schemeClr val="tx1"/>
                </a:solidFill>
              </a:rPr>
              <a:t> (de </a:t>
            </a:r>
            <a:r>
              <a:rPr sz="3200" dirty="0" err="1">
                <a:solidFill>
                  <a:schemeClr val="tx1"/>
                </a:solidFill>
              </a:rPr>
              <a:t>ce</a:t>
            </a:r>
            <a:r>
              <a:rPr sz="3200" dirty="0">
                <a:solidFill>
                  <a:schemeClr val="tx1"/>
                </a:solidFill>
              </a:rPr>
              <a:t> </a:t>
            </a:r>
            <a:r>
              <a:rPr sz="3200" dirty="0" err="1" smtClean="0">
                <a:solidFill>
                  <a:schemeClr val="tx1"/>
                </a:solidFill>
              </a:rPr>
              <a:t>conteaz</a:t>
            </a:r>
            <a:r>
              <a:rPr lang="ro-RO" sz="3200" dirty="0" smtClean="0">
                <a:solidFill>
                  <a:schemeClr val="tx1"/>
                </a:solidFill>
              </a:rPr>
              <a:t>ă</a:t>
            </a:r>
            <a:r>
              <a:rPr sz="3200" dirty="0" smtClean="0">
                <a:solidFill>
                  <a:schemeClr val="tx1"/>
                </a:solidFill>
              </a:rPr>
              <a:t>)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2014173"/>
            <a:ext cx="10147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0" i="0" dirty="0" err="1">
                <a:solidFill>
                  <a:srgbClr val="2F2F2F"/>
                </a:solidFill>
                <a:latin typeface="Calibri"/>
              </a:rPr>
              <a:t>Generatoarele</a:t>
            </a:r>
            <a:r>
              <a:rPr sz="1600" b="0" i="0" dirty="0">
                <a:solidFill>
                  <a:srgbClr val="2F2F2F"/>
                </a:solidFill>
                <a:latin typeface="Calibri"/>
              </a:rPr>
              <a:t> sunt </a:t>
            </a:r>
            <a:r>
              <a:rPr sz="1600" b="0" i="0" dirty="0" err="1">
                <a:solidFill>
                  <a:srgbClr val="2F2F2F"/>
                </a:solidFill>
                <a:latin typeface="Calibri"/>
              </a:rPr>
              <a:t>scrise</a:t>
            </a:r>
            <a:r>
              <a:rPr sz="1600" b="0" i="0" dirty="0">
                <a:solidFill>
                  <a:srgbClr val="2F2F2F"/>
                </a:solidFill>
                <a:latin typeface="Calibri"/>
              </a:rPr>
              <a:t> </a:t>
            </a:r>
            <a:r>
              <a:rPr sz="1600" b="1" i="0" dirty="0">
                <a:solidFill>
                  <a:srgbClr val="2F2F2F"/>
                </a:solidFill>
                <a:latin typeface="Calibri"/>
              </a:rPr>
              <a:t>manual</a:t>
            </a:r>
            <a:r>
              <a:rPr sz="1600" b="0" i="0" dirty="0">
                <a:solidFill>
                  <a:srgbClr val="2F2F2F"/>
                </a:solidFill>
                <a:latin typeface="Calibri"/>
              </a:rPr>
              <a:t>, nu derivate automat. Un generator automat (</a:t>
            </a:r>
            <a:r>
              <a:rPr sz="1600" b="1" i="0" dirty="0" err="1">
                <a:solidFill>
                  <a:srgbClr val="2F2F2F"/>
                </a:solidFill>
                <a:latin typeface="Consolas"/>
              </a:rPr>
              <a:t>genericArbitrary</a:t>
            </a:r>
            <a:r>
              <a:rPr sz="1600" b="0" i="0" dirty="0">
                <a:solidFill>
                  <a:srgbClr val="2F2F2F"/>
                </a:solidFill>
                <a:latin typeface="Calibri"/>
              </a:rPr>
              <a:t>) nu </a:t>
            </a:r>
            <a:r>
              <a:rPr sz="1600" b="0" i="0" dirty="0" err="1" smtClean="0">
                <a:solidFill>
                  <a:srgbClr val="2F2F2F"/>
                </a:solidFill>
                <a:latin typeface="Calibri"/>
              </a:rPr>
              <a:t>cunoa</a:t>
            </a:r>
            <a:r>
              <a:rPr lang="ro-RO" sz="1600" b="0" i="0" dirty="0" smtClean="0">
                <a:solidFill>
                  <a:srgbClr val="2F2F2F"/>
                </a:solidFill>
                <a:latin typeface="Calibri"/>
              </a:rPr>
              <a:t>ș</a:t>
            </a:r>
            <a:r>
              <a:rPr sz="1600" b="0" i="0" dirty="0" err="1" smtClean="0">
                <a:solidFill>
                  <a:srgbClr val="2F2F2F"/>
                </a:solidFill>
                <a:latin typeface="Calibri"/>
              </a:rPr>
              <a:t>te</a:t>
            </a:r>
            <a:r>
              <a:rPr sz="1600" b="0" i="0" dirty="0" smtClean="0">
                <a:solidFill>
                  <a:srgbClr val="2F2F2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F2F2F"/>
                </a:solidFill>
                <a:latin typeface="Calibri"/>
              </a:rPr>
              <a:t>domeniul</a:t>
            </a:r>
            <a:r>
              <a:rPr sz="1600" b="0" i="0" dirty="0">
                <a:solidFill>
                  <a:srgbClr val="2F2F2F"/>
                </a:solidFill>
                <a:latin typeface="Calibri"/>
              </a:rPr>
              <a:t> </a:t>
            </a:r>
            <a:r>
              <a:rPr lang="ro-RO" sz="1600" dirty="0" err="1">
                <a:solidFill>
                  <a:srgbClr val="2F2F2F"/>
                </a:solidFill>
                <a:latin typeface="Calibri"/>
              </a:rPr>
              <a:t>ș</a:t>
            </a:r>
            <a:r>
              <a:rPr sz="1600" b="0" i="0" dirty="0" smtClean="0">
                <a:solidFill>
                  <a:srgbClr val="2F2F2F"/>
                </a:solidFill>
                <a:latin typeface="Calibri"/>
              </a:rPr>
              <a:t>i </a:t>
            </a:r>
            <a:r>
              <a:rPr sz="1600" b="0" i="0" dirty="0" err="1">
                <a:solidFill>
                  <a:srgbClr val="2F2F2F"/>
                </a:solidFill>
                <a:latin typeface="Calibri"/>
              </a:rPr>
              <a:t>poate</a:t>
            </a:r>
            <a:r>
              <a:rPr sz="1600" b="0" i="0" dirty="0">
                <a:solidFill>
                  <a:srgbClr val="2F2F2F"/>
                </a:solidFill>
                <a:latin typeface="Calibri"/>
              </a:rPr>
              <a:t> produce </a:t>
            </a:r>
            <a:r>
              <a:rPr sz="1600" b="0" i="0" dirty="0" err="1">
                <a:solidFill>
                  <a:srgbClr val="2F2F2F"/>
                </a:solidFill>
                <a:latin typeface="Calibri"/>
              </a:rPr>
              <a:t>expresii</a:t>
            </a:r>
            <a:r>
              <a:rPr sz="1600" b="0" i="0" dirty="0">
                <a:solidFill>
                  <a:srgbClr val="2F2F2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F2F2F"/>
                </a:solidFill>
                <a:latin typeface="Calibri"/>
              </a:rPr>
              <a:t>dezechilibrate</a:t>
            </a:r>
            <a:r>
              <a:rPr sz="1600" b="0" i="0" dirty="0">
                <a:solidFill>
                  <a:srgbClr val="2F2F2F"/>
                </a:solidFill>
                <a:latin typeface="Calibri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6180" y="2759395"/>
            <a:ext cx="4864608" cy="1965960"/>
          </a:xfrm>
          <a:prstGeom prst="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50772" y="2809748"/>
            <a:ext cx="4535424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4EC9B0"/>
                </a:solidFill>
                <a:latin typeface="Consolas"/>
              </a:rPr>
              <a:t>genSmallInt</a:t>
            </a:r>
            <a:r>
              <a:rPr sz="1400" b="0" i="0" dirty="0">
                <a:solidFill>
                  <a:srgbClr val="D4D4D4"/>
                </a:solidFill>
                <a:latin typeface="Consolas"/>
              </a:rPr>
              <a:t> - </a:t>
            </a:r>
            <a:r>
              <a:rPr sz="1400" b="0" i="0" dirty="0" err="1">
                <a:solidFill>
                  <a:srgbClr val="D4D4D4"/>
                </a:solidFill>
                <a:latin typeface="Consolas"/>
              </a:rPr>
              <a:t>ponderi</a:t>
            </a:r>
            <a:r>
              <a:rPr sz="140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 dirty="0" err="1">
                <a:solidFill>
                  <a:srgbClr val="D4D4D4"/>
                </a:solidFill>
                <a:latin typeface="Consolas"/>
              </a:rPr>
              <a:t>explicite</a:t>
            </a:r>
            <a:r>
              <a:rPr sz="140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 dirty="0" err="1">
                <a:solidFill>
                  <a:srgbClr val="D4D4D4"/>
                </a:solidFill>
                <a:latin typeface="Consolas"/>
              </a:rPr>
              <a:t>pentru</a:t>
            </a:r>
            <a:r>
              <a:rPr sz="140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 dirty="0" err="1">
                <a:solidFill>
                  <a:srgbClr val="D4D4D4"/>
                </a:solidFill>
                <a:latin typeface="Consolas"/>
              </a:rPr>
              <a:t>constante</a:t>
            </a:r>
            <a:endParaRPr sz="1400" b="0" i="0" dirty="0">
              <a:solidFill>
                <a:srgbClr val="D4D4D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DCDCAA"/>
                </a:solidFill>
                <a:latin typeface="Consolas"/>
              </a:rPr>
              <a:t>frequency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D4D4D4"/>
                </a:solidFill>
                <a:latin typeface="Consolas"/>
              </a:rPr>
              <a:t>  [ (</a:t>
            </a:r>
            <a:r>
              <a:rPr sz="1300" b="0" i="0" dirty="0">
                <a:solidFill>
                  <a:srgbClr val="B5CEA8"/>
                </a:solidFill>
                <a:latin typeface="Consolas"/>
              </a:rPr>
              <a:t>5</a:t>
            </a:r>
            <a:r>
              <a:rPr sz="130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300" b="0" i="0" dirty="0" err="1">
                <a:solidFill>
                  <a:srgbClr val="9CDCFE"/>
                </a:solidFill>
                <a:latin typeface="Consolas"/>
              </a:rPr>
              <a:t>chooseInt</a:t>
            </a:r>
            <a:r>
              <a:rPr sz="1300" b="0" i="0" dirty="0">
                <a:solidFill>
                  <a:srgbClr val="D4D4D4"/>
                </a:solidFill>
                <a:latin typeface="Consolas"/>
              </a:rPr>
              <a:t> (-4, 4))</a:t>
            </a:r>
            <a:r>
              <a:rPr sz="1300" b="0" i="0" dirty="0">
                <a:solidFill>
                  <a:srgbClr val="6A9955"/>
                </a:solidFill>
                <a:latin typeface="Consolas"/>
              </a:rPr>
              <a:t>   -- 83%: </a:t>
            </a:r>
            <a:r>
              <a:rPr sz="1300" b="0" i="0" dirty="0" err="1">
                <a:solidFill>
                  <a:srgbClr val="6A9955"/>
                </a:solidFill>
                <a:latin typeface="Consolas"/>
              </a:rPr>
              <a:t>numere</a:t>
            </a:r>
            <a:r>
              <a:rPr sz="130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6A9955"/>
                </a:solidFill>
                <a:latin typeface="Consolas"/>
              </a:rPr>
              <a:t>mici</a:t>
            </a:r>
            <a:r>
              <a:rPr sz="1300" b="0" i="0" dirty="0">
                <a:solidFill>
                  <a:srgbClr val="6A9955"/>
                </a:solidFill>
                <a:latin typeface="Consolas"/>
              </a:rPr>
              <a:t>, </a:t>
            </a:r>
            <a:r>
              <a:rPr sz="1300" b="0" i="0" dirty="0" err="1">
                <a:solidFill>
                  <a:srgbClr val="6A9955"/>
                </a:solidFill>
                <a:latin typeface="Consolas"/>
              </a:rPr>
              <a:t>usor</a:t>
            </a:r>
            <a:r>
              <a:rPr sz="1300" b="0" i="0" dirty="0">
                <a:solidFill>
                  <a:srgbClr val="6A9955"/>
                </a:solidFill>
                <a:latin typeface="Consolas"/>
              </a:rPr>
              <a:t> de </a:t>
            </a:r>
            <a:r>
              <a:rPr sz="1300" b="0" i="0" dirty="0" err="1">
                <a:solidFill>
                  <a:srgbClr val="6A9955"/>
                </a:solidFill>
                <a:latin typeface="Consolas"/>
              </a:rPr>
              <a:t>citit</a:t>
            </a:r>
            <a:endParaRPr sz="1300" b="0" i="0" dirty="0">
              <a:solidFill>
                <a:srgbClr val="6A9955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D4D4D4"/>
                </a:solidFill>
                <a:latin typeface="Consolas"/>
              </a:rPr>
              <a:t>  , (</a:t>
            </a:r>
            <a:r>
              <a:rPr sz="1300" b="0" i="0" dirty="0">
                <a:solidFill>
                  <a:srgbClr val="B5CEA8"/>
                </a:solidFill>
                <a:latin typeface="Consolas"/>
              </a:rPr>
              <a:t>1</a:t>
            </a:r>
            <a:r>
              <a:rPr sz="1300" b="0" i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300" b="0" i="0" dirty="0" err="1">
                <a:solidFill>
                  <a:srgbClr val="9CDCFE"/>
                </a:solidFill>
                <a:latin typeface="Consolas"/>
              </a:rPr>
              <a:t>chooseInt</a:t>
            </a:r>
            <a:r>
              <a:rPr sz="1300" b="0" i="0" dirty="0">
                <a:solidFill>
                  <a:srgbClr val="D4D4D4"/>
                </a:solidFill>
                <a:latin typeface="Consolas"/>
              </a:rPr>
              <a:t> (-12, 12))</a:t>
            </a:r>
            <a:r>
              <a:rPr sz="1300" b="0" i="0" dirty="0">
                <a:solidFill>
                  <a:srgbClr val="6A9955"/>
                </a:solidFill>
                <a:latin typeface="Consolas"/>
              </a:rPr>
              <a:t> -- 17%: </a:t>
            </a:r>
            <a:r>
              <a:rPr sz="1300" b="0" i="0" dirty="0" err="1">
                <a:solidFill>
                  <a:srgbClr val="6A9955"/>
                </a:solidFill>
                <a:latin typeface="Consolas"/>
              </a:rPr>
              <a:t>numere</a:t>
            </a:r>
            <a:r>
              <a:rPr sz="130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6A9955"/>
                </a:solidFill>
                <a:latin typeface="Consolas"/>
              </a:rPr>
              <a:t>mai</a:t>
            </a:r>
            <a:r>
              <a:rPr sz="130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6A9955"/>
                </a:solidFill>
                <a:latin typeface="Consolas"/>
              </a:rPr>
              <a:t>mari</a:t>
            </a:r>
            <a:endParaRPr sz="1300" b="0" i="0" dirty="0">
              <a:solidFill>
                <a:srgbClr val="6A9955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D4D4D4"/>
                </a:solidFill>
                <a:latin typeface="Consolas"/>
              </a:rPr>
              <a:t>  ]</a:t>
            </a:r>
          </a:p>
        </p:txBody>
      </p:sp>
      <p:sp>
        <p:nvSpPr>
          <p:cNvPr id="6" name="Rectangle 5"/>
          <p:cNvSpPr/>
          <p:nvPr/>
        </p:nvSpPr>
        <p:spPr>
          <a:xfrm>
            <a:off x="6379972" y="2759395"/>
            <a:ext cx="4864608" cy="2331720"/>
          </a:xfrm>
          <a:prstGeom prst="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44564" y="2809748"/>
            <a:ext cx="4535424" cy="2112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EC9B0"/>
                </a:solidFill>
                <a:latin typeface="Consolas"/>
              </a:rPr>
              <a:t>genExpr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cu </a:t>
            </a:r>
            <a:r>
              <a:rPr sz="1400" b="1" i="0">
                <a:solidFill>
                  <a:srgbClr val="569CD6"/>
                </a:solidFill>
                <a:latin typeface="Consolas"/>
              </a:rPr>
              <a:t>sized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+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frequency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DCAA"/>
                </a:solidFill>
                <a:latin typeface="Consolas"/>
              </a:rPr>
              <a:t>frequency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[ (</a:t>
            </a:r>
            <a:r>
              <a:rPr sz="1300" b="0" i="0">
                <a:solidFill>
                  <a:srgbClr val="B5CEA8"/>
                </a:solidFill>
                <a:latin typeface="Consolas"/>
              </a:rPr>
              <a:t>5</a:t>
            </a:r>
            <a:r>
              <a:rPr sz="1300" b="0" i="0">
                <a:solidFill>
                  <a:srgbClr val="D4D4D4"/>
                </a:solidFill>
                <a:latin typeface="Consolas"/>
              </a:rPr>
              <a:t>, terminal)</a:t>
            </a:r>
            <a:r>
              <a:rPr sz="1300" b="0" i="0">
                <a:solidFill>
                  <a:srgbClr val="6A9955"/>
                </a:solidFill>
                <a:latin typeface="Consolas"/>
              </a:rPr>
              <a:t>    -- 26%: Const sau Var (opreste recursivitatea)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, (</a:t>
            </a:r>
            <a:r>
              <a:rPr sz="1300" b="0" i="0">
                <a:solidFill>
                  <a:srgbClr val="B5CEA8"/>
                </a:solidFill>
                <a:latin typeface="Consolas"/>
              </a:rPr>
              <a:t>2</a:t>
            </a:r>
            <a:r>
              <a:rPr sz="1300" b="0" i="0">
                <a:solidFill>
                  <a:srgbClr val="D4D4D4"/>
                </a:solidFill>
                <a:latin typeface="Consolas"/>
              </a:rPr>
              <a:t>, </a:t>
            </a:r>
            <a:r>
              <a:rPr sz="1300" b="1" i="0">
                <a:solidFill>
                  <a:srgbClr val="569CD6"/>
                </a:solidFill>
                <a:latin typeface="Consolas"/>
              </a:rPr>
              <a:t>Neg</a:t>
            </a:r>
            <a:r>
              <a:rPr sz="1300" b="0" i="0">
                <a:solidFill>
                  <a:srgbClr val="D4D4D4"/>
                </a:solidFill>
                <a:latin typeface="Consolas"/>
              </a:rPr>
              <a:t> ...)</a:t>
            </a:r>
            <a:r>
              <a:rPr sz="1300" b="0" i="0">
                <a:solidFill>
                  <a:srgbClr val="6A9955"/>
                </a:solidFill>
                <a:latin typeface="Consolas"/>
              </a:rPr>
              <a:t>     -- 11%: negatie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, (</a:t>
            </a:r>
            <a:r>
              <a:rPr sz="1300" b="0" i="0">
                <a:solidFill>
                  <a:srgbClr val="B5CEA8"/>
                </a:solidFill>
                <a:latin typeface="Consolas"/>
              </a:rPr>
              <a:t>4</a:t>
            </a:r>
            <a:r>
              <a:rPr sz="1300" b="0" i="0">
                <a:solidFill>
                  <a:srgbClr val="D4D4D4"/>
                </a:solidFill>
                <a:latin typeface="Consolas"/>
              </a:rPr>
              <a:t>, bin </a:t>
            </a:r>
            <a:r>
              <a:rPr sz="1300" b="1" i="0">
                <a:solidFill>
                  <a:srgbClr val="569CD6"/>
                </a:solidFill>
                <a:latin typeface="Consolas"/>
              </a:rPr>
              <a:t>Add</a:t>
            </a:r>
            <a:r>
              <a:rPr sz="1300" b="0" i="0">
                <a:solidFill>
                  <a:srgbClr val="D4D4D4"/>
                </a:solidFill>
                <a:latin typeface="Consolas"/>
              </a:rPr>
              <a:t> ...)</a:t>
            </a:r>
            <a:r>
              <a:rPr sz="1300" b="0" i="0">
                <a:solidFill>
                  <a:srgbClr val="6A9955"/>
                </a:solidFill>
                <a:latin typeface="Consolas"/>
              </a:rPr>
              <a:t> -- 21%: adunare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, (</a:t>
            </a:r>
            <a:r>
              <a:rPr sz="1300" b="0" i="0">
                <a:solidFill>
                  <a:srgbClr val="B5CEA8"/>
                </a:solidFill>
                <a:latin typeface="Consolas"/>
              </a:rPr>
              <a:t>4</a:t>
            </a:r>
            <a:r>
              <a:rPr sz="1300" b="0" i="0">
                <a:solidFill>
                  <a:srgbClr val="D4D4D4"/>
                </a:solidFill>
                <a:latin typeface="Consolas"/>
              </a:rPr>
              <a:t>, bin </a:t>
            </a:r>
            <a:r>
              <a:rPr sz="1300" b="1" i="0">
                <a:solidFill>
                  <a:srgbClr val="569CD6"/>
                </a:solidFill>
                <a:latin typeface="Consolas"/>
              </a:rPr>
              <a:t>Sub</a:t>
            </a:r>
            <a:r>
              <a:rPr sz="1300" b="0" i="0">
                <a:solidFill>
                  <a:srgbClr val="D4D4D4"/>
                </a:solidFill>
                <a:latin typeface="Consolas"/>
              </a:rPr>
              <a:t> ...)</a:t>
            </a:r>
            <a:r>
              <a:rPr sz="1300" b="0" i="0">
                <a:solidFill>
                  <a:srgbClr val="6A9955"/>
                </a:solidFill>
                <a:latin typeface="Consolas"/>
              </a:rPr>
              <a:t> -- 21%: scadere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, (</a:t>
            </a:r>
            <a:r>
              <a:rPr sz="1300" b="0" i="0">
                <a:solidFill>
                  <a:srgbClr val="B5CEA8"/>
                </a:solidFill>
                <a:latin typeface="Consolas"/>
              </a:rPr>
              <a:t>4</a:t>
            </a:r>
            <a:r>
              <a:rPr sz="1300" b="0" i="0">
                <a:solidFill>
                  <a:srgbClr val="D4D4D4"/>
                </a:solidFill>
                <a:latin typeface="Consolas"/>
              </a:rPr>
              <a:t>, bin </a:t>
            </a:r>
            <a:r>
              <a:rPr sz="1300" b="1" i="0">
                <a:solidFill>
                  <a:srgbClr val="569CD6"/>
                </a:solidFill>
                <a:latin typeface="Consolas"/>
              </a:rPr>
              <a:t>Mul</a:t>
            </a:r>
            <a:r>
              <a:rPr sz="1300" b="0" i="0">
                <a:solidFill>
                  <a:srgbClr val="D4D4D4"/>
                </a:solidFill>
                <a:latin typeface="Consolas"/>
              </a:rPr>
              <a:t> ...)</a:t>
            </a:r>
            <a:r>
              <a:rPr sz="1300" b="0" i="0">
                <a:solidFill>
                  <a:srgbClr val="6A9955"/>
                </a:solidFill>
                <a:latin typeface="Consolas"/>
              </a:rPr>
              <a:t> -- 21%: inmultire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4972364"/>
            <a:ext cx="10058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 dirty="0">
                <a:solidFill>
                  <a:srgbClr val="2F2F2F"/>
                </a:solidFill>
                <a:latin typeface="Calibri"/>
              </a:rPr>
              <a:t>De </a:t>
            </a:r>
            <a:r>
              <a:rPr sz="1800" b="1" i="0" dirty="0" err="1">
                <a:solidFill>
                  <a:srgbClr val="2F2F2F"/>
                </a:solidFill>
                <a:latin typeface="Calibri"/>
              </a:rPr>
              <a:t>ce</a:t>
            </a:r>
            <a:r>
              <a:rPr sz="1800" b="1" i="0" dirty="0">
                <a:solidFill>
                  <a:srgbClr val="2F2F2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2F2F2F"/>
                </a:solidFill>
                <a:latin typeface="Calibri"/>
              </a:rPr>
              <a:t>aceste</a:t>
            </a:r>
            <a:r>
              <a:rPr sz="1800" b="1" i="0" dirty="0">
                <a:solidFill>
                  <a:srgbClr val="2F2F2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2F2F2F"/>
                </a:solidFill>
                <a:latin typeface="Calibri"/>
              </a:rPr>
              <a:t>ponderi</a:t>
            </a:r>
            <a:r>
              <a:rPr sz="1800" b="1" i="0" dirty="0">
                <a:solidFill>
                  <a:srgbClr val="2F2F2F"/>
                </a:solidFill>
                <a:latin typeface="Calibri"/>
              </a:rPr>
              <a:t>:</a:t>
            </a:r>
          </a:p>
          <a:p>
            <a:r>
              <a:rPr lang="it-IT" sz="1600" dirty="0">
                <a:solidFill>
                  <a:srgbClr val="2F3338"/>
                </a:solidFill>
                <a:latin typeface="Segoe UI"/>
              </a:rPr>
              <a:t>- </a:t>
            </a:r>
            <a:r>
              <a:rPr lang="it-IT" sz="1600" b="1" dirty="0">
                <a:solidFill>
                  <a:srgbClr val="2F3338"/>
                </a:solidFill>
                <a:latin typeface="Segoe UI"/>
              </a:rPr>
              <a:t>terminalele</a:t>
            </a:r>
            <a:r>
              <a:rPr lang="it-IT" sz="1600" dirty="0">
                <a:solidFill>
                  <a:srgbClr val="2F3338"/>
                </a:solidFill>
                <a:latin typeface="Segoe UI"/>
              </a:rPr>
              <a:t> au pondere mai mare pentru a opri recursivitatea</a:t>
            </a:r>
          </a:p>
          <a:p>
            <a:r>
              <a:rPr lang="it-IT" sz="1600" dirty="0">
                <a:solidFill>
                  <a:srgbClr val="2F3338"/>
                </a:solidFill>
                <a:latin typeface="Segoe UI"/>
              </a:rPr>
              <a:t>- </a:t>
            </a:r>
            <a:r>
              <a:rPr lang="it-IT" sz="1600" b="1" dirty="0">
                <a:solidFill>
                  <a:srgbClr val="2F3338"/>
                </a:solidFill>
                <a:latin typeface="Segoe UI"/>
              </a:rPr>
              <a:t>Neg</a:t>
            </a:r>
            <a:r>
              <a:rPr lang="it-IT" sz="1600" dirty="0">
                <a:solidFill>
                  <a:srgbClr val="2F3338"/>
                </a:solidFill>
                <a:latin typeface="Segoe UI"/>
              </a:rPr>
              <a:t> are pondere mai </a:t>
            </a:r>
            <a:r>
              <a:rPr lang="it-IT" sz="1600" dirty="0" smtClean="0">
                <a:solidFill>
                  <a:srgbClr val="2F3338"/>
                </a:solidFill>
                <a:latin typeface="Segoe UI"/>
              </a:rPr>
              <a:t>mic</a:t>
            </a:r>
            <a:r>
              <a:rPr lang="ro-RO" sz="160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lang="it-IT" sz="160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lang="it-IT" sz="1600" dirty="0">
                <a:solidFill>
                  <a:srgbClr val="2F3338"/>
                </a:solidFill>
                <a:latin typeface="Segoe UI"/>
              </a:rPr>
              <a:t>(un singur subarbore)</a:t>
            </a:r>
          </a:p>
          <a:p>
            <a:r>
              <a:rPr lang="it-IT" sz="1600" dirty="0">
                <a:solidFill>
                  <a:srgbClr val="2F3338"/>
                </a:solidFill>
                <a:latin typeface="Segoe UI"/>
              </a:rPr>
              <a:t>- </a:t>
            </a:r>
            <a:r>
              <a:rPr lang="it-IT" sz="1600" b="1" dirty="0">
                <a:solidFill>
                  <a:srgbClr val="2F3338"/>
                </a:solidFill>
                <a:latin typeface="Segoe UI"/>
              </a:rPr>
              <a:t>operatorii</a:t>
            </a:r>
            <a:r>
              <a:rPr lang="it-IT" sz="1600" dirty="0">
                <a:solidFill>
                  <a:srgbClr val="2F3338"/>
                </a:solidFill>
                <a:latin typeface="Segoe UI"/>
              </a:rPr>
              <a:t> binari sunt egali, nu </a:t>
            </a:r>
            <a:r>
              <a:rPr lang="it-IT" sz="1600" dirty="0" smtClean="0">
                <a:solidFill>
                  <a:srgbClr val="2F3338"/>
                </a:solidFill>
                <a:latin typeface="Segoe UI"/>
              </a:rPr>
              <a:t>favoriz</a:t>
            </a:r>
            <a:r>
              <a:rPr lang="ro-RO" sz="160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lang="it-IT" sz="1600" dirty="0" smtClean="0">
                <a:solidFill>
                  <a:srgbClr val="2F3338"/>
                </a:solidFill>
                <a:latin typeface="Segoe UI"/>
              </a:rPr>
              <a:t>m </a:t>
            </a:r>
            <a:r>
              <a:rPr lang="it-IT" sz="1600" dirty="0">
                <a:solidFill>
                  <a:srgbClr val="2F3338"/>
                </a:solidFill>
                <a:latin typeface="Segoe UI"/>
              </a:rPr>
              <a:t>niciun operator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dirty="0" err="1">
                <a:solidFill>
                  <a:srgbClr val="2F3338"/>
                </a:solidFill>
              </a:rPr>
              <a:t>genExpr</a:t>
            </a:r>
            <a:r>
              <a:rPr sz="3500" dirty="0">
                <a:solidFill>
                  <a:srgbClr val="2F3338"/>
                </a:solidFill>
              </a:rPr>
              <a:t>, </a:t>
            </a:r>
            <a:r>
              <a:rPr sz="3500" dirty="0" err="1">
                <a:solidFill>
                  <a:srgbClr val="2F3338"/>
                </a:solidFill>
              </a:rPr>
              <a:t>genClosedExpr</a:t>
            </a:r>
            <a:r>
              <a:rPr sz="3500" dirty="0">
                <a:solidFill>
                  <a:srgbClr val="2F3338"/>
                </a:solidFill>
              </a:rPr>
              <a:t>, </a:t>
            </a:r>
            <a:r>
              <a:rPr sz="3500" dirty="0" err="1">
                <a:solidFill>
                  <a:srgbClr val="2F3338"/>
                </a:solidFill>
              </a:rPr>
              <a:t>genEnvFor</a:t>
            </a:r>
            <a:endParaRPr sz="3500" dirty="0">
              <a:solidFill>
                <a:srgbClr val="2F3338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0" y="2138680"/>
            <a:ext cx="9773920" cy="400812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325880" y="2321559"/>
            <a:ext cx="9329651" cy="610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genExpr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folose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ș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te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sized + frequency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pentru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controlul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recursivita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ț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ii </a:t>
            </a:r>
            <a:r>
              <a:rPr lang="ro-RO" sz="1600" dirty="0" err="1">
                <a:solidFill>
                  <a:srgbClr val="2F3338"/>
                </a:solidFill>
                <a:latin typeface="Segoe UI"/>
              </a:rPr>
              <a:t>ș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i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distribu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ț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iei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constructorilor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genClosedExpr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produce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expresii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f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r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variabile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(utile in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propriet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ăț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ile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de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substitu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ț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ie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3235960"/>
            <a:ext cx="9329651" cy="1676866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1490471" y="3327400"/>
            <a:ext cx="9009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CDCFE"/>
                </a:solidFill>
                <a:latin typeface="Consolas"/>
              </a:rPr>
              <a:t>genEnvFor (mediu complet pentru variabilele libere)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1" y="3601720"/>
            <a:ext cx="9009777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4D4D4"/>
                </a:solidFill>
                <a:latin typeface="Consolas"/>
              </a:rPr>
              <a:t>let names = Set.toList (freeVars expr)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4D4D4"/>
                </a:solidFill>
                <a:latin typeface="Consolas"/>
              </a:rPr>
              <a:t>values &lt;- vectorOf (length names) genSmallInt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4D4D4"/>
                </a:solidFill>
                <a:latin typeface="Consolas"/>
              </a:rPr>
              <a:t>pure (Map.fromList (zip names values))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5247640"/>
            <a:ext cx="93296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Controlul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generatorului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+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medii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complete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reduc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fals-pozitivele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si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cresc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600" b="0" i="0" dirty="0" err="1" smtClean="0">
                <a:solidFill>
                  <a:srgbClr val="2F3338"/>
                </a:solidFill>
                <a:latin typeface="Segoe UI"/>
              </a:rPr>
              <a:t>relevan</a:t>
            </a:r>
            <a:r>
              <a:rPr lang="ro-RO" sz="1600" b="0" i="0" dirty="0" smtClean="0">
                <a:solidFill>
                  <a:srgbClr val="2F3338"/>
                </a:solidFill>
                <a:latin typeface="Segoe UI"/>
              </a:rPr>
              <a:t>ț</a:t>
            </a:r>
            <a:r>
              <a:rPr sz="1600" b="0" i="0" dirty="0" smtClean="0">
                <a:solidFill>
                  <a:srgbClr val="2F3338"/>
                </a:solidFill>
                <a:latin typeface="Segoe UI"/>
              </a:rPr>
              <a:t>a </a:t>
            </a:r>
            <a:r>
              <a:rPr sz="1600" b="0" i="0" dirty="0" err="1">
                <a:solidFill>
                  <a:srgbClr val="2F3338"/>
                </a:solidFill>
                <a:latin typeface="Segoe UI"/>
              </a:rPr>
              <a:t>testelor</a:t>
            </a:r>
            <a:r>
              <a:rPr sz="1600" b="0" i="0" dirty="0">
                <a:solidFill>
                  <a:srgbClr val="2F333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dirty="0" err="1"/>
              <a:t>shrinkExpr</a:t>
            </a:r>
            <a:r>
              <a:rPr sz="3400" dirty="0"/>
              <a:t>: </a:t>
            </a:r>
            <a:r>
              <a:rPr sz="3400" dirty="0" err="1"/>
              <a:t>contraexemple</a:t>
            </a:r>
            <a:r>
              <a:rPr sz="3400" dirty="0"/>
              <a:t> </a:t>
            </a:r>
            <a:r>
              <a:rPr sz="3400" dirty="0" err="1"/>
              <a:t>minimale</a:t>
            </a:r>
            <a:endParaRPr sz="3400" dirty="0"/>
          </a:p>
        </p:txBody>
      </p:sp>
      <p:sp>
        <p:nvSpPr>
          <p:cNvPr id="6" name="Rounded Rectangle 3"/>
          <p:cNvSpPr/>
          <p:nvPr/>
        </p:nvSpPr>
        <p:spPr>
          <a:xfrm>
            <a:off x="1097280" y="2267712"/>
            <a:ext cx="10058400" cy="1600200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2377440"/>
            <a:ext cx="972921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4EC9B0"/>
                </a:solidFill>
                <a:latin typeface="Consolas"/>
              </a:rPr>
              <a:t>shrinkExpr (Add a b)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nsolas"/>
              </a:rPr>
              <a:t>  = [a, b]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nsolas"/>
              </a:rPr>
              <a:t>  ++ [Add a' b | a' &lt;- shrinkExpr a]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nsolas"/>
              </a:rPr>
              <a:t>  ++ [Add a b' | b' &lt;- shrinkExpr b]</a:t>
            </a:r>
          </a:p>
        </p:txBody>
      </p:sp>
      <p:sp>
        <p:nvSpPr>
          <p:cNvPr id="8" name="Rounded Rectangle 5"/>
          <p:cNvSpPr/>
          <p:nvPr/>
        </p:nvSpPr>
        <p:spPr>
          <a:xfrm>
            <a:off x="1097280" y="4069080"/>
            <a:ext cx="4864608" cy="201168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6"/>
          <p:cNvSpPr/>
          <p:nvPr/>
        </p:nvSpPr>
        <p:spPr>
          <a:xfrm>
            <a:off x="6291072" y="4069080"/>
            <a:ext cx="4864608" cy="20116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98448" y="4279392"/>
            <a:ext cx="4480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 dirty="0" smtClean="0">
                <a:solidFill>
                  <a:srgbClr val="9A3412"/>
                </a:solidFill>
                <a:latin typeface="Segoe UI"/>
              </a:rPr>
              <a:t>F</a:t>
            </a:r>
            <a:r>
              <a:rPr lang="ro-RO" sz="2000" b="1" i="0" dirty="0" smtClean="0">
                <a:solidFill>
                  <a:srgbClr val="9A3412"/>
                </a:solidFill>
                <a:latin typeface="Segoe UI"/>
              </a:rPr>
              <a:t>ă</a:t>
            </a:r>
            <a:r>
              <a:rPr sz="2000" b="1" i="0" dirty="0" smtClean="0">
                <a:solidFill>
                  <a:srgbClr val="9A3412"/>
                </a:solidFill>
                <a:latin typeface="Segoe UI"/>
              </a:rPr>
              <a:t>r</a:t>
            </a:r>
            <a:r>
              <a:rPr lang="ro-RO" sz="2000" b="1" i="0" dirty="0" smtClean="0">
                <a:solidFill>
                  <a:srgbClr val="9A3412"/>
                </a:solidFill>
                <a:latin typeface="Segoe UI"/>
              </a:rPr>
              <a:t>ă</a:t>
            </a:r>
            <a:r>
              <a:rPr sz="2000" b="1" i="0" dirty="0" smtClean="0">
                <a:solidFill>
                  <a:srgbClr val="9A3412"/>
                </a:solidFill>
                <a:latin typeface="Segoe UI"/>
              </a:rPr>
              <a:t> </a:t>
            </a:r>
            <a:r>
              <a:rPr sz="2000" b="1" i="0" dirty="0">
                <a:solidFill>
                  <a:srgbClr val="9A3412"/>
                </a:solidFill>
                <a:latin typeface="Segoe UI"/>
              </a:rPr>
              <a:t>shrink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2F3338"/>
                </a:solidFill>
                <a:latin typeface="Consolas"/>
              </a:rPr>
              <a:t>Add (Mul (Add (Var "x") (Const 3))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2F3338"/>
                </a:solidFill>
                <a:latin typeface="Consolas"/>
              </a:rPr>
              <a:t>    (Const 2)) (Sub (Var "y") (Const 1))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279392"/>
            <a:ext cx="448056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166534"/>
                </a:solidFill>
                <a:latin typeface="Segoe UI"/>
              </a:rPr>
              <a:t>Cu shrink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2F3338"/>
                </a:solidFill>
                <a:latin typeface="Consolas"/>
              </a:rPr>
              <a:t>Add (Var "x") (Const 0)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 dirty="0" err="1">
                <a:solidFill>
                  <a:srgbClr val="4B5563"/>
                </a:solidFill>
                <a:latin typeface="Segoe UI"/>
              </a:rPr>
              <a:t>Acelasi</a:t>
            </a:r>
            <a:r>
              <a:rPr sz="1400" b="0" i="1" dirty="0">
                <a:solidFill>
                  <a:srgbClr val="4B5563"/>
                </a:solidFill>
                <a:latin typeface="Segoe UI"/>
              </a:rPr>
              <a:t> bug, </a:t>
            </a:r>
            <a:r>
              <a:rPr sz="1400" b="0" i="1" dirty="0" err="1">
                <a:solidFill>
                  <a:srgbClr val="4B5563"/>
                </a:solidFill>
                <a:latin typeface="Segoe UI"/>
              </a:rPr>
              <a:t>dar</a:t>
            </a:r>
            <a:r>
              <a:rPr sz="1400" b="0" i="1" dirty="0">
                <a:solidFill>
                  <a:srgbClr val="4B5563"/>
                </a:solidFill>
                <a:latin typeface="Segoe UI"/>
              </a:rPr>
              <a:t> </a:t>
            </a:r>
            <a:r>
              <a:rPr sz="1400" b="0" i="1" dirty="0" err="1">
                <a:solidFill>
                  <a:srgbClr val="4B5563"/>
                </a:solidFill>
                <a:latin typeface="Segoe UI"/>
              </a:rPr>
              <a:t>exprimat</a:t>
            </a:r>
            <a:r>
              <a:rPr sz="1400" b="0" i="1" dirty="0">
                <a:solidFill>
                  <a:srgbClr val="4B5563"/>
                </a:solidFill>
                <a:latin typeface="Segoe UI"/>
              </a:rPr>
              <a:t> minimal.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dirty="0" err="1"/>
              <a:t>Cele</a:t>
            </a:r>
            <a:r>
              <a:rPr sz="3400" dirty="0"/>
              <a:t> </a:t>
            </a:r>
            <a:r>
              <a:rPr sz="3400" dirty="0" smtClean="0"/>
              <a:t>1</a:t>
            </a:r>
            <a:r>
              <a:rPr lang="ro-RO" sz="3400" dirty="0" smtClean="0"/>
              <a:t>9</a:t>
            </a:r>
            <a:r>
              <a:rPr sz="3400" dirty="0" smtClean="0"/>
              <a:t> </a:t>
            </a:r>
            <a:r>
              <a:rPr sz="3400" dirty="0" err="1" smtClean="0"/>
              <a:t>propriet</a:t>
            </a:r>
            <a:r>
              <a:rPr lang="ro-RO" sz="3400" dirty="0" smtClean="0"/>
              <a:t>ă</a:t>
            </a:r>
            <a:r>
              <a:rPr lang="ro-RO" sz="3400" dirty="0"/>
              <a:t>ț</a:t>
            </a:r>
            <a:r>
              <a:rPr sz="3400" dirty="0" smtClean="0"/>
              <a:t>i </a:t>
            </a:r>
            <a:r>
              <a:rPr sz="3400" dirty="0"/>
              <a:t>(</a:t>
            </a:r>
            <a:r>
              <a:rPr sz="3400" dirty="0" err="1"/>
              <a:t>grupate</a:t>
            </a:r>
            <a:r>
              <a:rPr sz="3400" dirty="0"/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9473285-A0EB-EEFF-685E-F4C3C4112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998720" cy="41656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1400" b="1" kern="1000" spc="10" dirty="0" err="1">
                <a:solidFill>
                  <a:schemeClr val="tx1"/>
                </a:solidFill>
              </a:rPr>
              <a:t>Corectitudine</a:t>
            </a:r>
            <a:r>
              <a:rPr lang="en-US" sz="1400" b="1" kern="1000" spc="10" dirty="0">
                <a:solidFill>
                  <a:schemeClr val="tx1"/>
                </a:solidFill>
              </a:rPr>
              <a:t> </a:t>
            </a:r>
            <a:r>
              <a:rPr lang="en-US" sz="1400" b="1" kern="1000" spc="10" dirty="0" smtClean="0">
                <a:solidFill>
                  <a:schemeClr val="tx1"/>
                </a:solidFill>
              </a:rPr>
              <a:t>semantic</a:t>
            </a:r>
            <a:r>
              <a:rPr lang="ro-RO" sz="1400" b="1" kern="1000" spc="10" dirty="0" smtClean="0">
                <a:solidFill>
                  <a:schemeClr val="tx1"/>
                </a:solidFill>
              </a:rPr>
              <a:t>ă</a:t>
            </a:r>
            <a:r>
              <a:rPr lang="en-US" sz="1400" b="1" kern="1000" spc="10" dirty="0" smtClean="0">
                <a:solidFill>
                  <a:schemeClr val="tx1"/>
                </a:solidFill>
              </a:rPr>
              <a:t>:</a:t>
            </a:r>
            <a:r>
              <a:rPr lang="en-US" sz="1400" b="1" kern="1000" spc="10" dirty="0"/>
              <a:t/>
            </a:r>
            <a:br>
              <a:rPr lang="en-US" sz="1400" b="1" kern="1000" spc="10" dirty="0"/>
            </a:br>
            <a:r>
              <a:rPr lang="en-US" sz="1400" b="1" kern="1000" spc="10" dirty="0"/>
              <a:t/>
            </a:r>
            <a:br>
              <a:rPr lang="en-US" sz="1400" b="1" kern="1000" spc="10" dirty="0"/>
            </a:br>
            <a:r>
              <a:rPr lang="en-US" sz="1400" b="1" kern="1000" spc="10" dirty="0"/>
              <a:t>- </a:t>
            </a:r>
            <a:r>
              <a:rPr lang="en-US" sz="1400" kern="1000" spc="10" dirty="0" err="1"/>
              <a:t>Simplificarea</a:t>
            </a:r>
            <a:r>
              <a:rPr lang="en-US" sz="1400" kern="1000" spc="10" dirty="0"/>
              <a:t> </a:t>
            </a:r>
            <a:r>
              <a:rPr lang="en-US" sz="1400" kern="1000" spc="10" dirty="0" smtClean="0"/>
              <a:t>p</a:t>
            </a:r>
            <a:r>
              <a:rPr lang="ro-RO" sz="1400" kern="1000" spc="10" dirty="0" smtClean="0"/>
              <a:t>ăs</a:t>
            </a:r>
            <a:r>
              <a:rPr lang="en-US" sz="1400" kern="1000" spc="10" dirty="0" err="1" smtClean="0"/>
              <a:t>treaz</a:t>
            </a:r>
            <a:r>
              <a:rPr lang="ro-RO" sz="1400" kern="1000" spc="10" dirty="0" smtClean="0"/>
              <a:t>ă</a:t>
            </a:r>
            <a:r>
              <a:rPr lang="en-US" sz="1400" kern="1000" spc="10" dirty="0" smtClean="0"/>
              <a:t> </a:t>
            </a:r>
            <a:r>
              <a:rPr lang="en-US" sz="1400" kern="1000" spc="10" dirty="0" err="1"/>
              <a:t>semantica</a:t>
            </a:r>
            <a:r>
              <a:rPr lang="en-US" sz="1400" kern="1000" spc="10" dirty="0"/>
              <a:t/>
            </a:r>
            <a:br>
              <a:rPr lang="en-US" sz="1400" kern="1000" spc="10" dirty="0"/>
            </a:br>
            <a:r>
              <a:rPr lang="en-US" sz="1400" kern="1000" spc="10" dirty="0"/>
              <a:t>- Pretty-print </a:t>
            </a:r>
            <a:r>
              <a:rPr lang="en-US" sz="1400" kern="1000" spc="10" dirty="0" err="1"/>
              <a:t>urmat</a:t>
            </a:r>
            <a:r>
              <a:rPr lang="en-US" sz="1400" kern="1000" spc="10" dirty="0"/>
              <a:t> de </a:t>
            </a:r>
            <a:r>
              <a:rPr lang="en-US" sz="1400" kern="1000" spc="10" dirty="0" err="1"/>
              <a:t>parsare</a:t>
            </a:r>
            <a:r>
              <a:rPr lang="en-US" sz="1400" kern="1000" spc="10" dirty="0"/>
              <a:t> </a:t>
            </a:r>
            <a:r>
              <a:rPr lang="en-US" sz="1400" kern="1000" spc="10" dirty="0" smtClean="0"/>
              <a:t>p</a:t>
            </a:r>
            <a:r>
              <a:rPr lang="ro-RO" sz="1400" kern="1000" spc="10" dirty="0" smtClean="0"/>
              <a:t>ă</a:t>
            </a:r>
            <a:r>
              <a:rPr lang="en-US" sz="1400" kern="1000" spc="10" dirty="0" err="1" smtClean="0"/>
              <a:t>streaz</a:t>
            </a:r>
            <a:r>
              <a:rPr lang="ro-RO" sz="1400" kern="1000" spc="10" dirty="0" smtClean="0"/>
              <a:t>ă</a:t>
            </a:r>
            <a:r>
              <a:rPr lang="en-US" sz="1400" kern="1000" spc="10" dirty="0" smtClean="0"/>
              <a:t> </a:t>
            </a:r>
            <a:r>
              <a:rPr lang="en-US" sz="1400" kern="1000" spc="10" dirty="0" err="1"/>
              <a:t>semantica</a:t>
            </a:r>
            <a:endParaRPr lang="en-US" sz="1400" kern="1000" spc="10" dirty="0"/>
          </a:p>
          <a:p>
            <a:pPr>
              <a:spcBef>
                <a:spcPts val="600"/>
              </a:spcBef>
            </a:pPr>
            <a:r>
              <a:rPr lang="en-US" sz="1400" b="1" kern="1000" spc="10" dirty="0" err="1">
                <a:solidFill>
                  <a:schemeClr val="tx1"/>
                </a:solidFill>
              </a:rPr>
              <a:t>Structurale</a:t>
            </a:r>
            <a:r>
              <a:rPr lang="en-US" sz="1400" b="1" kern="1000" spc="10" dirty="0">
                <a:solidFill>
                  <a:schemeClr val="tx1"/>
                </a:solidFill>
              </a:rPr>
              <a:t>:</a:t>
            </a:r>
            <a:endParaRPr lang="en-US" sz="1400" kern="1000" spc="1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1400" kern="1000" spc="10" dirty="0"/>
              <a:t>- </a:t>
            </a:r>
            <a:r>
              <a:rPr lang="en-US" sz="1400" kern="1000" spc="10" dirty="0" err="1"/>
              <a:t>Simplificarea</a:t>
            </a:r>
            <a:r>
              <a:rPr lang="en-US" sz="1400" kern="1000" spc="10" dirty="0"/>
              <a:t> </a:t>
            </a:r>
            <a:r>
              <a:rPr lang="en-US" sz="1400" kern="1000" spc="10" dirty="0" err="1"/>
              <a:t>este</a:t>
            </a:r>
            <a:r>
              <a:rPr lang="en-US" sz="1400" kern="1000" spc="10" dirty="0"/>
              <a:t> </a:t>
            </a:r>
            <a:r>
              <a:rPr lang="en-US" sz="1400" kern="1000" spc="10" dirty="0" smtClean="0"/>
              <a:t>idempotent</a:t>
            </a:r>
            <a:r>
              <a:rPr lang="ro-RO" sz="1400" kern="1000" spc="10" dirty="0" smtClean="0"/>
              <a:t>ă</a:t>
            </a:r>
            <a:r>
              <a:rPr lang="en-US" sz="1400" kern="1000" spc="10" dirty="0" smtClean="0"/>
              <a:t>:</a:t>
            </a:r>
            <a:r>
              <a:rPr lang="en-US" sz="1400" kern="1000" spc="10" dirty="0"/>
              <a:t> simplify(simplify(e)) == simplify(e)</a:t>
            </a:r>
            <a:br>
              <a:rPr lang="en-US" sz="1400" kern="1000" spc="10" dirty="0"/>
            </a:br>
            <a:r>
              <a:rPr lang="en-US" sz="1400" kern="1000" spc="10" dirty="0"/>
              <a:t>- </a:t>
            </a:r>
            <a:r>
              <a:rPr lang="en-US" sz="1400" kern="1000" spc="10" dirty="0" err="1"/>
              <a:t>Simplificarea</a:t>
            </a:r>
            <a:r>
              <a:rPr lang="en-US" sz="1400" kern="1000" spc="10" dirty="0"/>
              <a:t> nu </a:t>
            </a:r>
            <a:r>
              <a:rPr lang="en-US" sz="1400" kern="1000" spc="10" dirty="0" smtClean="0"/>
              <a:t>m</a:t>
            </a:r>
            <a:r>
              <a:rPr lang="ro-RO" sz="1400" kern="1000" spc="10" dirty="0" smtClean="0"/>
              <a:t>ă</a:t>
            </a:r>
            <a:r>
              <a:rPr lang="en-US" sz="1400" kern="1000" spc="10" dirty="0" smtClean="0"/>
              <a:t>re</a:t>
            </a:r>
            <a:r>
              <a:rPr lang="ro-RO" sz="1400" kern="1000" spc="10" dirty="0" smtClean="0"/>
              <a:t>ș</a:t>
            </a:r>
            <a:r>
              <a:rPr lang="en-US" sz="1400" kern="1000" spc="10" dirty="0" err="1" smtClean="0"/>
              <a:t>te</a:t>
            </a:r>
            <a:r>
              <a:rPr lang="en-US" sz="1400" kern="1000" spc="10" dirty="0" smtClean="0"/>
              <a:t> </a:t>
            </a:r>
            <a:r>
              <a:rPr lang="en-US" sz="1400" kern="1000" spc="10" dirty="0" err="1"/>
              <a:t>dimensiunea</a:t>
            </a:r>
            <a:r>
              <a:rPr lang="en-US" sz="1400" kern="1000" spc="10" dirty="0"/>
              <a:t> / </a:t>
            </a:r>
            <a:r>
              <a:rPr lang="en-US" sz="1400" kern="1000" spc="10" dirty="0" smtClean="0"/>
              <a:t>ad</a:t>
            </a:r>
            <a:r>
              <a:rPr lang="ro-RO" sz="1400" kern="1000" spc="10" dirty="0" smtClean="0"/>
              <a:t>â</a:t>
            </a:r>
            <a:r>
              <a:rPr lang="en-US" sz="1400" kern="1000" spc="10" dirty="0" err="1" smtClean="0"/>
              <a:t>ncimea</a:t>
            </a:r>
            <a:r>
              <a:rPr lang="en-US" sz="1400" kern="1000" spc="10" dirty="0" smtClean="0"/>
              <a:t> </a:t>
            </a:r>
            <a:r>
              <a:rPr lang="en-US" sz="1400" kern="1000" spc="10" dirty="0"/>
              <a:t>/ </a:t>
            </a:r>
            <a:r>
              <a:rPr lang="en-US" sz="1400" kern="1000" spc="10" dirty="0" err="1" smtClean="0"/>
              <a:t>num</a:t>
            </a:r>
            <a:r>
              <a:rPr lang="ro-RO" sz="1400" kern="1000" spc="10" dirty="0" smtClean="0"/>
              <a:t>ă</a:t>
            </a:r>
            <a:r>
              <a:rPr lang="en-US" sz="1400" kern="1000" spc="10" dirty="0" err="1" smtClean="0"/>
              <a:t>rul</a:t>
            </a:r>
            <a:r>
              <a:rPr lang="en-US" sz="1400" kern="1000" spc="10" dirty="0" smtClean="0"/>
              <a:t> </a:t>
            </a:r>
            <a:r>
              <a:rPr lang="en-US" sz="1400" kern="1000" spc="10" dirty="0"/>
              <a:t>de </a:t>
            </a:r>
            <a:r>
              <a:rPr lang="en-US" sz="1400" kern="1000" spc="10" dirty="0" err="1"/>
              <a:t>operatori</a:t>
            </a:r>
            <a:endParaRPr lang="en-US" sz="1400" kern="1000" spc="10" dirty="0"/>
          </a:p>
          <a:p>
            <a:pPr>
              <a:spcBef>
                <a:spcPts val="600"/>
              </a:spcBef>
            </a:pPr>
            <a:r>
              <a:rPr lang="en-US" sz="1400" b="1" kern="1000" spc="10" dirty="0" err="1">
                <a:solidFill>
                  <a:schemeClr val="tx1"/>
                </a:solidFill>
              </a:rPr>
              <a:t>Algebrice</a:t>
            </a:r>
            <a:r>
              <a:rPr lang="en-US" sz="1400" b="1" kern="1000" spc="10" dirty="0">
                <a:solidFill>
                  <a:schemeClr val="tx1"/>
                </a:solidFill>
              </a:rPr>
              <a:t> — </a:t>
            </a:r>
            <a:r>
              <a:rPr lang="en-US" sz="1400" b="1" kern="1000" spc="10" dirty="0" err="1">
                <a:solidFill>
                  <a:schemeClr val="tx1"/>
                </a:solidFill>
              </a:rPr>
              <a:t>comutativitate</a:t>
            </a:r>
            <a:r>
              <a:rPr lang="en-US" sz="1400" b="1" kern="1000" spc="10" dirty="0">
                <a:solidFill>
                  <a:schemeClr val="tx1"/>
                </a:solidFill>
              </a:rPr>
              <a:t> </a:t>
            </a:r>
            <a:r>
              <a:rPr lang="ro-RO" sz="1400" b="1" kern="1000" spc="10" dirty="0" err="1">
                <a:solidFill>
                  <a:schemeClr val="tx1"/>
                </a:solidFill>
              </a:rPr>
              <a:t>ș</a:t>
            </a:r>
            <a:r>
              <a:rPr lang="en-US" sz="1400" b="1" kern="1000" spc="10" dirty="0" smtClean="0">
                <a:solidFill>
                  <a:schemeClr val="tx1"/>
                </a:solidFill>
              </a:rPr>
              <a:t>i </a:t>
            </a:r>
            <a:r>
              <a:rPr lang="en-US" sz="1400" b="1" kern="1000" spc="10" dirty="0" err="1">
                <a:solidFill>
                  <a:schemeClr val="tx1"/>
                </a:solidFill>
              </a:rPr>
              <a:t>asociativitate</a:t>
            </a:r>
            <a:r>
              <a:rPr lang="en-US" sz="1400" b="1" kern="1000" spc="10" dirty="0">
                <a:solidFill>
                  <a:schemeClr val="tx1"/>
                </a:solidFill>
              </a:rPr>
              <a:t>:</a:t>
            </a:r>
            <a:endParaRPr lang="en-US" sz="1400" kern="1000" spc="1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1400" kern="1000" spc="10" dirty="0"/>
              <a:t>a + b ≡ b + a</a:t>
            </a:r>
          </a:p>
          <a:p>
            <a:pPr>
              <a:spcBef>
                <a:spcPts val="600"/>
              </a:spcBef>
            </a:pPr>
            <a:r>
              <a:rPr lang="en-US" sz="1400" kern="1000" spc="10" dirty="0"/>
              <a:t>a * b ≡ b * a</a:t>
            </a:r>
          </a:p>
          <a:p>
            <a:pPr>
              <a:spcBef>
                <a:spcPts val="600"/>
              </a:spcBef>
            </a:pPr>
            <a:r>
              <a:rPr lang="en-US" sz="1400" kern="1000" spc="10" dirty="0"/>
              <a:t>(a + b) + c ≡ a + (b + c)</a:t>
            </a:r>
          </a:p>
          <a:p>
            <a:pPr>
              <a:spcBef>
                <a:spcPts val="600"/>
              </a:spcBef>
            </a:pPr>
            <a:r>
              <a:rPr lang="en-US" sz="1400" kern="1000" spc="10" dirty="0"/>
              <a:t>(a * b) * c ≡ a * (b * c)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73C5F9BF-9E45-7174-B44C-B127805471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it-IT" sz="1200" b="1" dirty="0">
                <a:solidFill>
                  <a:schemeClr val="tx1"/>
                </a:solidFill>
              </a:rPr>
              <a:t>Elemente neutre </a:t>
            </a:r>
            <a:r>
              <a:rPr lang="ro-RO" sz="1200" b="1" dirty="0" smtClean="0">
                <a:solidFill>
                  <a:schemeClr val="tx1"/>
                </a:solidFill>
              </a:rPr>
              <a:t>ș</a:t>
            </a:r>
            <a:r>
              <a:rPr lang="it-IT" sz="1200" b="1" dirty="0" smtClean="0">
                <a:solidFill>
                  <a:schemeClr val="tx1"/>
                </a:solidFill>
              </a:rPr>
              <a:t>i </a:t>
            </a:r>
            <a:r>
              <a:rPr lang="it-IT" sz="1200" b="1" dirty="0">
                <a:solidFill>
                  <a:schemeClr val="tx1"/>
                </a:solidFill>
              </a:rPr>
              <a:t>absorbante:</a:t>
            </a:r>
            <a:endParaRPr lang="it-IT" sz="1200" dirty="0">
              <a:solidFill>
                <a:schemeClr val="tx1"/>
              </a:solidFill>
            </a:endParaRPr>
          </a:p>
          <a:p>
            <a:r>
              <a:rPr lang="it-IT" sz="1200" dirty="0"/>
              <a:t>e + 0 ≡ e</a:t>
            </a:r>
          </a:p>
          <a:p>
            <a:r>
              <a:rPr lang="it-IT" sz="1200" dirty="0"/>
              <a:t>e * 1 ≡ e</a:t>
            </a:r>
          </a:p>
          <a:p>
            <a:r>
              <a:rPr lang="it-IT" sz="1200" dirty="0"/>
              <a:t>e * 0 ≡ 0</a:t>
            </a:r>
          </a:p>
          <a:p>
            <a:r>
              <a:rPr lang="it-IT" sz="1200" b="1" dirty="0" smtClean="0">
                <a:solidFill>
                  <a:schemeClr val="tx1"/>
                </a:solidFill>
              </a:rPr>
              <a:t>Nega</a:t>
            </a:r>
            <a:r>
              <a:rPr lang="ro-RO" sz="1200" b="1" dirty="0" smtClean="0">
                <a:solidFill>
                  <a:schemeClr val="tx1"/>
                </a:solidFill>
              </a:rPr>
              <a:t>ț</a:t>
            </a:r>
            <a:r>
              <a:rPr lang="it-IT" sz="1200" b="1" dirty="0" smtClean="0">
                <a:solidFill>
                  <a:schemeClr val="tx1"/>
                </a:solidFill>
              </a:rPr>
              <a:t>ie</a:t>
            </a:r>
            <a:r>
              <a:rPr lang="it-IT" sz="1200" b="1" dirty="0">
                <a:solidFill>
                  <a:schemeClr val="tx1"/>
                </a:solidFill>
              </a:rPr>
              <a:t>, </a:t>
            </a:r>
            <a:r>
              <a:rPr lang="it-IT" sz="1200" b="1" dirty="0" smtClean="0">
                <a:solidFill>
                  <a:schemeClr val="tx1"/>
                </a:solidFill>
              </a:rPr>
              <a:t>sc</a:t>
            </a:r>
            <a:r>
              <a:rPr lang="ro-RO" sz="1200" b="1" dirty="0" smtClean="0">
                <a:solidFill>
                  <a:schemeClr val="tx1"/>
                </a:solidFill>
              </a:rPr>
              <a:t>ă</a:t>
            </a:r>
            <a:r>
              <a:rPr lang="it-IT" sz="1200" b="1" dirty="0" smtClean="0">
                <a:solidFill>
                  <a:schemeClr val="tx1"/>
                </a:solidFill>
              </a:rPr>
              <a:t>dere</a:t>
            </a:r>
            <a:r>
              <a:rPr lang="it-IT" sz="1200" b="1" dirty="0">
                <a:solidFill>
                  <a:schemeClr val="tx1"/>
                </a:solidFill>
              </a:rPr>
              <a:t>, </a:t>
            </a:r>
            <a:r>
              <a:rPr lang="it-IT" sz="1200" b="1" dirty="0" smtClean="0">
                <a:solidFill>
                  <a:schemeClr val="tx1"/>
                </a:solidFill>
              </a:rPr>
              <a:t>substitu</a:t>
            </a:r>
            <a:r>
              <a:rPr lang="ro-RO" sz="1200" b="1" dirty="0" smtClean="0">
                <a:solidFill>
                  <a:schemeClr val="tx1"/>
                </a:solidFill>
              </a:rPr>
              <a:t>ț</a:t>
            </a:r>
            <a:r>
              <a:rPr lang="it-IT" sz="1200" b="1" dirty="0" smtClean="0">
                <a:solidFill>
                  <a:schemeClr val="tx1"/>
                </a:solidFill>
              </a:rPr>
              <a:t>ie</a:t>
            </a:r>
            <a:r>
              <a:rPr lang="it-IT" sz="1200" b="1" dirty="0">
                <a:solidFill>
                  <a:schemeClr val="tx1"/>
                </a:solidFill>
              </a:rPr>
              <a:t>:</a:t>
            </a:r>
            <a:endParaRPr lang="it-IT" sz="1200" dirty="0">
              <a:solidFill>
                <a:schemeClr val="tx1"/>
              </a:solidFill>
            </a:endParaRPr>
          </a:p>
          <a:p>
            <a:r>
              <a:rPr lang="it-IT" sz="1200" dirty="0"/>
              <a:t>e - e ≡ 0</a:t>
            </a:r>
          </a:p>
          <a:p>
            <a:r>
              <a:rPr lang="it-IT" sz="1200" dirty="0"/>
              <a:t>--e ≡ e</a:t>
            </a:r>
          </a:p>
          <a:p>
            <a:r>
              <a:rPr lang="it-IT" sz="1200" dirty="0" smtClean="0"/>
              <a:t>Substitu</a:t>
            </a:r>
            <a:r>
              <a:rPr lang="ro-RO" sz="1200" dirty="0" smtClean="0"/>
              <a:t>ț</a:t>
            </a:r>
            <a:r>
              <a:rPr lang="it-IT" sz="1200" dirty="0" smtClean="0"/>
              <a:t>ia p</a:t>
            </a:r>
            <a:r>
              <a:rPr lang="ro-RO" sz="1200" dirty="0" smtClean="0"/>
              <a:t>ă</a:t>
            </a:r>
            <a:r>
              <a:rPr lang="it-IT" sz="1200" dirty="0" smtClean="0"/>
              <a:t>streaz</a:t>
            </a:r>
            <a:r>
              <a:rPr lang="ro-RO" sz="1200" dirty="0" smtClean="0"/>
              <a:t>ă</a:t>
            </a:r>
            <a:r>
              <a:rPr lang="it-IT" sz="1200" dirty="0" smtClean="0"/>
              <a:t> </a:t>
            </a:r>
            <a:r>
              <a:rPr lang="it-IT" sz="1200" dirty="0"/>
              <a:t>semantica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Output real cu classify</a:t>
            </a:r>
          </a:p>
        </p:txBody>
      </p:sp>
      <p:sp>
        <p:nvSpPr>
          <p:cNvPr id="6" name="Rounded Rectangle 2"/>
          <p:cNvSpPr/>
          <p:nvPr/>
        </p:nvSpPr>
        <p:spPr>
          <a:xfrm>
            <a:off x="1127760" y="2052229"/>
            <a:ext cx="10058400" cy="3246120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2352" y="2161957"/>
            <a:ext cx="9729216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4EC9B0"/>
                </a:solidFill>
                <a:latin typeface="Consolas"/>
              </a:rPr>
              <a:t>Terminal 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D4D4D4"/>
                </a:solidFill>
                <a:latin typeface="Consolas"/>
              </a:rPr>
              <a:t>+++ OK, passed 120 tests: simplify preserves meaning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6A9955"/>
                </a:solidFill>
                <a:latin typeface="Consolas"/>
              </a:rPr>
              <a:t>62.5% cu </a:t>
            </a:r>
            <a:r>
              <a:rPr sz="1600" b="0" i="0" dirty="0" err="1">
                <a:solidFill>
                  <a:srgbClr val="6A9955"/>
                </a:solidFill>
                <a:latin typeface="Consolas"/>
              </a:rPr>
              <a:t>variabile</a:t>
            </a:r>
            <a:r>
              <a:rPr sz="1600" b="0" i="0" dirty="0">
                <a:solidFill>
                  <a:srgbClr val="6A9955"/>
                </a:solidFill>
                <a:latin typeface="Consolas"/>
              </a:rPr>
              <a:t> | 37.5% </a:t>
            </a:r>
            <a:r>
              <a:rPr sz="1600" b="0" i="0" dirty="0" err="1">
                <a:solidFill>
                  <a:srgbClr val="6A9955"/>
                </a:solidFill>
                <a:latin typeface="Consolas"/>
              </a:rPr>
              <a:t>fara</a:t>
            </a:r>
            <a:r>
              <a:rPr sz="160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6A9955"/>
                </a:solidFill>
                <a:latin typeface="Consolas"/>
              </a:rPr>
              <a:t>variabile</a:t>
            </a:r>
            <a:r>
              <a:rPr sz="1600" b="0" i="0" dirty="0">
                <a:solidFill>
                  <a:srgbClr val="6A9955"/>
                </a:solidFill>
                <a:latin typeface="Consolas"/>
              </a:rPr>
              <a:t> | 30.0% </a:t>
            </a:r>
            <a:r>
              <a:rPr sz="1600" b="0" i="0" dirty="0" err="1">
                <a:solidFill>
                  <a:srgbClr val="6A9955"/>
                </a:solidFill>
                <a:latin typeface="Consolas"/>
              </a:rPr>
              <a:t>expresii</a:t>
            </a:r>
            <a:r>
              <a:rPr sz="160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6A9955"/>
                </a:solidFill>
                <a:latin typeface="Consolas"/>
              </a:rPr>
              <a:t>mari</a:t>
            </a:r>
            <a:endParaRPr sz="1600" b="0" i="0" dirty="0">
              <a:solidFill>
                <a:srgbClr val="6A9955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D4D4D4"/>
                </a:solidFill>
                <a:latin typeface="Consolas"/>
              </a:rPr>
              <a:t>+++ OK, passed 120 tests: add commutative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6A9955"/>
                </a:solidFill>
                <a:latin typeface="Consolas"/>
              </a:rPr>
              <a:t>57.5% </a:t>
            </a:r>
            <a:r>
              <a:rPr sz="1600" b="0" i="0" dirty="0" err="1">
                <a:solidFill>
                  <a:srgbClr val="6A9955"/>
                </a:solidFill>
                <a:latin typeface="Consolas"/>
              </a:rPr>
              <a:t>expresii</a:t>
            </a:r>
            <a:r>
              <a:rPr sz="160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6A9955"/>
                </a:solidFill>
                <a:latin typeface="Consolas"/>
              </a:rPr>
              <a:t>mari</a:t>
            </a:r>
            <a:r>
              <a:rPr sz="1600" b="0" i="0" dirty="0">
                <a:solidFill>
                  <a:srgbClr val="6A9955"/>
                </a:solidFill>
                <a:latin typeface="Consolas"/>
              </a:rPr>
              <a:t> | 17.5% </a:t>
            </a:r>
            <a:r>
              <a:rPr sz="1600" b="0" i="0" dirty="0" err="1">
                <a:solidFill>
                  <a:srgbClr val="6A9955"/>
                </a:solidFill>
                <a:latin typeface="Consolas"/>
              </a:rPr>
              <a:t>expresii</a:t>
            </a:r>
            <a:r>
              <a:rPr sz="160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6A9955"/>
                </a:solidFill>
                <a:latin typeface="Consolas"/>
              </a:rPr>
              <a:t>mici</a:t>
            </a:r>
            <a:endParaRPr sz="1600" b="0" i="0" dirty="0">
              <a:solidFill>
                <a:srgbClr val="6A9955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D4D4D4"/>
                </a:solidFill>
                <a:latin typeface="Consolas"/>
              </a:rPr>
              <a:t>+++ OK, passed 120 tests: </a:t>
            </a:r>
            <a:r>
              <a:rPr sz="1600" b="0" i="0" dirty="0" err="1">
                <a:solidFill>
                  <a:srgbClr val="D4D4D4"/>
                </a:solidFill>
                <a:latin typeface="Consolas"/>
              </a:rPr>
              <a:t>mul</a:t>
            </a:r>
            <a:r>
              <a:rPr sz="1600" b="0" i="0" dirty="0">
                <a:solidFill>
                  <a:srgbClr val="D4D4D4"/>
                </a:solidFill>
                <a:latin typeface="Consolas"/>
              </a:rPr>
              <a:t> zero absorbing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6A9955"/>
                </a:solidFill>
                <a:latin typeface="Consolas"/>
              </a:rPr>
              <a:t>65.8% cu </a:t>
            </a:r>
            <a:r>
              <a:rPr sz="1600" b="0" i="0" dirty="0" err="1">
                <a:solidFill>
                  <a:srgbClr val="6A9955"/>
                </a:solidFill>
                <a:latin typeface="Consolas"/>
              </a:rPr>
              <a:t>variabile</a:t>
            </a:r>
            <a:r>
              <a:rPr sz="1600" b="0" i="0" dirty="0">
                <a:solidFill>
                  <a:srgbClr val="6A9955"/>
                </a:solidFill>
                <a:latin typeface="Consolas"/>
              </a:rPr>
              <a:t> | 34.2% </a:t>
            </a:r>
            <a:r>
              <a:rPr sz="1600" b="0" i="0" dirty="0" err="1">
                <a:solidFill>
                  <a:srgbClr val="6A9955"/>
                </a:solidFill>
                <a:latin typeface="Consolas"/>
              </a:rPr>
              <a:t>fara</a:t>
            </a:r>
            <a:r>
              <a:rPr sz="1600" b="0" i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6A9955"/>
                </a:solidFill>
                <a:latin typeface="Consolas"/>
              </a:rPr>
              <a:t>variabile</a:t>
            </a:r>
            <a:endParaRPr sz="1600" b="0" i="0" dirty="0">
              <a:solidFill>
                <a:srgbClr val="6A9955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5408077"/>
            <a:ext cx="1005840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2F3338"/>
                </a:solidFill>
                <a:latin typeface="Segoe UI"/>
              </a:rPr>
              <a:t>classify </a:t>
            </a:r>
            <a:r>
              <a:rPr sz="1700" b="1" i="0" dirty="0" err="1">
                <a:solidFill>
                  <a:srgbClr val="2F3338"/>
                </a:solidFill>
                <a:latin typeface="Segoe UI"/>
              </a:rPr>
              <a:t>confirma</a:t>
            </a:r>
            <a:r>
              <a:rPr sz="1700" b="1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700" b="1" i="0" dirty="0" err="1" smtClean="0">
                <a:solidFill>
                  <a:srgbClr val="2F3338"/>
                </a:solidFill>
                <a:latin typeface="Segoe UI"/>
              </a:rPr>
              <a:t>distribu</a:t>
            </a:r>
            <a:r>
              <a:rPr lang="ro-RO" sz="1700" b="1" i="0" dirty="0" smtClean="0">
                <a:solidFill>
                  <a:srgbClr val="2F3338"/>
                </a:solidFill>
                <a:latin typeface="Segoe UI"/>
              </a:rPr>
              <a:t>ț</a:t>
            </a:r>
            <a:r>
              <a:rPr sz="1700" b="1" i="0" dirty="0" err="1" smtClean="0">
                <a:solidFill>
                  <a:srgbClr val="2F3338"/>
                </a:solidFill>
                <a:latin typeface="Segoe UI"/>
              </a:rPr>
              <a:t>ie</a:t>
            </a:r>
            <a:r>
              <a:rPr sz="1700" b="1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700" b="1" i="0" dirty="0" err="1" smtClean="0">
                <a:solidFill>
                  <a:srgbClr val="2F3338"/>
                </a:solidFill>
                <a:latin typeface="Segoe UI"/>
              </a:rPr>
              <a:t>echilibrat</a:t>
            </a:r>
            <a:r>
              <a:rPr lang="ro-RO" sz="1700" b="1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700" b="1" i="0" dirty="0" smtClean="0">
                <a:solidFill>
                  <a:srgbClr val="2F3338"/>
                </a:solidFill>
                <a:latin typeface="Segoe UI"/>
              </a:rPr>
              <a:t>:</a:t>
            </a:r>
            <a:endParaRPr sz="1700" b="1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avem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expresii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mici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lang="ro-RO" sz="1500" dirty="0" err="1">
                <a:solidFill>
                  <a:srgbClr val="2F3338"/>
                </a:solidFill>
                <a:latin typeface="Segoe UI"/>
              </a:rPr>
              <a:t>ș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i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mari</a:t>
            </a:r>
            <a:endParaRPr sz="15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avem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expresii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cu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variabile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si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f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r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variabile</a:t>
            </a:r>
            <a:endParaRPr sz="1500" b="0" i="0" dirty="0">
              <a:solidFill>
                <a:srgbClr val="2F333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dirty="0" err="1"/>
              <a:t>Analiza</a:t>
            </a:r>
            <a:r>
              <a:rPr sz="3400" dirty="0"/>
              <a:t>: </a:t>
            </a:r>
            <a:r>
              <a:rPr sz="3400" dirty="0" err="1" smtClean="0"/>
              <a:t>eficien</a:t>
            </a:r>
            <a:r>
              <a:rPr lang="ro-RO" sz="3400" dirty="0" smtClean="0"/>
              <a:t>ț</a:t>
            </a:r>
            <a:r>
              <a:rPr sz="3400" dirty="0" smtClean="0"/>
              <a:t>a </a:t>
            </a:r>
            <a:r>
              <a:rPr sz="3400" dirty="0" err="1"/>
              <a:t>metodei</a:t>
            </a:r>
            <a:endParaRPr sz="3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400" dirty="0" err="1"/>
              <a:t>Avantaje</a:t>
            </a:r>
            <a:r>
              <a:rPr sz="2400" dirty="0"/>
              <a:t> </a:t>
            </a:r>
            <a:r>
              <a:rPr sz="2400" dirty="0" err="1"/>
              <a:t>observate</a:t>
            </a:r>
            <a:endParaRPr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1800" dirty="0"/>
              <a:t>120 de </a:t>
            </a:r>
            <a:r>
              <a:rPr sz="1800" dirty="0" err="1"/>
              <a:t>cazuri</a:t>
            </a:r>
            <a:r>
              <a:rPr sz="1800" dirty="0"/>
              <a:t> per </a:t>
            </a:r>
            <a:r>
              <a:rPr sz="1800" dirty="0" err="1"/>
              <a:t>proprietate</a:t>
            </a:r>
            <a:r>
              <a:rPr sz="1800" dirty="0"/>
              <a:t>, generate automat</a:t>
            </a:r>
          </a:p>
          <a:p>
            <a:r>
              <a:rPr sz="1800" dirty="0" err="1"/>
              <a:t>Contraexemplele</a:t>
            </a:r>
            <a:r>
              <a:rPr sz="1800" dirty="0"/>
              <a:t> </a:t>
            </a:r>
            <a:r>
              <a:rPr sz="1800" dirty="0" err="1"/>
              <a:t>sunt</a:t>
            </a:r>
            <a:r>
              <a:rPr sz="1800" dirty="0"/>
              <a:t> </a:t>
            </a:r>
            <a:r>
              <a:rPr sz="1800" dirty="0" err="1"/>
              <a:t>reduse</a:t>
            </a:r>
            <a:r>
              <a:rPr sz="1800" dirty="0"/>
              <a:t> la forma </a:t>
            </a:r>
            <a:r>
              <a:rPr sz="1800" dirty="0" smtClean="0"/>
              <a:t>minim</a:t>
            </a:r>
            <a:r>
              <a:rPr lang="ro-RO" sz="1800" dirty="0" smtClean="0"/>
              <a:t>ă</a:t>
            </a:r>
            <a:endParaRPr sz="1800" dirty="0"/>
          </a:p>
          <a:p>
            <a:r>
              <a:rPr sz="1800" dirty="0" err="1" smtClean="0"/>
              <a:t>Propriet</a:t>
            </a:r>
            <a:r>
              <a:rPr lang="ro-RO" sz="1800" dirty="0" smtClean="0"/>
              <a:t>ăț</a:t>
            </a:r>
            <a:r>
              <a:rPr sz="1800" dirty="0" err="1" smtClean="0"/>
              <a:t>ile</a:t>
            </a:r>
            <a:r>
              <a:rPr sz="1800" dirty="0" smtClean="0"/>
              <a:t> </a:t>
            </a:r>
            <a:r>
              <a:rPr sz="1800" dirty="0" err="1"/>
              <a:t>servesc</a:t>
            </a:r>
            <a:r>
              <a:rPr sz="1800" dirty="0"/>
              <a:t> </a:t>
            </a:r>
            <a:r>
              <a:rPr sz="1800" dirty="0" err="1"/>
              <a:t>drept</a:t>
            </a:r>
            <a:r>
              <a:rPr sz="1800" dirty="0"/>
              <a:t> </a:t>
            </a:r>
            <a:r>
              <a:rPr sz="1800" dirty="0" err="1" smtClean="0"/>
              <a:t>documenta</a:t>
            </a:r>
            <a:r>
              <a:rPr lang="ro-RO" sz="1800" dirty="0" smtClean="0"/>
              <a:t>ț</a:t>
            </a:r>
            <a:r>
              <a:rPr sz="1800" dirty="0" err="1" smtClean="0"/>
              <a:t>ie</a:t>
            </a:r>
            <a:r>
              <a:rPr sz="1800" dirty="0" smtClean="0"/>
              <a:t> </a:t>
            </a:r>
            <a:r>
              <a:rPr sz="1800" dirty="0" err="1" smtClean="0"/>
              <a:t>executabil</a:t>
            </a:r>
            <a:r>
              <a:rPr lang="ro-RO" sz="1800" dirty="0" smtClean="0"/>
              <a:t>ă</a:t>
            </a:r>
            <a:endParaRPr sz="1800" dirty="0"/>
          </a:p>
          <a:p>
            <a:r>
              <a:rPr sz="1800" dirty="0"/>
              <a:t>classify </a:t>
            </a:r>
            <a:r>
              <a:rPr sz="1800" dirty="0" err="1" smtClean="0"/>
              <a:t>ofer</a:t>
            </a:r>
            <a:r>
              <a:rPr lang="ro-RO" sz="1800" dirty="0" smtClean="0"/>
              <a:t>ă</a:t>
            </a:r>
            <a:r>
              <a:rPr sz="1800" dirty="0" smtClean="0"/>
              <a:t> </a:t>
            </a:r>
            <a:r>
              <a:rPr sz="1800" dirty="0" err="1"/>
              <a:t>vizibilitate</a:t>
            </a:r>
            <a:r>
              <a:rPr sz="1800" dirty="0"/>
              <a:t> </a:t>
            </a:r>
            <a:r>
              <a:rPr sz="1800" dirty="0" err="1"/>
              <a:t>asupra</a:t>
            </a:r>
            <a:r>
              <a:rPr sz="1800" dirty="0"/>
              <a:t> </a:t>
            </a:r>
            <a:r>
              <a:rPr sz="1800" dirty="0" err="1" smtClean="0"/>
              <a:t>distribu</a:t>
            </a:r>
            <a:r>
              <a:rPr lang="ro-RO" sz="1800" dirty="0" smtClean="0"/>
              <a:t>ț</a:t>
            </a:r>
            <a:r>
              <a:rPr sz="1800" dirty="0" err="1" smtClean="0"/>
              <a:t>iei</a:t>
            </a:r>
            <a:r>
              <a:rPr sz="1800" dirty="0" smtClean="0"/>
              <a:t> </a:t>
            </a:r>
            <a:r>
              <a:rPr sz="1800" dirty="0" err="1"/>
              <a:t>testelor</a:t>
            </a:r>
            <a:endParaRPr sz="1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2400" dirty="0" smtClean="0"/>
              <a:t>Limit</a:t>
            </a:r>
            <a:r>
              <a:rPr lang="ro-RO" sz="2400" dirty="0" smtClean="0"/>
              <a:t>ă</a:t>
            </a:r>
            <a:r>
              <a:rPr sz="2400" dirty="0" err="1" smtClean="0"/>
              <a:t>ri</a:t>
            </a:r>
            <a:r>
              <a:rPr sz="2400" dirty="0" smtClean="0"/>
              <a:t> </a:t>
            </a:r>
            <a:r>
              <a:rPr sz="2400" dirty="0" err="1"/>
              <a:t>observate</a:t>
            </a:r>
            <a:endParaRPr sz="24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sz="1800" dirty="0" err="1" smtClean="0"/>
              <a:t>Propriet</a:t>
            </a:r>
            <a:r>
              <a:rPr lang="ro-RO" sz="1800" dirty="0" smtClean="0"/>
              <a:t>ăț</a:t>
            </a:r>
            <a:r>
              <a:rPr sz="1800" dirty="0" err="1" smtClean="0"/>
              <a:t>ile</a:t>
            </a:r>
            <a:r>
              <a:rPr sz="1800" dirty="0" smtClean="0"/>
              <a:t> </a:t>
            </a:r>
            <a:r>
              <a:rPr sz="1800" dirty="0" err="1"/>
              <a:t>trebuie</a:t>
            </a:r>
            <a:r>
              <a:rPr sz="1800" dirty="0"/>
              <a:t> formulate </a:t>
            </a:r>
            <a:r>
              <a:rPr sz="1800" dirty="0" err="1"/>
              <a:t>corect</a:t>
            </a:r>
            <a:endParaRPr sz="1800" dirty="0"/>
          </a:p>
          <a:p>
            <a:r>
              <a:rPr sz="1800" dirty="0"/>
              <a:t>Un generator prost </a:t>
            </a:r>
            <a:r>
              <a:rPr sz="1800" dirty="0" err="1" smtClean="0"/>
              <a:t>acoper</a:t>
            </a:r>
            <a:r>
              <a:rPr lang="ro-RO" sz="1800" dirty="0" smtClean="0"/>
              <a:t>ă</a:t>
            </a:r>
            <a:r>
              <a:rPr sz="1800" dirty="0" smtClean="0"/>
              <a:t> </a:t>
            </a:r>
            <a:r>
              <a:rPr sz="1800" dirty="0" err="1"/>
              <a:t>doar</a:t>
            </a:r>
            <a:r>
              <a:rPr sz="1800" dirty="0"/>
              <a:t> </a:t>
            </a:r>
            <a:r>
              <a:rPr sz="1800" dirty="0" err="1"/>
              <a:t>cazuri</a:t>
            </a:r>
            <a:r>
              <a:rPr sz="1800" dirty="0"/>
              <a:t> </a:t>
            </a:r>
            <a:r>
              <a:rPr sz="1800" dirty="0" err="1"/>
              <a:t>banale</a:t>
            </a:r>
            <a:endParaRPr sz="1800" dirty="0"/>
          </a:p>
          <a:p>
            <a:r>
              <a:rPr sz="1800" dirty="0"/>
              <a:t>Maybe introduce </a:t>
            </a:r>
            <a:r>
              <a:rPr sz="1800" dirty="0" err="1" smtClean="0"/>
              <a:t>evalu</a:t>
            </a:r>
            <a:r>
              <a:rPr lang="ro-RO" sz="1800" dirty="0" smtClean="0"/>
              <a:t>ă</a:t>
            </a:r>
            <a:r>
              <a:rPr sz="1800" dirty="0" err="1" smtClean="0"/>
              <a:t>ri</a:t>
            </a:r>
            <a:r>
              <a:rPr sz="1800" dirty="0" smtClean="0"/>
              <a:t> par</a:t>
            </a:r>
            <a:r>
              <a:rPr lang="ro-RO" sz="1800" dirty="0" smtClean="0"/>
              <a:t>ț</a:t>
            </a:r>
            <a:r>
              <a:rPr sz="1800" dirty="0" err="1" smtClean="0"/>
              <a:t>iale</a:t>
            </a:r>
            <a:r>
              <a:rPr sz="1800" dirty="0" smtClean="0"/>
              <a:t> </a:t>
            </a:r>
            <a:r>
              <a:rPr sz="1800" dirty="0"/>
              <a:t>(</a:t>
            </a:r>
            <a:r>
              <a:rPr sz="1800" dirty="0" err="1"/>
              <a:t>rezolvat</a:t>
            </a:r>
            <a:r>
              <a:rPr sz="1800" dirty="0"/>
              <a:t> cu </a:t>
            </a:r>
            <a:r>
              <a:rPr sz="1800" dirty="0" err="1"/>
              <a:t>genEnvFor</a:t>
            </a:r>
            <a:r>
              <a:rPr sz="1800" dirty="0"/>
              <a:t>)</a:t>
            </a:r>
          </a:p>
          <a:p>
            <a:r>
              <a:rPr sz="1800" dirty="0" err="1"/>
              <a:t>QuickCheck</a:t>
            </a:r>
            <a:r>
              <a:rPr sz="1800" dirty="0"/>
              <a:t> </a:t>
            </a:r>
            <a:r>
              <a:rPr sz="1800" dirty="0" err="1" smtClean="0"/>
              <a:t>completea</a:t>
            </a:r>
            <a:r>
              <a:rPr lang="ro-RO" sz="1800" dirty="0" smtClean="0"/>
              <a:t>ză</a:t>
            </a:r>
            <a:r>
              <a:rPr sz="1800" dirty="0" smtClean="0"/>
              <a:t>, </a:t>
            </a:r>
            <a:r>
              <a:rPr sz="1800" dirty="0"/>
              <a:t>nu </a:t>
            </a:r>
            <a:r>
              <a:rPr lang="ro-RO" sz="1800" dirty="0"/>
              <a:t>î</a:t>
            </a:r>
            <a:r>
              <a:rPr sz="1800" dirty="0" err="1" smtClean="0"/>
              <a:t>nlocuie</a:t>
            </a:r>
            <a:r>
              <a:rPr lang="ro-RO" sz="1800" dirty="0" smtClean="0"/>
              <a:t>ș</a:t>
            </a:r>
            <a:r>
              <a:rPr sz="1800" dirty="0" err="1" smtClean="0"/>
              <a:t>te</a:t>
            </a:r>
            <a:r>
              <a:rPr sz="1800" dirty="0" smtClean="0"/>
              <a:t> </a:t>
            </a:r>
            <a:r>
              <a:rPr sz="1800" dirty="0" err="1" smtClean="0"/>
              <a:t>demonstra</a:t>
            </a:r>
            <a:r>
              <a:rPr lang="ro-RO" sz="1800" dirty="0" smtClean="0"/>
              <a:t>ț</a:t>
            </a:r>
            <a:r>
              <a:rPr sz="1800" dirty="0" err="1" smtClean="0"/>
              <a:t>ia</a:t>
            </a:r>
            <a:r>
              <a:rPr sz="1800" dirty="0" smtClean="0"/>
              <a:t> formal</a:t>
            </a:r>
            <a:r>
              <a:rPr lang="ro-RO" sz="1800" dirty="0" smtClean="0"/>
              <a:t>ă</a:t>
            </a:r>
            <a:endParaRPr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 dirty="0" err="1">
                <a:solidFill>
                  <a:srgbClr val="2F3338"/>
                </a:solidFill>
                <a:latin typeface="Segoe UI Semibold"/>
              </a:rPr>
              <a:t>Detalii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 </a:t>
            </a:r>
            <a:r>
              <a:rPr sz="3500" b="1" dirty="0" err="1">
                <a:solidFill>
                  <a:srgbClr val="2F3338"/>
                </a:solidFill>
                <a:latin typeface="Segoe UI Semibold"/>
              </a:rPr>
              <a:t>suplimentare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 din </a:t>
            </a:r>
            <a:r>
              <a:rPr sz="3500" b="1" dirty="0" err="1">
                <a:solidFill>
                  <a:srgbClr val="2F3338"/>
                </a:solidFill>
                <a:latin typeface="Segoe UI Semibold"/>
              </a:rPr>
              <a:t>proiect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 (</a:t>
            </a:r>
            <a:r>
              <a:rPr sz="3500" b="1" dirty="0" err="1">
                <a:solidFill>
                  <a:srgbClr val="2F3338"/>
                </a:solidFill>
                <a:latin typeface="Segoe UI Semibold"/>
              </a:rPr>
              <a:t>implementare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/</a:t>
            </a:r>
            <a:r>
              <a:rPr sz="3500" b="1" dirty="0" err="1">
                <a:solidFill>
                  <a:srgbClr val="2F3338"/>
                </a:solidFill>
                <a:latin typeface="Segoe UI Semibold"/>
              </a:rPr>
              <a:t>rulare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079425"/>
            <a:ext cx="4846320" cy="3440842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09360" y="2079425"/>
            <a:ext cx="4846320" cy="3440842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2262305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Segoe UI"/>
              </a:rPr>
              <a:t>Flux de rulare recomandat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584033"/>
            <a:ext cx="4389120" cy="1772555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90472" y="2514600"/>
            <a:ext cx="40599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Comenzi utile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3085265"/>
            <a:ext cx="405993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cabal build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cabal run mfis-quickcheck-expr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cabal test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cabal test spec --test-show-details=direct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62305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Segoe UI"/>
              </a:rPr>
              <a:t>Detalii tehnice extra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19505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maxSuccess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=120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si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maxSize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=12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pentru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comparabilitate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intre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proprietati</a:t>
            </a:r>
            <a:endParaRPr sz="14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variablePool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fix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pentru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generarea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variabilelor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: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x,y,z,u,v,w,a,b,c</a:t>
            </a:r>
            <a:endParaRPr sz="14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withEnv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/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genEnvFor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elimina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majoritatea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evaluarilor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partiale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in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testele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semantice</a:t>
            </a:r>
            <a:endParaRPr sz="14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solidFill>
                  <a:srgbClr val="2F3338"/>
                </a:solidFill>
                <a:latin typeface="Segoe UI"/>
              </a:rPr>
              <a:t>- substitute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este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verificat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cu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inlocuire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closed-expression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Walkthrough demo din app/Main.hs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092974"/>
            <a:ext cx="4846320" cy="3994573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09360" y="2092974"/>
            <a:ext cx="4846320" cy="3994573"/>
          </a:xfrm>
          <a:prstGeom prst="roundRect">
            <a:avLst/>
          </a:prstGeom>
          <a:solidFill>
            <a:srgbClr val="EEF4FF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227585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Segoe UI"/>
              </a:rPr>
              <a:t>Cod demo (expresie + mediu)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687334"/>
            <a:ext cx="4389120" cy="23926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90472" y="2778774"/>
            <a:ext cx="4059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Main.hs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3071382"/>
            <a:ext cx="4059935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demoExpr = Add (Mul (Const 1) (Var "x"))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               (Neg (Neg (Var "y")))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50" b="0" i="0">
              <a:solidFill>
                <a:srgbClr val="D4D4D4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demoEnv = Map.fromList [("x", 4), ("y", 7)]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50" b="0" i="0">
              <a:solidFill>
                <a:srgbClr val="D4D4D4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pretty demoExpr      =&gt; "1 * x + -(-y)"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simplify demoExpr    =&gt; "x + y"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7585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Segoe UI"/>
              </a:rPr>
              <a:t>Output real din executabil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687334"/>
            <a:ext cx="4389120" cy="23926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2552" y="2778774"/>
            <a:ext cx="4059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mfis-quickcheck-expr.exe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3071382"/>
            <a:ext cx="4059935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Dimensiune: 7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Adancime: 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Numar operatori: 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Variabile libere: ["x","y"]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Valoare in mediu: Just 11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Valoare simplificata: Just 11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Semantica pastrata: True</a:t>
            </a:r>
          </a:p>
        </p:txBody>
      </p:sp>
    </p:spTree>
    <p:extLst>
      <p:ext uri="{BB962C8B-B14F-4D97-AF65-F5344CB8AC3E}">
        <p14:creationId xmlns:p14="http://schemas.microsoft.com/office/powerpoint/2010/main" val="3402472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Expr.hs: functii structurale folosite in teste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302932"/>
            <a:ext cx="10058400" cy="3960707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2436727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1">
                <a:solidFill>
                  <a:srgbClr val="4B5563"/>
                </a:solidFill>
                <a:latin typeface="Segoe UI"/>
              </a:rPr>
              <a:t>Functii care masoara si manipuleaza structura AST-ului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848207"/>
            <a:ext cx="9601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size expr: numarul total de noduri din arbore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depth expr: adancimea maxima a arborelui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operatorCount expr: numarul de operatori (Add/Sub/Mul/Neg)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freeVars expr: multimea variabilelor libere (fara duplicate)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substitute name replacement expr: inlocuire recursiva in 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4314605"/>
            <a:ext cx="9601200" cy="160020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90472" y="4406045"/>
            <a:ext cx="9272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 err="1">
                <a:solidFill>
                  <a:srgbClr val="9CDCFE"/>
                </a:solidFill>
                <a:latin typeface="Consolas"/>
              </a:rPr>
              <a:t>Exemple</a:t>
            </a:r>
            <a:r>
              <a:rPr sz="1200" b="1" i="0" dirty="0">
                <a:solidFill>
                  <a:srgbClr val="9CDCFE"/>
                </a:solidFill>
                <a:latin typeface="Consolas"/>
              </a:rPr>
              <a:t> concrete in </a:t>
            </a:r>
            <a:r>
              <a:rPr sz="1200" b="1" i="0" dirty="0" err="1">
                <a:solidFill>
                  <a:srgbClr val="9CDCFE"/>
                </a:solidFill>
                <a:latin typeface="Consolas"/>
              </a:rPr>
              <a:t>proiect</a:t>
            </a:r>
            <a:endParaRPr sz="1200" b="1" i="0" dirty="0">
              <a:solidFill>
                <a:srgbClr val="9CDCFE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90472" y="4698653"/>
            <a:ext cx="92720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 dirty="0" err="1">
                <a:solidFill>
                  <a:srgbClr val="D4D4D4"/>
                </a:solidFill>
                <a:latin typeface="Consolas"/>
              </a:rPr>
              <a:t>prop_simplifyDoesNotIncreaseSize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     =&gt; size (simplify e) &lt;= size 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 dirty="0" err="1">
                <a:solidFill>
                  <a:srgbClr val="D4D4D4"/>
                </a:solidFill>
                <a:latin typeface="Consolas"/>
              </a:rPr>
              <a:t>prop_simplifyDoesNotIncreaseDepth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    =&gt; depth (simplify e) &lt;= depth 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 dirty="0" err="1">
                <a:solidFill>
                  <a:srgbClr val="D4D4D4"/>
                </a:solidFill>
                <a:latin typeface="Consolas"/>
              </a:rPr>
              <a:t>prop_simplifyDoesNotIncreaseOperators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=&gt;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operatorCount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(simplify e) &lt;=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operatorCount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e</a:t>
            </a:r>
          </a:p>
        </p:txBody>
      </p:sp>
    </p:spTree>
    <p:extLst>
      <p:ext uri="{BB962C8B-B14F-4D97-AF65-F5344CB8AC3E}">
        <p14:creationId xmlns:p14="http://schemas.microsoft.com/office/powerpoint/2010/main" val="1914907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 dirty="0" err="1">
                <a:solidFill>
                  <a:srgbClr val="2F3338"/>
                </a:solidFill>
                <a:latin typeface="Segoe UI Semibold"/>
              </a:rPr>
              <a:t>Parser.hs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: </a:t>
            </a:r>
            <a:r>
              <a:rPr sz="3500" b="1" dirty="0" err="1">
                <a:solidFill>
                  <a:srgbClr val="2F3338"/>
                </a:solidFill>
                <a:latin typeface="Segoe UI Semibold"/>
              </a:rPr>
              <a:t>gramatica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 </a:t>
            </a:r>
            <a:r>
              <a:rPr lang="ro-RO" sz="3500" b="1" dirty="0">
                <a:solidFill>
                  <a:srgbClr val="2F3338"/>
                </a:solidFill>
                <a:latin typeface="Segoe UI Semibold"/>
              </a:rPr>
              <a:t>ș</a:t>
            </a:r>
            <a:r>
              <a:rPr sz="3500" b="1" dirty="0" smtClean="0">
                <a:solidFill>
                  <a:srgbClr val="2F3338"/>
                </a:solidFill>
                <a:latin typeface="Segoe UI Semibold"/>
              </a:rPr>
              <a:t>i </a:t>
            </a:r>
            <a:r>
              <a:rPr sz="3500" b="1" dirty="0" err="1" smtClean="0">
                <a:solidFill>
                  <a:srgbClr val="2F3338"/>
                </a:solidFill>
                <a:latin typeface="Segoe UI Semibold"/>
              </a:rPr>
              <a:t>preceden</a:t>
            </a:r>
            <a:r>
              <a:rPr lang="ro-RO" sz="3500" b="1" dirty="0" smtClean="0">
                <a:solidFill>
                  <a:srgbClr val="2F3338"/>
                </a:solidFill>
                <a:latin typeface="Segoe UI Semibold"/>
              </a:rPr>
              <a:t>ț</a:t>
            </a:r>
            <a:r>
              <a:rPr sz="3500" b="1" dirty="0" smtClean="0">
                <a:solidFill>
                  <a:srgbClr val="2F3338"/>
                </a:solidFill>
                <a:latin typeface="Segoe UI Semibold"/>
              </a:rPr>
              <a:t>a </a:t>
            </a:r>
            <a:r>
              <a:rPr sz="3500" b="1" dirty="0" err="1">
                <a:solidFill>
                  <a:srgbClr val="2F3338"/>
                </a:solidFill>
                <a:latin typeface="Segoe UI Semibold"/>
              </a:rPr>
              <a:t>operatorilor</a:t>
            </a:r>
            <a:endParaRPr sz="3500" b="1" dirty="0">
              <a:solidFill>
                <a:srgbClr val="2F3338"/>
              </a:solidFill>
              <a:latin typeface="Segoe UI Semibold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0" y="2236913"/>
            <a:ext cx="4846320" cy="3638973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09360" y="2236913"/>
            <a:ext cx="4846320" cy="3638973"/>
          </a:xfrm>
          <a:prstGeom prst="roundRect">
            <a:avLst/>
          </a:prstGeom>
          <a:solidFill>
            <a:srgbClr val="EEF4FF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2419793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Segoe UI"/>
              </a:rPr>
              <a:t>Structura parserului (ReadP)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831273"/>
            <a:ext cx="4389120" cy="21132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90472" y="2922713"/>
            <a:ext cx="4059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Parser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3147585"/>
            <a:ext cx="4059935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exprP  = chainl1 termP addOp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termP  = chainl1 factorP mulOp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factorP = negP +++ atomP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atomP  = negConstP +++ parens exprP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         +++ integerP +++ variableP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419793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Segoe UI"/>
              </a:rPr>
              <a:t>Detalii suportate in proiect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831273"/>
            <a:ext cx="4389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spatii ignorate prin token/skipSpaces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variabile: litera + alfanumeric/underscore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constante negative explicite: (-3)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negare unara: -x, -(a+b)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parseExpr valideaza input complet (eof)</a:t>
            </a:r>
          </a:p>
        </p:txBody>
      </p:sp>
    </p:spTree>
    <p:extLst>
      <p:ext uri="{BB962C8B-B14F-4D97-AF65-F5344CB8AC3E}">
        <p14:creationId xmlns:p14="http://schemas.microsoft.com/office/powerpoint/2010/main" val="2713072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 dirty="0" err="1">
                <a:solidFill>
                  <a:srgbClr val="2F3338"/>
                </a:solidFill>
                <a:latin typeface="Segoe UI Semibold"/>
              </a:rPr>
              <a:t>Pretty.hs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: </a:t>
            </a:r>
            <a:r>
              <a:rPr sz="3500" b="1" dirty="0" err="1">
                <a:solidFill>
                  <a:srgbClr val="2F3338"/>
                </a:solidFill>
                <a:latin typeface="Segoe UI Semibold"/>
              </a:rPr>
              <a:t>reguli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 de </a:t>
            </a:r>
            <a:r>
              <a:rPr sz="3500" b="1" dirty="0" err="1">
                <a:solidFill>
                  <a:srgbClr val="2F3338"/>
                </a:solidFill>
                <a:latin typeface="Segoe UI Semibold"/>
              </a:rPr>
              <a:t>parantezare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 </a:t>
            </a:r>
            <a:r>
              <a:rPr lang="ro-RO" sz="3500" b="1" dirty="0" err="1">
                <a:solidFill>
                  <a:srgbClr val="2F3338"/>
                </a:solidFill>
                <a:latin typeface="Segoe UI Semibold"/>
              </a:rPr>
              <a:t>ș</a:t>
            </a:r>
            <a:r>
              <a:rPr sz="3500" b="1" dirty="0" smtClean="0">
                <a:solidFill>
                  <a:srgbClr val="2F3338"/>
                </a:solidFill>
                <a:latin typeface="Segoe UI Semibold"/>
              </a:rPr>
              <a:t>i </a:t>
            </a:r>
            <a:r>
              <a:rPr sz="3500" b="1" dirty="0" err="1" smtClean="0">
                <a:solidFill>
                  <a:srgbClr val="2F3338"/>
                </a:solidFill>
                <a:latin typeface="Segoe UI Semibold"/>
              </a:rPr>
              <a:t>preceden</a:t>
            </a:r>
            <a:r>
              <a:rPr lang="ro-RO" sz="3500" b="1" dirty="0" smtClean="0">
                <a:solidFill>
                  <a:srgbClr val="2F3338"/>
                </a:solidFill>
                <a:latin typeface="Segoe UI Semibold"/>
              </a:rPr>
              <a:t>ță</a:t>
            </a:r>
            <a:endParaRPr sz="3500" b="1" dirty="0">
              <a:solidFill>
                <a:srgbClr val="2F3338"/>
              </a:solidFill>
              <a:latin typeface="Segoe UI Semibold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0" y="2126842"/>
            <a:ext cx="10058400" cy="2148840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2355442"/>
            <a:ext cx="9601200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pretty 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porne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ș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te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cu context 0 </a:t>
            </a:r>
            <a:r>
              <a:rPr lang="ro-RO" sz="1500" dirty="0" err="1">
                <a:solidFill>
                  <a:srgbClr val="2F3338"/>
                </a:solidFill>
                <a:latin typeface="Segoe UI"/>
              </a:rPr>
              <a:t>ș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i 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deleg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lang="ro-RO" sz="1500" dirty="0">
                <a:solidFill>
                  <a:srgbClr val="2F3338"/>
                </a:solidFill>
                <a:latin typeface="Segoe UI"/>
              </a:rPr>
              <a:t>î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n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prettyPrec</a:t>
            </a:r>
            <a:endParaRPr sz="15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atomPrec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=11,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negPrec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=9,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mulPrec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=7,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addPrec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=6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wrapIf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adaug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paranteze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doar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c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â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nd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contextul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o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cere</a:t>
            </a:r>
            <a:endParaRPr sz="1500" b="0" i="0" dirty="0">
              <a:solidFill>
                <a:srgbClr val="2F3338"/>
              </a:solidFill>
              <a:latin typeface="Segoe U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97280" y="4367121"/>
            <a:ext cx="10058400" cy="173736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61872" y="4458561"/>
            <a:ext cx="9729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Detaliu important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4751170"/>
            <a:ext cx="972921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prettyConst n | n &lt; 0 = "(" ++ show n ++ ")"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-- constantele negative sunt parenthezate pentru a evita confuzia cu Sub</a:t>
            </a:r>
          </a:p>
        </p:txBody>
      </p:sp>
    </p:spTree>
    <p:extLst>
      <p:ext uri="{BB962C8B-B14F-4D97-AF65-F5344CB8AC3E}">
        <p14:creationId xmlns:p14="http://schemas.microsoft.com/office/powerpoint/2010/main" val="700420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 dirty="0" err="1">
                <a:solidFill>
                  <a:srgbClr val="2F3338"/>
                </a:solidFill>
                <a:latin typeface="Segoe UI Semibold"/>
              </a:rPr>
              <a:t>Spec.hs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: </a:t>
            </a:r>
            <a:r>
              <a:rPr sz="3500" b="1" dirty="0" err="1">
                <a:solidFill>
                  <a:srgbClr val="2F3338"/>
                </a:solidFill>
                <a:latin typeface="Segoe UI Semibold"/>
              </a:rPr>
              <a:t>infrastructura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 de </a:t>
            </a:r>
            <a:r>
              <a:rPr sz="3500" b="1" dirty="0" err="1">
                <a:solidFill>
                  <a:srgbClr val="2F3338"/>
                </a:solidFill>
                <a:latin typeface="Segoe UI Semibold"/>
              </a:rPr>
              <a:t>rulare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 a </a:t>
            </a:r>
            <a:r>
              <a:rPr sz="3500" b="1" dirty="0" err="1" smtClean="0">
                <a:solidFill>
                  <a:srgbClr val="2F3338"/>
                </a:solidFill>
                <a:latin typeface="Segoe UI Semibold"/>
              </a:rPr>
              <a:t>propriet</a:t>
            </a:r>
            <a:r>
              <a:rPr lang="ro-RO" sz="3500" b="1" dirty="0" smtClean="0">
                <a:solidFill>
                  <a:srgbClr val="2F3338"/>
                </a:solidFill>
                <a:latin typeface="Segoe UI Semibold"/>
              </a:rPr>
              <a:t>ăț</a:t>
            </a:r>
            <a:r>
              <a:rPr sz="3500" b="1" dirty="0" err="1" smtClean="0">
                <a:solidFill>
                  <a:srgbClr val="2F3338"/>
                </a:solidFill>
                <a:latin typeface="Segoe UI Semibold"/>
              </a:rPr>
              <a:t>ilor</a:t>
            </a:r>
            <a:endParaRPr sz="3500" b="1" dirty="0">
              <a:solidFill>
                <a:srgbClr val="2F3338"/>
              </a:solidFill>
              <a:latin typeface="Segoe UI Semibold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0" y="2253847"/>
            <a:ext cx="4846320" cy="3232573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09360" y="2253847"/>
            <a:ext cx="4846320" cy="3232573"/>
          </a:xfrm>
          <a:prstGeom prst="roundRect">
            <a:avLst/>
          </a:prstGeom>
          <a:solidFill>
            <a:srgbClr val="EEF4FF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2436727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 dirty="0" smtClean="0">
                <a:solidFill>
                  <a:srgbClr val="1F4E79"/>
                </a:solidFill>
                <a:latin typeface="Segoe UI"/>
              </a:rPr>
              <a:t>Set</a:t>
            </a:r>
            <a:r>
              <a:rPr lang="ro-RO" sz="1700" b="1" i="0" dirty="0" smtClean="0">
                <a:solidFill>
                  <a:srgbClr val="1F4E79"/>
                </a:solidFill>
                <a:latin typeface="Segoe UI"/>
              </a:rPr>
              <a:t>ă</a:t>
            </a:r>
            <a:r>
              <a:rPr sz="1700" b="1" i="0" dirty="0" err="1" smtClean="0">
                <a:solidFill>
                  <a:srgbClr val="1F4E79"/>
                </a:solidFill>
                <a:latin typeface="Segoe UI"/>
              </a:rPr>
              <a:t>ri</a:t>
            </a:r>
            <a:r>
              <a:rPr sz="1700" b="1" i="0" dirty="0" smtClean="0">
                <a:solidFill>
                  <a:srgbClr val="1F4E79"/>
                </a:solidFill>
                <a:latin typeface="Segoe UI"/>
              </a:rPr>
              <a:t> </a:t>
            </a:r>
            <a:r>
              <a:rPr sz="1700" b="1" i="0" dirty="0">
                <a:solidFill>
                  <a:srgbClr val="1F4E79"/>
                </a:solidFill>
                <a:latin typeface="Segoe UI"/>
              </a:rPr>
              <a:t>de </a:t>
            </a:r>
            <a:r>
              <a:rPr sz="1700" b="1" i="0" dirty="0" err="1" smtClean="0">
                <a:solidFill>
                  <a:srgbClr val="1F4E79"/>
                </a:solidFill>
                <a:latin typeface="Segoe UI"/>
              </a:rPr>
              <a:t>execu</a:t>
            </a:r>
            <a:r>
              <a:rPr lang="ro-RO" sz="1700" b="1" i="0" dirty="0" smtClean="0">
                <a:solidFill>
                  <a:srgbClr val="1F4E79"/>
                </a:solidFill>
                <a:latin typeface="Segoe UI"/>
              </a:rPr>
              <a:t>ț</a:t>
            </a:r>
            <a:r>
              <a:rPr sz="1700" b="1" i="0" dirty="0" err="1" smtClean="0">
                <a:solidFill>
                  <a:srgbClr val="1F4E79"/>
                </a:solidFill>
                <a:latin typeface="Segoe UI"/>
              </a:rPr>
              <a:t>ie</a:t>
            </a:r>
            <a:endParaRPr sz="1700" b="1" i="0" dirty="0">
              <a:solidFill>
                <a:srgbClr val="1F4E79"/>
              </a:solidFill>
              <a:latin typeface="Segoe U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325880" y="2848207"/>
            <a:ext cx="4389120" cy="22402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90472" y="2939647"/>
            <a:ext cx="4059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runProperty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3232255"/>
            <a:ext cx="4059935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runProperty descr prop = do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  putStrLn ("-- " ++ descr)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  quickCheckWith stdArgs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    { maxSuccess = 120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    , maxSize = 12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    } prop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436727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 dirty="0" err="1">
                <a:solidFill>
                  <a:srgbClr val="1F4E79"/>
                </a:solidFill>
                <a:latin typeface="Segoe UI"/>
              </a:rPr>
              <a:t>Ordinea</a:t>
            </a:r>
            <a:r>
              <a:rPr sz="1700" b="1" i="0" dirty="0">
                <a:solidFill>
                  <a:srgbClr val="1F4E79"/>
                </a:solidFill>
                <a:latin typeface="Segoe UI"/>
              </a:rPr>
              <a:t> </a:t>
            </a:r>
            <a:r>
              <a:rPr sz="1700" b="1" i="0" dirty="0" err="1" smtClean="0">
                <a:solidFill>
                  <a:srgbClr val="1F4E79"/>
                </a:solidFill>
                <a:latin typeface="Segoe UI"/>
              </a:rPr>
              <a:t>rulat</a:t>
            </a:r>
            <a:r>
              <a:rPr lang="ro-RO" sz="1700" b="1" i="0" dirty="0" smtClean="0">
                <a:solidFill>
                  <a:srgbClr val="1F4E79"/>
                </a:solidFill>
                <a:latin typeface="Segoe UI"/>
              </a:rPr>
              <a:t>ă</a:t>
            </a:r>
            <a:r>
              <a:rPr sz="1700" b="1" i="0" dirty="0" smtClean="0">
                <a:solidFill>
                  <a:srgbClr val="1F4E79"/>
                </a:solidFill>
                <a:latin typeface="Segoe UI"/>
              </a:rPr>
              <a:t> </a:t>
            </a:r>
            <a:r>
              <a:rPr lang="ro-RO" sz="1700" b="1" dirty="0">
                <a:solidFill>
                  <a:srgbClr val="1F4E79"/>
                </a:solidFill>
                <a:latin typeface="Segoe UI"/>
              </a:rPr>
              <a:t>î</a:t>
            </a:r>
            <a:r>
              <a:rPr sz="1700" b="1" i="0" dirty="0" smtClean="0">
                <a:solidFill>
                  <a:srgbClr val="1F4E79"/>
                </a:solidFill>
                <a:latin typeface="Segoe UI"/>
              </a:rPr>
              <a:t>n </a:t>
            </a:r>
            <a:r>
              <a:rPr sz="1700" b="1" i="0" dirty="0">
                <a:solidFill>
                  <a:srgbClr val="1F4E79"/>
                </a:solidFill>
                <a:latin typeface="Segoe UI"/>
              </a:rPr>
              <a:t>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848207"/>
            <a:ext cx="43891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solidFill>
                  <a:srgbClr val="2F3338"/>
                </a:solidFill>
                <a:latin typeface="Segoe UI"/>
              </a:rPr>
              <a:t>- 2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proprietati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semantice</a:t>
            </a:r>
            <a:endParaRPr sz="14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solidFill>
                  <a:srgbClr val="2F3338"/>
                </a:solidFill>
                <a:latin typeface="Segoe UI"/>
              </a:rPr>
              <a:t>- 4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proprietati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structurale</a:t>
            </a:r>
            <a:endParaRPr sz="14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solidFill>
                  <a:srgbClr val="2F3338"/>
                </a:solidFill>
                <a:latin typeface="Segoe UI"/>
              </a:rPr>
              <a:t>- 4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proprietati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algebrice</a:t>
            </a:r>
            <a:endParaRPr sz="14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solidFill>
                  <a:srgbClr val="2F3338"/>
                </a:solidFill>
                <a:latin typeface="Segoe UI"/>
              </a:rPr>
              <a:t>- 3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neutre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/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absorbante</a:t>
            </a:r>
            <a:endParaRPr sz="14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solidFill>
                  <a:srgbClr val="2F3338"/>
                </a:solidFill>
                <a:latin typeface="Segoe UI"/>
              </a:rPr>
              <a:t>- 2 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negatie</a:t>
            </a:r>
            <a:r>
              <a:rPr sz="1400" b="0" i="0" dirty="0">
                <a:solidFill>
                  <a:srgbClr val="2F3338"/>
                </a:solidFill>
                <a:latin typeface="Segoe UI"/>
              </a:rPr>
              <a:t>/</a:t>
            </a:r>
            <a:r>
              <a:rPr sz="1400" b="0" i="0" dirty="0" err="1">
                <a:solidFill>
                  <a:srgbClr val="2F3338"/>
                </a:solidFill>
                <a:latin typeface="Segoe UI"/>
              </a:rPr>
              <a:t>scadere</a:t>
            </a:r>
            <a:endParaRPr sz="14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solidFill>
                  <a:srgbClr val="2F3338"/>
                </a:solidFill>
                <a:latin typeface="Segoe UI"/>
              </a:rPr>
              <a:t>- 1 </a:t>
            </a:r>
            <a:r>
              <a:rPr sz="1400" b="0" i="0" dirty="0" err="1" smtClean="0">
                <a:solidFill>
                  <a:srgbClr val="2F3338"/>
                </a:solidFill>
                <a:latin typeface="Segoe UI"/>
              </a:rPr>
              <a:t>substitutie</a:t>
            </a:r>
            <a:endParaRPr lang="ro-RO" sz="1400" b="0" i="0" dirty="0" smtClean="0">
              <a:solidFill>
                <a:srgbClr val="2F3338"/>
              </a:solidFill>
              <a:latin typeface="Segoe UI"/>
            </a:endParaRPr>
          </a:p>
          <a:p>
            <a:pPr>
              <a:spcAft>
                <a:spcPts val="200"/>
              </a:spcAft>
            </a:pPr>
            <a:r>
              <a:rPr lang="ro-RO" sz="1400" dirty="0">
                <a:solidFill>
                  <a:srgbClr val="2F3338"/>
                </a:solidFill>
                <a:latin typeface="Segoe UI"/>
              </a:rPr>
              <a:t>-</a:t>
            </a:r>
            <a:r>
              <a:rPr lang="en-US" sz="1400" dirty="0">
                <a:solidFill>
                  <a:srgbClr val="2F3338"/>
                </a:solidFill>
                <a:latin typeface="Segoe UI"/>
              </a:rPr>
              <a:t> </a:t>
            </a:r>
            <a:r>
              <a:rPr lang="en-US" sz="1400" dirty="0">
                <a:solidFill>
                  <a:srgbClr val="2F3338"/>
                </a:solidFill>
                <a:latin typeface="Segoe UI"/>
              </a:rPr>
              <a:t>3 Nothing/partial</a:t>
            </a:r>
            <a:r>
              <a:rPr sz="1400" dirty="0">
                <a:solidFill>
                  <a:srgbClr val="2F3338"/>
                </a:solidFill>
                <a:latin typeface="Segoe UI"/>
              </a:rPr>
              <a:t> </a:t>
            </a:r>
            <a:r>
              <a:rPr sz="1400" dirty="0">
                <a:solidFill>
                  <a:srgbClr val="2F3338"/>
                </a:solidFill>
                <a:latin typeface="Segoe UI"/>
              </a:rPr>
              <a:t>(total: </a:t>
            </a:r>
            <a:r>
              <a:rPr sz="1400" dirty="0" smtClean="0">
                <a:solidFill>
                  <a:srgbClr val="2F3338"/>
                </a:solidFill>
                <a:latin typeface="Segoe UI"/>
              </a:rPr>
              <a:t>1</a:t>
            </a:r>
            <a:r>
              <a:rPr lang="ro-RO" sz="1400" dirty="0" smtClean="0">
                <a:solidFill>
                  <a:srgbClr val="2F3338"/>
                </a:solidFill>
                <a:latin typeface="Segoe UI"/>
              </a:rPr>
              <a:t>9</a:t>
            </a:r>
            <a:r>
              <a:rPr sz="1400" dirty="0" smtClean="0">
                <a:solidFill>
                  <a:srgbClr val="2F3338"/>
                </a:solidFill>
                <a:latin typeface="Segoe UI"/>
              </a:rPr>
              <a:t>)</a:t>
            </a:r>
            <a:endParaRPr sz="1400" dirty="0">
              <a:solidFill>
                <a:srgbClr val="2F3338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94709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 dirty="0" err="1">
                <a:solidFill>
                  <a:srgbClr val="2F3338"/>
                </a:solidFill>
                <a:latin typeface="Segoe UI Semibold"/>
              </a:rPr>
              <a:t>Rezultate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 </a:t>
            </a:r>
            <a:r>
              <a:rPr sz="3500" b="1" dirty="0" err="1">
                <a:solidFill>
                  <a:srgbClr val="2F3338"/>
                </a:solidFill>
                <a:latin typeface="Segoe UI Semibold"/>
              </a:rPr>
              <a:t>reale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 din spec.exe (</a:t>
            </a:r>
            <a:r>
              <a:rPr sz="3500" b="1" dirty="0" err="1">
                <a:solidFill>
                  <a:srgbClr val="2F3338"/>
                </a:solidFill>
                <a:latin typeface="Segoe UI Semibold"/>
              </a:rPr>
              <a:t>rulare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 </a:t>
            </a:r>
            <a:r>
              <a:rPr sz="3500" b="1" dirty="0" err="1" smtClean="0">
                <a:solidFill>
                  <a:srgbClr val="2F3338"/>
                </a:solidFill>
                <a:latin typeface="Segoe UI Semibold"/>
              </a:rPr>
              <a:t>curent</a:t>
            </a:r>
            <a:r>
              <a:rPr lang="ro-RO" sz="3500" b="1" dirty="0" smtClean="0">
                <a:solidFill>
                  <a:srgbClr val="2F3338"/>
                </a:solidFill>
                <a:latin typeface="Segoe UI Semibold"/>
              </a:rPr>
              <a:t>ă</a:t>
            </a:r>
            <a:r>
              <a:rPr sz="3500" b="1" dirty="0" smtClean="0">
                <a:solidFill>
                  <a:srgbClr val="2F3338"/>
                </a:solidFill>
                <a:latin typeface="Segoe UI Semibold"/>
              </a:rPr>
              <a:t>)</a:t>
            </a:r>
            <a:endParaRPr sz="3500" b="1" dirty="0">
              <a:solidFill>
                <a:srgbClr val="2F3338"/>
              </a:solidFill>
              <a:latin typeface="Segoe UI Semibold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0" y="2524791"/>
            <a:ext cx="10058400" cy="270764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2616231"/>
            <a:ext cx="9729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Output observat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908839"/>
            <a:ext cx="972921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 dirty="0">
                <a:solidFill>
                  <a:srgbClr val="D4D4D4"/>
                </a:solidFill>
                <a:latin typeface="Consolas"/>
              </a:rPr>
              <a:t>+++ OK, passed 120 tests: simplify preserves meaning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 dirty="0">
                <a:solidFill>
                  <a:srgbClr val="D4D4D4"/>
                </a:solidFill>
                <a:latin typeface="Consolas"/>
              </a:rPr>
              <a:t>68.3% cu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variabile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| 31.7%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fara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variabile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| 20.8%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expr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mare (&gt;8)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50" b="0" i="0" dirty="0">
              <a:solidFill>
                <a:srgbClr val="D4D4D4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 dirty="0">
                <a:solidFill>
                  <a:srgbClr val="D4D4D4"/>
                </a:solidFill>
                <a:latin typeface="Consolas"/>
              </a:rPr>
              <a:t>+++ OK, passed 120 tests: pretty-parse preserves meaning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 dirty="0">
                <a:solidFill>
                  <a:srgbClr val="D4D4D4"/>
                </a:solidFill>
                <a:latin typeface="Consolas"/>
              </a:rPr>
              <a:t>28.3%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expresie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terminala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| 24.2%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adancime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&gt; 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50" b="0" i="0" dirty="0">
              <a:solidFill>
                <a:srgbClr val="D4D4D4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 dirty="0">
                <a:solidFill>
                  <a:srgbClr val="D4D4D4"/>
                </a:solidFill>
                <a:latin typeface="Consolas"/>
              </a:rPr>
              <a:t>+++ OK, passed 120 tests: add commutative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 dirty="0">
                <a:solidFill>
                  <a:srgbClr val="D4D4D4"/>
                </a:solidFill>
                <a:latin typeface="Consolas"/>
              </a:rPr>
              <a:t>52.5%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expresii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mari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| 16.7%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expresii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mici</a:t>
            </a:r>
            <a:endParaRPr sz="1150" b="0" i="0" dirty="0">
              <a:solidFill>
                <a:srgbClr val="D4D4D4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50" b="0" i="0" dirty="0">
              <a:solidFill>
                <a:srgbClr val="D4D4D4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 dirty="0">
                <a:solidFill>
                  <a:srgbClr val="D4D4D4"/>
                </a:solidFill>
                <a:latin typeface="Consolas"/>
              </a:rPr>
              <a:t>[...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toate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cele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b="0" i="0" dirty="0" smtClean="0">
                <a:solidFill>
                  <a:srgbClr val="D4D4D4"/>
                </a:solidFill>
                <a:latin typeface="Consolas"/>
              </a:rPr>
              <a:t>1</a:t>
            </a:r>
            <a:r>
              <a:rPr lang="ro-RO" sz="1150" b="0" i="0" dirty="0" smtClean="0">
                <a:solidFill>
                  <a:srgbClr val="D4D4D4"/>
                </a:solidFill>
                <a:latin typeface="Consolas"/>
              </a:rPr>
              <a:t>9</a:t>
            </a:r>
            <a:r>
              <a:rPr sz="1150" b="0" i="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sz="1150" b="0" i="0" dirty="0" err="1">
                <a:solidFill>
                  <a:srgbClr val="D4D4D4"/>
                </a:solidFill>
                <a:latin typeface="Consolas"/>
              </a:rPr>
              <a:t>proprietati</a:t>
            </a:r>
            <a:r>
              <a:rPr sz="1150" b="0" i="0" dirty="0">
                <a:solidFill>
                  <a:srgbClr val="D4D4D4"/>
                </a:solidFill>
                <a:latin typeface="Consolas"/>
              </a:rPr>
              <a:t>: PASS ...]</a:t>
            </a:r>
          </a:p>
        </p:txBody>
      </p:sp>
    </p:spTree>
    <p:extLst>
      <p:ext uri="{BB962C8B-B14F-4D97-AF65-F5344CB8AC3E}">
        <p14:creationId xmlns:p14="http://schemas.microsoft.com/office/powerpoint/2010/main" val="3025025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 dirty="0" err="1">
                <a:solidFill>
                  <a:srgbClr val="2F3338"/>
                </a:solidFill>
                <a:latin typeface="Segoe UI Semibold"/>
              </a:rPr>
              <a:t>Configurare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 </a:t>
            </a:r>
            <a:r>
              <a:rPr sz="3500" b="1" dirty="0" err="1">
                <a:solidFill>
                  <a:srgbClr val="2F3338"/>
                </a:solidFill>
                <a:latin typeface="Segoe UI Semibold"/>
              </a:rPr>
              <a:t>proiect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 din </a:t>
            </a:r>
            <a:r>
              <a:rPr sz="3500" b="1" dirty="0" smtClean="0">
                <a:solidFill>
                  <a:srgbClr val="2F3338"/>
                </a:solidFill>
                <a:latin typeface="Segoe UI Semibold"/>
              </a:rPr>
              <a:t>fi</a:t>
            </a:r>
            <a:r>
              <a:rPr lang="ro-RO" sz="3500" b="1" dirty="0" smtClean="0">
                <a:solidFill>
                  <a:srgbClr val="2F3338"/>
                </a:solidFill>
                <a:latin typeface="Segoe UI Semibold"/>
              </a:rPr>
              <a:t>ș</a:t>
            </a:r>
            <a:r>
              <a:rPr sz="3500" b="1" dirty="0" err="1" smtClean="0">
                <a:solidFill>
                  <a:srgbClr val="2F3338"/>
                </a:solidFill>
                <a:latin typeface="Segoe UI Semibold"/>
              </a:rPr>
              <a:t>ierul</a:t>
            </a:r>
            <a:r>
              <a:rPr sz="3500" b="1" dirty="0" smtClean="0">
                <a:solidFill>
                  <a:srgbClr val="2F3338"/>
                </a:solidFill>
                <a:latin typeface="Segoe UI Semibold"/>
              </a:rPr>
              <a:t> 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.cabal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252132"/>
            <a:ext cx="10058400" cy="4011507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2482447"/>
            <a:ext cx="9601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library: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modulele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Expr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,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Eval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, Pretty, Parser, Simplify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executable: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mfis-quickcheck-expr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(app/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Main.hs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test-suite: spec (test/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Spec.hs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, type exitcode-stdio-1.0)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dependinte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: base, containers,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QuickCheck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&gt;=2.14 &amp;&amp; &lt;3 (in test-suite)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ghc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-options: set consistent de warning-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uri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(-Wall, -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Wcompat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etc.)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4128331"/>
            <a:ext cx="9601200" cy="160020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90472" y="4219771"/>
            <a:ext cx="9272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Componente declarate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4512379"/>
            <a:ext cx="92720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library -&gt; src/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executable mfis-quickcheck-expr -&gt; app/Main.hs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test-suite spec -&gt; test/Spec.hs</a:t>
            </a:r>
          </a:p>
        </p:txBody>
      </p:sp>
    </p:spTree>
    <p:extLst>
      <p:ext uri="{BB962C8B-B14F-4D97-AF65-F5344CB8AC3E}">
        <p14:creationId xmlns:p14="http://schemas.microsoft.com/office/powerpoint/2010/main" val="1604651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 dirty="0" smtClean="0">
                <a:solidFill>
                  <a:srgbClr val="2F3338"/>
                </a:solidFill>
                <a:latin typeface="Segoe UI Semibold"/>
              </a:rPr>
              <a:t>Limit</a:t>
            </a:r>
            <a:r>
              <a:rPr lang="ro-RO" sz="3500" b="1" dirty="0" smtClean="0">
                <a:solidFill>
                  <a:srgbClr val="2F3338"/>
                </a:solidFill>
                <a:latin typeface="Segoe UI Semibold"/>
              </a:rPr>
              <a:t>ă</a:t>
            </a:r>
            <a:r>
              <a:rPr sz="3500" b="1" dirty="0" err="1" smtClean="0">
                <a:solidFill>
                  <a:srgbClr val="2F3338"/>
                </a:solidFill>
                <a:latin typeface="Segoe UI Semibold"/>
              </a:rPr>
              <a:t>ri</a:t>
            </a:r>
            <a:r>
              <a:rPr sz="3500" b="1" dirty="0" smtClean="0">
                <a:solidFill>
                  <a:srgbClr val="2F3338"/>
                </a:solidFill>
                <a:latin typeface="Segoe UI Semibold"/>
              </a:rPr>
              <a:t> </a:t>
            </a:r>
            <a:r>
              <a:rPr sz="3500" b="1" dirty="0">
                <a:solidFill>
                  <a:srgbClr val="2F3338"/>
                </a:solidFill>
                <a:latin typeface="Segoe UI Semibold"/>
              </a:rPr>
              <a:t>concrete ale </a:t>
            </a:r>
            <a:r>
              <a:rPr sz="3500" b="1" dirty="0" smtClean="0">
                <a:solidFill>
                  <a:srgbClr val="2F3338"/>
                </a:solidFill>
                <a:latin typeface="Segoe UI Semibold"/>
              </a:rPr>
              <a:t>implement</a:t>
            </a:r>
            <a:r>
              <a:rPr lang="ro-RO" sz="3500" b="1" dirty="0" smtClean="0">
                <a:solidFill>
                  <a:srgbClr val="2F3338"/>
                </a:solidFill>
                <a:latin typeface="Segoe UI Semibold"/>
              </a:rPr>
              <a:t>ă</a:t>
            </a:r>
            <a:r>
              <a:rPr sz="3500" b="1" dirty="0" err="1" smtClean="0">
                <a:solidFill>
                  <a:srgbClr val="2F3338"/>
                </a:solidFill>
                <a:latin typeface="Segoe UI Semibold"/>
              </a:rPr>
              <a:t>rii</a:t>
            </a:r>
            <a:r>
              <a:rPr sz="3500" b="1" dirty="0" smtClean="0">
                <a:solidFill>
                  <a:srgbClr val="2F3338"/>
                </a:solidFill>
                <a:latin typeface="Segoe UI Semibold"/>
              </a:rPr>
              <a:t> </a:t>
            </a:r>
            <a:r>
              <a:rPr sz="3500" b="1" dirty="0" err="1">
                <a:solidFill>
                  <a:srgbClr val="2F3338"/>
                </a:solidFill>
                <a:latin typeface="Segoe UI Semibold"/>
              </a:rPr>
              <a:t>actuale</a:t>
            </a:r>
            <a:endParaRPr sz="3500" b="1" dirty="0">
              <a:solidFill>
                <a:srgbClr val="2F3338"/>
              </a:solidFill>
              <a:latin typeface="Segoe UI Semibold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0" y="2355451"/>
            <a:ext cx="10058400" cy="2724573"/>
          </a:xfrm>
          <a:prstGeom prst="roundRect">
            <a:avLst/>
          </a:prstGeom>
          <a:solidFill>
            <a:srgbClr val="FFF7ED"/>
          </a:solidFill>
          <a:ln w="1397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2900715"/>
            <a:ext cx="960120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Limbajul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include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doar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Int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+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operatori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Add/Sub/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Mul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/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Neg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(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f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r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lang="ro-RO" sz="1500" dirty="0">
                <a:solidFill>
                  <a:srgbClr val="2F3338"/>
                </a:solidFill>
                <a:latin typeface="Segoe UI"/>
              </a:rPr>
              <a:t>î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mp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r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ț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ire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, 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compara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ț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ii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,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booleene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parseExpr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lang="ro-RO" sz="1500" dirty="0" err="1">
                <a:solidFill>
                  <a:srgbClr val="2F3338"/>
                </a:solidFill>
                <a:latin typeface="Segoe UI"/>
              </a:rPr>
              <a:t>î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ntoarce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Maybe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Expr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,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deci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nu 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ofer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mesaj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de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eroare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detaliat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la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parsare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variablePool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este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finit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(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x,y,z,u,v,w,a,b,c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),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deci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varietatea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numelor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este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controlat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.</a:t>
            </a:r>
            <a:endParaRPr sz="1500" b="0" i="0" dirty="0">
              <a:solidFill>
                <a:srgbClr val="2F3338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Distribuirea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constructorilor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este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fix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lang="ro-RO" sz="1500" dirty="0">
                <a:solidFill>
                  <a:srgbClr val="2F3338"/>
                </a:solidFill>
                <a:latin typeface="Segoe UI"/>
              </a:rPr>
              <a:t>î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n 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generator (frequency), 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necesit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â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nd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recalibrare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la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extinderea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AST-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ului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2F3338"/>
                </a:solidFill>
                <a:latin typeface="Segoe UI"/>
              </a:rPr>
              <a:t>-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Testarea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este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probabilistic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: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trecerea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2F3338"/>
                </a:solidFill>
                <a:latin typeface="Segoe UI"/>
              </a:rPr>
              <a:t>testelor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 nu 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echivaleaz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>
                <a:solidFill>
                  <a:srgbClr val="2F3338"/>
                </a:solidFill>
                <a:latin typeface="Segoe UI"/>
              </a:rPr>
              <a:t>cu 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demonstra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ț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ie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matematic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 </a:t>
            </a:r>
            <a:r>
              <a:rPr sz="1500" b="0" i="0" dirty="0" err="1" smtClean="0">
                <a:solidFill>
                  <a:srgbClr val="2F3338"/>
                </a:solidFill>
                <a:latin typeface="Segoe UI"/>
              </a:rPr>
              <a:t>complet</a:t>
            </a:r>
            <a:r>
              <a:rPr lang="ro-RO" sz="1500" b="0" i="0" dirty="0" smtClean="0">
                <a:solidFill>
                  <a:srgbClr val="2F3338"/>
                </a:solidFill>
                <a:latin typeface="Segoe UI"/>
              </a:rPr>
              <a:t>ă</a:t>
            </a:r>
            <a:r>
              <a:rPr sz="1500" b="0" i="0" dirty="0" smtClean="0">
                <a:solidFill>
                  <a:srgbClr val="2F3338"/>
                </a:solidFill>
                <a:latin typeface="Segoe UI"/>
              </a:rPr>
              <a:t>.</a:t>
            </a:r>
            <a:endParaRPr sz="1500" b="0" i="0" dirty="0">
              <a:solidFill>
                <a:srgbClr val="2F3338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32890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Concluzii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100" dirty="0" err="1"/>
              <a:t>QuickCheck</a:t>
            </a:r>
            <a:r>
              <a:rPr sz="2100" dirty="0"/>
              <a:t> </a:t>
            </a:r>
            <a:r>
              <a:rPr sz="2100" dirty="0" err="1" smtClean="0"/>
              <a:t>valideaz</a:t>
            </a:r>
            <a:r>
              <a:rPr lang="ro-RO" sz="2100" dirty="0" smtClean="0"/>
              <a:t>ă</a:t>
            </a:r>
            <a:r>
              <a:rPr sz="2100" dirty="0" smtClean="0"/>
              <a:t> </a:t>
            </a:r>
            <a:r>
              <a:rPr sz="2100" dirty="0" err="1"/>
              <a:t>comportamentul</a:t>
            </a:r>
            <a:r>
              <a:rPr sz="2100" dirty="0"/>
              <a:t> general, nu </a:t>
            </a:r>
            <a:r>
              <a:rPr sz="2100" dirty="0" err="1"/>
              <a:t>doar</a:t>
            </a:r>
            <a:r>
              <a:rPr sz="2100" dirty="0"/>
              <a:t> </a:t>
            </a:r>
            <a:r>
              <a:rPr sz="2100" dirty="0" err="1"/>
              <a:t>exemple</a:t>
            </a:r>
            <a:r>
              <a:rPr sz="2100" dirty="0"/>
              <a:t> </a:t>
            </a:r>
            <a:r>
              <a:rPr sz="2100" dirty="0" err="1"/>
              <a:t>particulare</a:t>
            </a:r>
            <a:endParaRPr sz="2100" dirty="0"/>
          </a:p>
          <a:p>
            <a:r>
              <a:rPr sz="2100" dirty="0" err="1"/>
              <a:t>Generatoarele</a:t>
            </a:r>
            <a:r>
              <a:rPr sz="2100" dirty="0"/>
              <a:t> </a:t>
            </a:r>
            <a:r>
              <a:rPr sz="2100" dirty="0" err="1"/>
              <a:t>manuale</a:t>
            </a:r>
            <a:r>
              <a:rPr sz="2100" dirty="0"/>
              <a:t> (frequency, sized, shrink) </a:t>
            </a:r>
            <a:r>
              <a:rPr sz="2100" dirty="0" err="1"/>
              <a:t>sunt</a:t>
            </a:r>
            <a:r>
              <a:rPr sz="2100" dirty="0"/>
              <a:t> </a:t>
            </a:r>
            <a:r>
              <a:rPr sz="2100" dirty="0" err="1" smtClean="0"/>
              <a:t>esen</a:t>
            </a:r>
            <a:r>
              <a:rPr lang="ro-RO" sz="2100" dirty="0" smtClean="0"/>
              <a:t>ț</a:t>
            </a:r>
            <a:r>
              <a:rPr sz="2100" dirty="0" err="1" smtClean="0"/>
              <a:t>iale</a:t>
            </a:r>
            <a:endParaRPr sz="2100" dirty="0"/>
          </a:p>
          <a:p>
            <a:r>
              <a:rPr sz="2100" dirty="0"/>
              <a:t>Mini-</a:t>
            </a:r>
            <a:r>
              <a:rPr sz="2100" dirty="0" err="1"/>
              <a:t>limbajul</a:t>
            </a:r>
            <a:r>
              <a:rPr sz="2100" dirty="0"/>
              <a:t> </a:t>
            </a:r>
            <a:r>
              <a:rPr sz="2100" dirty="0" err="1"/>
              <a:t>aritmetic</a:t>
            </a:r>
            <a:r>
              <a:rPr sz="2100" dirty="0"/>
              <a:t> </a:t>
            </a:r>
            <a:r>
              <a:rPr sz="2100" dirty="0" err="1"/>
              <a:t>este</a:t>
            </a:r>
            <a:r>
              <a:rPr sz="2100" dirty="0"/>
              <a:t> un </a:t>
            </a:r>
            <a:r>
              <a:rPr sz="2100" dirty="0" err="1"/>
              <a:t>exemplu</a:t>
            </a:r>
            <a:r>
              <a:rPr sz="2100" dirty="0"/>
              <a:t> natural </a:t>
            </a:r>
            <a:r>
              <a:rPr sz="2100" dirty="0" err="1"/>
              <a:t>pentru</a:t>
            </a:r>
            <a:r>
              <a:rPr sz="2100" dirty="0"/>
              <a:t> </a:t>
            </a:r>
            <a:r>
              <a:rPr sz="2100" dirty="0" err="1"/>
              <a:t>metode</a:t>
            </a:r>
            <a:r>
              <a:rPr sz="2100" dirty="0"/>
              <a:t> </a:t>
            </a:r>
            <a:r>
              <a:rPr sz="2100" dirty="0" err="1"/>
              <a:t>formale</a:t>
            </a:r>
            <a:endParaRPr sz="2100" dirty="0"/>
          </a:p>
          <a:p>
            <a:r>
              <a:rPr sz="2100" dirty="0" smtClean="0"/>
              <a:t>Specific</a:t>
            </a:r>
            <a:r>
              <a:rPr lang="ro-RO" sz="2100" dirty="0" smtClean="0"/>
              <a:t>ă</a:t>
            </a:r>
            <a:r>
              <a:rPr sz="2100" dirty="0" smtClean="0"/>
              <a:t>m </a:t>
            </a:r>
            <a:r>
              <a:rPr sz="2100" dirty="0" err="1" smtClean="0"/>
              <a:t>invarian</a:t>
            </a:r>
            <a:r>
              <a:rPr lang="ro-RO" sz="2100" dirty="0" smtClean="0"/>
              <a:t>ț</a:t>
            </a:r>
            <a:r>
              <a:rPr sz="2100" dirty="0" smtClean="0"/>
              <a:t>i </a:t>
            </a:r>
            <a:r>
              <a:rPr sz="2100" dirty="0" err="1"/>
              <a:t>valabili</a:t>
            </a:r>
            <a:r>
              <a:rPr sz="2100" dirty="0"/>
              <a:t> </a:t>
            </a:r>
            <a:r>
              <a:rPr sz="2100" dirty="0" err="1"/>
              <a:t>pentru</a:t>
            </a:r>
            <a:r>
              <a:rPr sz="2100" dirty="0"/>
              <a:t> </a:t>
            </a:r>
            <a:r>
              <a:rPr sz="2100" dirty="0" err="1"/>
              <a:t>orice</a:t>
            </a:r>
            <a:r>
              <a:rPr sz="2100" dirty="0"/>
              <a:t> </a:t>
            </a:r>
            <a:r>
              <a:rPr sz="2100" dirty="0" err="1"/>
              <a:t>intrare</a:t>
            </a:r>
            <a:endParaRPr sz="2100" dirty="0"/>
          </a:p>
          <a:p>
            <a:r>
              <a:rPr sz="2100" dirty="0" err="1" smtClean="0"/>
              <a:t>Diferen</a:t>
            </a:r>
            <a:r>
              <a:rPr lang="ro-RO" sz="2100" dirty="0" smtClean="0"/>
              <a:t>ț</a:t>
            </a:r>
            <a:r>
              <a:rPr sz="2100" dirty="0" smtClean="0"/>
              <a:t>a-</a:t>
            </a:r>
            <a:r>
              <a:rPr sz="2100" dirty="0" err="1" smtClean="0"/>
              <a:t>cheie</a:t>
            </a:r>
            <a:r>
              <a:rPr sz="2100" dirty="0" smtClean="0"/>
              <a:t> </a:t>
            </a:r>
            <a:r>
              <a:rPr sz="2100" dirty="0" err="1" smtClean="0"/>
              <a:t>fa</a:t>
            </a:r>
            <a:r>
              <a:rPr lang="ro-RO" sz="2100" dirty="0" smtClean="0"/>
              <a:t>ț</a:t>
            </a:r>
            <a:r>
              <a:rPr lang="ro-RO" sz="2100" dirty="0"/>
              <a:t>ă</a:t>
            </a:r>
            <a:r>
              <a:rPr sz="2100" dirty="0" smtClean="0"/>
              <a:t> </a:t>
            </a:r>
            <a:r>
              <a:rPr sz="2100" dirty="0"/>
              <a:t>de </a:t>
            </a:r>
            <a:r>
              <a:rPr sz="2100" dirty="0" err="1"/>
              <a:t>testarea</a:t>
            </a:r>
            <a:r>
              <a:rPr sz="2100" dirty="0"/>
              <a:t> </a:t>
            </a:r>
            <a:r>
              <a:rPr sz="2100" dirty="0" err="1" smtClean="0"/>
              <a:t>clasic</a:t>
            </a:r>
            <a:r>
              <a:rPr lang="ro-RO" sz="2100" dirty="0" smtClean="0"/>
              <a:t>ă</a:t>
            </a:r>
            <a:r>
              <a:rPr sz="2100" dirty="0" smtClean="0"/>
              <a:t>: g</a:t>
            </a:r>
            <a:r>
              <a:rPr lang="ro-RO" sz="2100" dirty="0" smtClean="0"/>
              <a:t>â</a:t>
            </a:r>
            <a:r>
              <a:rPr sz="2100" dirty="0" err="1" smtClean="0"/>
              <a:t>ndim</a:t>
            </a:r>
            <a:r>
              <a:rPr sz="2100" dirty="0" smtClean="0"/>
              <a:t> </a:t>
            </a:r>
            <a:r>
              <a:rPr lang="ro-RO" sz="2100" dirty="0"/>
              <a:t>î</a:t>
            </a:r>
            <a:r>
              <a:rPr sz="2100" dirty="0" smtClean="0"/>
              <a:t>n </a:t>
            </a:r>
            <a:r>
              <a:rPr sz="2100" dirty="0" err="1" smtClean="0"/>
              <a:t>propriet</a:t>
            </a:r>
            <a:r>
              <a:rPr lang="ro-RO" sz="2100" dirty="0" smtClean="0"/>
              <a:t>ăț</a:t>
            </a:r>
            <a:r>
              <a:rPr sz="2100" dirty="0" smtClean="0"/>
              <a:t>i</a:t>
            </a:r>
            <a:r>
              <a:rPr sz="2100" dirty="0"/>
              <a:t>, nu </a:t>
            </a:r>
            <a:r>
              <a:rPr lang="ro-RO" sz="2100" dirty="0" smtClean="0"/>
              <a:t>î</a:t>
            </a:r>
            <a:r>
              <a:rPr sz="2100" dirty="0" smtClean="0"/>
              <a:t>n </a:t>
            </a:r>
            <a:r>
              <a:rPr sz="2100" dirty="0" err="1"/>
              <a:t>cazuri</a:t>
            </a:r>
            <a:r>
              <a:rPr sz="2100" dirty="0"/>
              <a:t> </a:t>
            </a:r>
            <a:r>
              <a:rPr sz="2100" dirty="0" err="1"/>
              <a:t>izolate</a:t>
            </a:r>
            <a:endParaRPr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Bibliografie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[39] K. </a:t>
            </a:r>
            <a:r>
              <a:rPr lang="en-US" dirty="0" err="1"/>
              <a:t>Claessen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J. Hughes, “</a:t>
            </a:r>
            <a:r>
              <a:rPr lang="en-US" dirty="0" err="1"/>
              <a:t>QuickCheck</a:t>
            </a:r>
            <a:r>
              <a:rPr lang="en-US" dirty="0"/>
              <a:t>: a lightweight tool for random testing of Haskell programs,” in Proceedings of the 5th ACM SIGPLAN International Conference on Functional Programming (ICFP ’00), Montreal, Canada, 2000, pp. 268–279, </a:t>
            </a:r>
            <a:r>
              <a:rPr lang="en-US" dirty="0">
                <a:hlinkClick r:id="rId2"/>
              </a:rPr>
              <a:t>https://dl.acm.org/doi/epdf/10.1145/351240.351266 </a:t>
            </a:r>
            <a:endParaRPr lang="en-US" dirty="0"/>
          </a:p>
          <a:p>
            <a:r>
              <a:rPr lang="en-US" dirty="0"/>
              <a:t>[40] </a:t>
            </a:r>
            <a:r>
              <a:rPr lang="en-US" dirty="0" err="1"/>
              <a:t>QuickCheck</a:t>
            </a:r>
            <a:r>
              <a:rPr lang="en-US" dirty="0"/>
              <a:t> Library Documentation. </a:t>
            </a:r>
            <a:r>
              <a:rPr lang="en-US" dirty="0" err="1"/>
              <a:t>Hackage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https://hackage.haskell.org/package/QuickCheck </a:t>
            </a:r>
            <a:endParaRPr lang="en-US" dirty="0"/>
          </a:p>
          <a:p>
            <a:r>
              <a:rPr lang="en-US" dirty="0"/>
              <a:t>[41] </a:t>
            </a:r>
            <a:r>
              <a:rPr lang="en-US" dirty="0" err="1"/>
              <a:t>QuickCheck</a:t>
            </a:r>
            <a:r>
              <a:rPr lang="en-US" dirty="0"/>
              <a:t>: Automatic Testing (online tutorial). </a:t>
            </a:r>
            <a:r>
              <a:rPr lang="en-US" dirty="0">
                <a:hlinkClick r:id="rId4"/>
              </a:rPr>
              <a:t>https://sulzmann.github.io/ProgrammingParadigms/lec-haskell-testing.html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0796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{2434C647-D8ED-4307-8D52-7F48AD6760D5}TFf0a5ceae-4542-492d-822e-d65a94fb0e1e3b562c5a_win32-009a0557e699</Template>
  <TotalTime>200</TotalTime>
  <Words>2431</Words>
  <Application>Microsoft Office PowerPoint</Application>
  <PresentationFormat>Custom</PresentationFormat>
  <Paragraphs>327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Custom</vt:lpstr>
      <vt:lpstr>Testarea property-based a modulelor software folosind QuickCheck - Tema 20 – Mini-limbaj aritmetic în Haskell testat cu QuickCheck: 19 proprietăți formale, generatoare custom, shrinking automat</vt:lpstr>
      <vt:lpstr>Cuprinsul prezentării</vt:lpstr>
      <vt:lpstr>De ce avem nevoie de metode formale?</vt:lpstr>
      <vt:lpstr>Testare clasică vs. property-based testing</vt:lpstr>
      <vt:lpstr>Ce este QuickCheck</vt:lpstr>
      <vt:lpstr>Arhitectura modulului testat</vt:lpstr>
      <vt:lpstr>Modulul testat: AST și evaluator</vt:lpstr>
      <vt:lpstr>Evaluatorul: semantica operațională</vt:lpstr>
      <vt:lpstr>Simplificatorul și regulile algebrice</vt:lpstr>
      <vt:lpstr>Pretty + Parser: round-trip semantic</vt:lpstr>
      <vt:lpstr>Generatoarele proprii (de ce contează)</vt:lpstr>
      <vt:lpstr>genExpr, genClosedExpr, genEnvFor</vt:lpstr>
      <vt:lpstr>shrinkExpr: contraexemple minimale</vt:lpstr>
      <vt:lpstr>Cele 19 proprietăți (grupate)</vt:lpstr>
      <vt:lpstr>Output real cu classify</vt:lpstr>
      <vt:lpstr>Analiza: eficiența metodei</vt:lpstr>
      <vt:lpstr>Detalii suplimentare din proiect (implementare/rulare)</vt:lpstr>
      <vt:lpstr>Walkthrough demo din app/Main.hs</vt:lpstr>
      <vt:lpstr>Expr.hs: functii structurale folosite in teste</vt:lpstr>
      <vt:lpstr>Parser.hs: gramatica și precedența operatorilor</vt:lpstr>
      <vt:lpstr>Pretty.hs: reguli de parantezare și precedență</vt:lpstr>
      <vt:lpstr>Spec.hs: infrastructura de rulare a proprietăților</vt:lpstr>
      <vt:lpstr>Rezultate reale din spec.exe (rulare curentă)</vt:lpstr>
      <vt:lpstr>Configurare proiect din fișierul .cabal</vt:lpstr>
      <vt:lpstr>Limitări concrete ale implementării actuale</vt:lpstr>
      <vt:lpstr>Concluzii</vt:lpstr>
      <vt:lpstr>Bibliografie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20 Testarea property-based a modulelor software folosind QuickCheck</dc:title>
  <dc:creator>Nite Alexandru</dc:creator>
  <cp:lastModifiedBy>user</cp:lastModifiedBy>
  <cp:revision>17</cp:revision>
  <dcterms:created xsi:type="dcterms:W3CDTF">2026-04-21T13:52:19Z</dcterms:created>
  <dcterms:modified xsi:type="dcterms:W3CDTF">2026-04-22T11:52:16Z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